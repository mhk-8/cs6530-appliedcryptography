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4630400" cy="8229600"/>
  <p:notesSz cx="8229600" cy="14630400"/>
  <p:embeddedFontLst>
    <p:embeddedFont>
      <p:font typeface="Gelasio" panose="020B0604020202020204" charset="0"/>
      <p:regular r:id="rId24"/>
    </p:embeddedFont>
    <p:embeddedFont>
      <p:font typeface="Lato" panose="020F0502020204030203" pitchFamily="3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6" d="100"/>
          <a:sy n="76" d="100"/>
        </p:scale>
        <p:origin x="33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2905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906310" y="2203371"/>
            <a:ext cx="10817662" cy="855821"/>
          </a:xfrm>
          <a:prstGeom prst="rect">
            <a:avLst/>
          </a:prstGeom>
          <a:noFill/>
          <a:ln/>
        </p:spPr>
        <p:txBody>
          <a:bodyPr wrap="none" lIns="0" tIns="0" rIns="0" bIns="0" rtlCol="0" anchor="t"/>
          <a:lstStyle/>
          <a:p>
            <a:pPr marL="0" indent="0" algn="ctr">
              <a:lnSpc>
                <a:spcPts val="6700"/>
              </a:lnSpc>
              <a:buNone/>
            </a:pPr>
            <a:r>
              <a:rPr lang="en-US" sz="5350" dirty="0">
                <a:solidFill>
                  <a:srgbClr val="312F2B"/>
                </a:solidFill>
                <a:latin typeface="Gelasio" pitchFamily="34" charset="0"/>
                <a:ea typeface="Gelasio" pitchFamily="34" charset="-122"/>
                <a:cs typeface="Gelasio" pitchFamily="34" charset="-120"/>
              </a:rPr>
              <a:t>Access Control Models: DAC, RBAC</a:t>
            </a:r>
            <a:endParaRPr lang="en-US" sz="5350" dirty="0"/>
          </a:p>
        </p:txBody>
      </p:sp>
      <p:sp>
        <p:nvSpPr>
          <p:cNvPr id="3" name="Text 1"/>
          <p:cNvSpPr/>
          <p:nvPr/>
        </p:nvSpPr>
        <p:spPr>
          <a:xfrm>
            <a:off x="793790" y="3356848"/>
            <a:ext cx="13042821" cy="317540"/>
          </a:xfrm>
          <a:prstGeom prst="rect">
            <a:avLst/>
          </a:prstGeom>
          <a:noFill/>
          <a:ln/>
        </p:spPr>
        <p:txBody>
          <a:bodyPr wrap="none" lIns="0" tIns="0" rIns="0" bIns="0" rtlCol="0" anchor="t"/>
          <a:lstStyle/>
          <a:p>
            <a:pPr marL="0" indent="0" algn="r">
              <a:lnSpc>
                <a:spcPts val="2500"/>
              </a:lnSpc>
              <a:buNone/>
            </a:pPr>
            <a:endParaRPr lang="en-US" sz="1550" dirty="0"/>
          </a:p>
        </p:txBody>
      </p:sp>
      <p:sp>
        <p:nvSpPr>
          <p:cNvPr id="4" name="Text 2"/>
          <p:cNvSpPr/>
          <p:nvPr/>
        </p:nvSpPr>
        <p:spPr>
          <a:xfrm>
            <a:off x="793790" y="3897630"/>
            <a:ext cx="13042821" cy="317540"/>
          </a:xfrm>
          <a:prstGeom prst="rect">
            <a:avLst/>
          </a:prstGeom>
          <a:noFill/>
          <a:ln/>
        </p:spPr>
        <p:txBody>
          <a:bodyPr wrap="none" lIns="0" tIns="0" rIns="0" bIns="0" rtlCol="0" anchor="t"/>
          <a:lstStyle/>
          <a:p>
            <a:pPr marL="0" indent="0" algn="r">
              <a:lnSpc>
                <a:spcPts val="2500"/>
              </a:lnSpc>
              <a:buNone/>
            </a:pPr>
            <a:endParaRPr lang="en-US" sz="1550" dirty="0"/>
          </a:p>
        </p:txBody>
      </p:sp>
      <p:sp>
        <p:nvSpPr>
          <p:cNvPr id="5" name="Text 3"/>
          <p:cNvSpPr/>
          <p:nvPr/>
        </p:nvSpPr>
        <p:spPr>
          <a:xfrm>
            <a:off x="793790" y="4438412"/>
            <a:ext cx="13042821" cy="1587698"/>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Lato" pitchFamily="34" charset="0"/>
                <a:ea typeface="Lato" pitchFamily="34" charset="-122"/>
                <a:cs typeface="Lato" pitchFamily="34" charset="-120"/>
              </a:rPr>
              <a:t>Majji Hari Krishna</a:t>
            </a:r>
          </a:p>
          <a:p>
            <a:pPr marL="0" indent="0" algn="ctr">
              <a:lnSpc>
                <a:spcPts val="2500"/>
              </a:lnSpc>
              <a:buNone/>
            </a:pPr>
            <a:r>
              <a:rPr lang="en-US" sz="1550" dirty="0">
                <a:solidFill>
                  <a:srgbClr val="272525"/>
                </a:solidFill>
                <a:latin typeface="Lato" pitchFamily="34" charset="0"/>
                <a:ea typeface="Lato" pitchFamily="34" charset="-122"/>
                <a:cs typeface="Lato" pitchFamily="34" charset="-120"/>
              </a:rPr>
              <a:t>Department of Computer Science &amp; Engineering</a:t>
            </a:r>
          </a:p>
          <a:p>
            <a:pPr marL="0" indent="0" algn="ctr">
              <a:lnSpc>
                <a:spcPts val="2500"/>
              </a:lnSpc>
              <a:buNone/>
            </a:pPr>
            <a:r>
              <a:rPr lang="en-US" sz="1550" dirty="0">
                <a:solidFill>
                  <a:srgbClr val="272525"/>
                </a:solidFill>
                <a:latin typeface="Lato" pitchFamily="34" charset="0"/>
                <a:ea typeface="Lato" pitchFamily="34" charset="-122"/>
                <a:cs typeface="Lato" pitchFamily="34" charset="-120"/>
              </a:rPr>
              <a:t>Indian Institute of Technology Madras</a:t>
            </a:r>
          </a:p>
          <a:p>
            <a:pPr marL="0" indent="0" algn="ctr">
              <a:lnSpc>
                <a:spcPts val="2500"/>
              </a:lnSpc>
              <a:buNone/>
            </a:pPr>
            <a:r>
              <a:rPr lang="en-US" sz="1550" dirty="0">
                <a:solidFill>
                  <a:srgbClr val="272525"/>
                </a:solidFill>
                <a:latin typeface="Lato" pitchFamily="34" charset="0"/>
                <a:ea typeface="Lato" pitchFamily="34" charset="-122"/>
                <a:cs typeface="Lato" pitchFamily="34" charset="-120"/>
              </a:rPr>
              <a:t>Chennai, India</a:t>
            </a:r>
          </a:p>
          <a:p>
            <a:pPr marL="0" indent="0" algn="ctr">
              <a:lnSpc>
                <a:spcPts val="2500"/>
              </a:lnSpc>
              <a:buNone/>
            </a:pPr>
            <a:r>
              <a:rPr lang="en-US" sz="1550" dirty="0">
                <a:solidFill>
                  <a:srgbClr val="272525"/>
                </a:solidFill>
                <a:latin typeface="Lato" pitchFamily="34" charset="0"/>
                <a:ea typeface="Lato" pitchFamily="34" charset="-122"/>
                <a:cs typeface="Lato" pitchFamily="34" charset="-120"/>
              </a:rPr>
              <a:t>cs25m028@smail.iitm.ac.in</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17840"/>
            <a:ext cx="7133987" cy="558165"/>
          </a:xfrm>
          <a:prstGeom prst="rect">
            <a:avLst/>
          </a:prstGeom>
          <a:noFill/>
          <a:ln/>
        </p:spPr>
        <p:txBody>
          <a:bodyPr wrap="none" lIns="0" tIns="0" rIns="0" bIns="0" rtlCol="0" anchor="t"/>
          <a:lstStyle/>
          <a:p>
            <a:pPr marL="0" indent="0" algn="l">
              <a:lnSpc>
                <a:spcPts val="4350"/>
              </a:lnSpc>
              <a:buNone/>
            </a:pPr>
            <a:r>
              <a:rPr lang="en-US" sz="3500" dirty="0">
                <a:solidFill>
                  <a:srgbClr val="312F2B"/>
                </a:solidFill>
                <a:latin typeface="Gelasio" pitchFamily="34" charset="0"/>
                <a:ea typeface="Gelasio" pitchFamily="34" charset="-122"/>
                <a:cs typeface="Gelasio" pitchFamily="34" charset="-120"/>
              </a:rPr>
              <a:t>The Critical Need for Access Control</a:t>
            </a:r>
            <a:endParaRPr lang="en-US" sz="3500" dirty="0"/>
          </a:p>
        </p:txBody>
      </p:sp>
      <p:sp>
        <p:nvSpPr>
          <p:cNvPr id="3" name="Text 1"/>
          <p:cNvSpPr/>
          <p:nvPr/>
        </p:nvSpPr>
        <p:spPr>
          <a:xfrm>
            <a:off x="793790" y="1733193"/>
            <a:ext cx="13042821" cy="857250"/>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In the digital age, the protection of sensitive information is paramount. Organizations, governments, and individuals rely on computer systems to store, process, and transmit vast amounts of data, ranging from personal files to classified state secrets. Unauthorized access to this data can lead to catastrophic consequences, including financial loss, identity theft, and breaches of national security.</a:t>
            </a:r>
            <a:endParaRPr lang="en-US" sz="1400" dirty="0"/>
          </a:p>
        </p:txBody>
      </p:sp>
      <p:sp>
        <p:nvSpPr>
          <p:cNvPr id="4" name="Text 2"/>
          <p:cNvSpPr/>
          <p:nvPr/>
        </p:nvSpPr>
        <p:spPr>
          <a:xfrm>
            <a:off x="1061680" y="2992160"/>
            <a:ext cx="12774930" cy="571500"/>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Access control is the selective restriction of access to a resource. It is the process by which a system grants or denies requests to access, use, or manipulate a resource based on a predefined security policy.</a:t>
            </a:r>
            <a:endParaRPr lang="en-US" sz="1400" dirty="0"/>
          </a:p>
        </p:txBody>
      </p:sp>
      <p:sp>
        <p:nvSpPr>
          <p:cNvPr id="5" name="Shape 3"/>
          <p:cNvSpPr/>
          <p:nvPr/>
        </p:nvSpPr>
        <p:spPr>
          <a:xfrm>
            <a:off x="793790" y="2791301"/>
            <a:ext cx="22860" cy="973217"/>
          </a:xfrm>
          <a:prstGeom prst="rect">
            <a:avLst/>
          </a:prstGeom>
          <a:solidFill>
            <a:srgbClr val="E5E5E0"/>
          </a:solidFill>
          <a:ln/>
        </p:spPr>
      </p:sp>
      <p:sp>
        <p:nvSpPr>
          <p:cNvPr id="6" name="Shape 4"/>
          <p:cNvSpPr/>
          <p:nvPr/>
        </p:nvSpPr>
        <p:spPr>
          <a:xfrm>
            <a:off x="793790" y="3965377"/>
            <a:ext cx="6432113" cy="1330047"/>
          </a:xfrm>
          <a:prstGeom prst="roundRect">
            <a:avLst>
              <a:gd name="adj" fmla="val 5641"/>
            </a:avLst>
          </a:prstGeom>
          <a:solidFill>
            <a:srgbClr val="E8E8E3"/>
          </a:solidFill>
          <a:ln w="7620">
            <a:solidFill>
              <a:srgbClr val="CECEC9"/>
            </a:solidFill>
            <a:prstDash val="solid"/>
          </a:ln>
        </p:spPr>
      </p:sp>
      <p:sp>
        <p:nvSpPr>
          <p:cNvPr id="7" name="Text 5"/>
          <p:cNvSpPr/>
          <p:nvPr/>
        </p:nvSpPr>
        <p:spPr>
          <a:xfrm>
            <a:off x="980003" y="4151590"/>
            <a:ext cx="2232779" cy="278963"/>
          </a:xfrm>
          <a:prstGeom prst="rect">
            <a:avLst/>
          </a:prstGeom>
          <a:noFill/>
          <a:ln/>
        </p:spPr>
        <p:txBody>
          <a:bodyPr wrap="none" lIns="0" tIns="0" rIns="0" bIns="0" rtlCol="0" anchor="t"/>
          <a:lstStyle/>
          <a:p>
            <a:pPr marL="0" indent="0" algn="l">
              <a:lnSpc>
                <a:spcPts val="2150"/>
              </a:lnSpc>
              <a:buNone/>
            </a:pPr>
            <a:r>
              <a:rPr lang="en-US" sz="1750" dirty="0">
                <a:solidFill>
                  <a:srgbClr val="272525"/>
                </a:solidFill>
                <a:latin typeface="Gelasio" pitchFamily="34" charset="0"/>
                <a:ea typeface="Gelasio" pitchFamily="34" charset="-122"/>
                <a:cs typeface="Gelasio" pitchFamily="34" charset="-120"/>
              </a:rPr>
              <a:t>Subjects</a:t>
            </a:r>
            <a:endParaRPr lang="en-US" sz="1750" dirty="0"/>
          </a:p>
        </p:txBody>
      </p:sp>
      <p:sp>
        <p:nvSpPr>
          <p:cNvPr id="8" name="Text 6"/>
          <p:cNvSpPr/>
          <p:nvPr/>
        </p:nvSpPr>
        <p:spPr>
          <a:xfrm>
            <a:off x="980003" y="4537710"/>
            <a:ext cx="6059686" cy="571500"/>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The entities requesting access - typically users or processes that need to interact with system resources</a:t>
            </a:r>
            <a:endParaRPr lang="en-US" sz="1400" dirty="0"/>
          </a:p>
        </p:txBody>
      </p:sp>
      <p:sp>
        <p:nvSpPr>
          <p:cNvPr id="9" name="Shape 7"/>
          <p:cNvSpPr/>
          <p:nvPr/>
        </p:nvSpPr>
        <p:spPr>
          <a:xfrm>
            <a:off x="7404497" y="3965377"/>
            <a:ext cx="6432113" cy="1330047"/>
          </a:xfrm>
          <a:prstGeom prst="roundRect">
            <a:avLst>
              <a:gd name="adj" fmla="val 5641"/>
            </a:avLst>
          </a:prstGeom>
          <a:solidFill>
            <a:srgbClr val="E8E8E3"/>
          </a:solidFill>
          <a:ln w="7620">
            <a:solidFill>
              <a:srgbClr val="CECEC9"/>
            </a:solidFill>
            <a:prstDash val="solid"/>
          </a:ln>
        </p:spPr>
      </p:sp>
      <p:sp>
        <p:nvSpPr>
          <p:cNvPr id="10" name="Text 8"/>
          <p:cNvSpPr/>
          <p:nvPr/>
        </p:nvSpPr>
        <p:spPr>
          <a:xfrm>
            <a:off x="7590711" y="4151590"/>
            <a:ext cx="2232779" cy="278963"/>
          </a:xfrm>
          <a:prstGeom prst="rect">
            <a:avLst/>
          </a:prstGeom>
          <a:noFill/>
          <a:ln/>
        </p:spPr>
        <p:txBody>
          <a:bodyPr wrap="none" lIns="0" tIns="0" rIns="0" bIns="0" rtlCol="0" anchor="t"/>
          <a:lstStyle/>
          <a:p>
            <a:pPr marL="0" indent="0" algn="l">
              <a:lnSpc>
                <a:spcPts val="2150"/>
              </a:lnSpc>
              <a:buNone/>
            </a:pPr>
            <a:r>
              <a:rPr lang="en-US" sz="1750" dirty="0">
                <a:solidFill>
                  <a:srgbClr val="272525"/>
                </a:solidFill>
                <a:latin typeface="Gelasio" pitchFamily="34" charset="0"/>
                <a:ea typeface="Gelasio" pitchFamily="34" charset="-122"/>
                <a:cs typeface="Gelasio" pitchFamily="34" charset="-120"/>
              </a:rPr>
              <a:t>Objects</a:t>
            </a:r>
            <a:endParaRPr lang="en-US" sz="1750" dirty="0"/>
          </a:p>
        </p:txBody>
      </p:sp>
      <p:sp>
        <p:nvSpPr>
          <p:cNvPr id="11" name="Text 9"/>
          <p:cNvSpPr/>
          <p:nvPr/>
        </p:nvSpPr>
        <p:spPr>
          <a:xfrm>
            <a:off x="7590711" y="4537710"/>
            <a:ext cx="6059686" cy="571500"/>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The resources being protected, such as files, databases, or network services that require controlled access</a:t>
            </a:r>
            <a:endParaRPr lang="en-US" sz="1400" dirty="0"/>
          </a:p>
        </p:txBody>
      </p:sp>
      <p:sp>
        <p:nvSpPr>
          <p:cNvPr id="12" name="Text 10"/>
          <p:cNvSpPr/>
          <p:nvPr/>
        </p:nvSpPr>
        <p:spPr>
          <a:xfrm>
            <a:off x="793790" y="5496282"/>
            <a:ext cx="13042821" cy="857250"/>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Over the decades, several models have been developed to formalize and implement access control policies. Among the most prominent are Discretionary Access Control (DAC), Mandatory Access Control (MAC), and Role-Based Access Control (RBAC). While MAC is typically reserved for high-security environments like military and government systems, DAC and RBAC are widely used across the entire spectrum of computing, from personal devices to large-scale enterprise applications.</a:t>
            </a:r>
            <a:endParaRPr lang="en-US" sz="1400" dirty="0"/>
          </a:p>
        </p:txBody>
      </p:sp>
      <p:sp>
        <p:nvSpPr>
          <p:cNvPr id="13" name="Text 11"/>
          <p:cNvSpPr/>
          <p:nvPr/>
        </p:nvSpPr>
        <p:spPr>
          <a:xfrm>
            <a:off x="793790" y="6554391"/>
            <a:ext cx="13042821" cy="857250"/>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DAC is characterized by its flexibility, placing the control of access permissions in the hands of the resource owner. This model is intuitive and mirrors real-world ownership concepts. Conversely, RBAC takes a more structured, centralized approach, assigning permissions based on an individual's role or job function within an organization, designed to enforce the principle of least privilege and simplify administration in complex environments.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93790"/>
            <a:ext cx="7614761" cy="496133"/>
          </a:xfrm>
          <a:prstGeom prst="rect">
            <a:avLst/>
          </a:prstGeom>
          <a:noFill/>
          <a:ln/>
        </p:spPr>
        <p:txBody>
          <a:bodyPr wrap="none" lIns="0" tIns="0" rIns="0" bIns="0" rtlCol="0" anchor="t"/>
          <a:lstStyle/>
          <a:p>
            <a:pPr marL="0" indent="0" algn="l">
              <a:lnSpc>
                <a:spcPts val="3900"/>
              </a:lnSpc>
              <a:buNone/>
            </a:pPr>
            <a:r>
              <a:rPr lang="en-US" sz="3100" dirty="0">
                <a:solidFill>
                  <a:srgbClr val="312F2B"/>
                </a:solidFill>
                <a:latin typeface="Gelasio" pitchFamily="34" charset="0"/>
                <a:ea typeface="Gelasio" pitchFamily="34" charset="-122"/>
                <a:cs typeface="Gelasio" pitchFamily="34" charset="-120"/>
              </a:rPr>
              <a:t>Formal Models: Mathematical Foundations</a:t>
            </a:r>
            <a:endParaRPr lang="en-US" sz="3100" dirty="0"/>
          </a:p>
        </p:txBody>
      </p:sp>
      <p:sp>
        <p:nvSpPr>
          <p:cNvPr id="3" name="Text 1"/>
          <p:cNvSpPr/>
          <p:nvPr/>
        </p:nvSpPr>
        <p:spPr>
          <a:xfrm>
            <a:off x="793790" y="1607463"/>
            <a:ext cx="13042821" cy="508159"/>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To understand the precise behavior of access control systems, it is essential to define them with mathematical formalism. These formal models provide the theoretical foundation for implementing secure access control mechanisms.</a:t>
            </a:r>
            <a:endParaRPr lang="en-US" sz="1250" dirty="0"/>
          </a:p>
        </p:txBody>
      </p:sp>
      <p:sp>
        <p:nvSpPr>
          <p:cNvPr id="4" name="Text 2"/>
          <p:cNvSpPr/>
          <p:nvPr/>
        </p:nvSpPr>
        <p:spPr>
          <a:xfrm>
            <a:off x="793790" y="2353747"/>
            <a:ext cx="6792635" cy="396835"/>
          </a:xfrm>
          <a:prstGeom prst="rect">
            <a:avLst/>
          </a:prstGeom>
          <a:noFill/>
          <a:ln/>
        </p:spPr>
        <p:txBody>
          <a:bodyPr wrap="none" lIns="0" tIns="0" rIns="0" bIns="0" rtlCol="0" anchor="t"/>
          <a:lstStyle/>
          <a:p>
            <a:pPr marL="0" indent="0" algn="l">
              <a:lnSpc>
                <a:spcPts val="3100"/>
              </a:lnSpc>
              <a:buNone/>
            </a:pPr>
            <a:r>
              <a:rPr lang="en-US" sz="2500" dirty="0">
                <a:solidFill>
                  <a:srgbClr val="312F2B"/>
                </a:solidFill>
                <a:latin typeface="Gelasio" pitchFamily="34" charset="0"/>
                <a:ea typeface="Gelasio" pitchFamily="34" charset="-122"/>
                <a:cs typeface="Gelasio" pitchFamily="34" charset="-120"/>
              </a:rPr>
              <a:t>Formalizing Discretionary Access Control (DAC)</a:t>
            </a:r>
            <a:endParaRPr lang="en-US" sz="2500" dirty="0"/>
          </a:p>
        </p:txBody>
      </p:sp>
      <p:sp>
        <p:nvSpPr>
          <p:cNvPr id="5" name="Text 3"/>
          <p:cNvSpPr/>
          <p:nvPr/>
        </p:nvSpPr>
        <p:spPr>
          <a:xfrm>
            <a:off x="793790" y="2988707"/>
            <a:ext cx="13042821" cy="508159"/>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The state of a DAC system can be described by an access control matrix, as proposed by Lampson and further developed by Harrison, Ruzzo, and Ullman (HRU model). This matrix, denoted as M, describes the rights of subjects over objects.</a:t>
            </a:r>
            <a:endParaRPr lang="en-US" sz="1250" dirty="0"/>
          </a:p>
        </p:txBody>
      </p:sp>
      <p:sp>
        <p:nvSpPr>
          <p:cNvPr id="6" name="Shape 4"/>
          <p:cNvSpPr/>
          <p:nvPr/>
        </p:nvSpPr>
        <p:spPr>
          <a:xfrm>
            <a:off x="793790" y="3675459"/>
            <a:ext cx="6441996" cy="1889165"/>
          </a:xfrm>
          <a:prstGeom prst="roundRect">
            <a:avLst>
              <a:gd name="adj" fmla="val 3530"/>
            </a:avLst>
          </a:prstGeom>
          <a:solidFill>
            <a:srgbClr val="FFFFFF">
              <a:alpha val="95000"/>
            </a:srgbClr>
          </a:solidFill>
          <a:ln w="22860">
            <a:solidFill>
              <a:srgbClr val="CECEC9"/>
            </a:solidFill>
            <a:prstDash val="solid"/>
          </a:ln>
        </p:spPr>
      </p:sp>
      <p:sp>
        <p:nvSpPr>
          <p:cNvPr id="7" name="Text 5"/>
          <p:cNvSpPr/>
          <p:nvPr/>
        </p:nvSpPr>
        <p:spPr>
          <a:xfrm>
            <a:off x="975360" y="3857030"/>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272525"/>
                </a:solidFill>
                <a:latin typeface="Gelasio" pitchFamily="34" charset="0"/>
                <a:ea typeface="Gelasio" pitchFamily="34" charset="-122"/>
                <a:cs typeface="Gelasio" pitchFamily="34" charset="-120"/>
              </a:rPr>
              <a:t>Key Components</a:t>
            </a:r>
            <a:endParaRPr lang="en-US" sz="1550" dirty="0"/>
          </a:p>
        </p:txBody>
      </p:sp>
      <p:sp>
        <p:nvSpPr>
          <p:cNvPr id="8" name="Text 6"/>
          <p:cNvSpPr/>
          <p:nvPr/>
        </p:nvSpPr>
        <p:spPr>
          <a:xfrm>
            <a:off x="975360" y="4200287"/>
            <a:ext cx="6078855" cy="254079"/>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272525"/>
                </a:solidFill>
                <a:latin typeface="Lato" pitchFamily="34" charset="0"/>
                <a:ea typeface="Lato" pitchFamily="34" charset="-122"/>
                <a:cs typeface="Lato" pitchFamily="34" charset="-120"/>
              </a:rPr>
              <a:t>S</a:t>
            </a:r>
            <a:r>
              <a:rPr lang="en-US" sz="1250" dirty="0">
                <a:solidFill>
                  <a:srgbClr val="272525"/>
                </a:solidFill>
                <a:latin typeface="Lato" pitchFamily="34" charset="0"/>
                <a:ea typeface="Lato" pitchFamily="34" charset="-122"/>
                <a:cs typeface="Lato" pitchFamily="34" charset="-120"/>
              </a:rPr>
              <a:t>: Set of subjects (users, processes)</a:t>
            </a:r>
            <a:endParaRPr lang="en-US" sz="1250" dirty="0"/>
          </a:p>
        </p:txBody>
      </p:sp>
      <p:sp>
        <p:nvSpPr>
          <p:cNvPr id="9" name="Text 7"/>
          <p:cNvSpPr/>
          <p:nvPr/>
        </p:nvSpPr>
        <p:spPr>
          <a:xfrm>
            <a:off x="975360" y="4509849"/>
            <a:ext cx="6078855" cy="254079"/>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272525"/>
                </a:solidFill>
                <a:latin typeface="Lato" pitchFamily="34" charset="0"/>
                <a:ea typeface="Lato" pitchFamily="34" charset="-122"/>
                <a:cs typeface="Lato" pitchFamily="34" charset="-120"/>
              </a:rPr>
              <a:t>O</a:t>
            </a:r>
            <a:r>
              <a:rPr lang="en-US" sz="1250" dirty="0">
                <a:solidFill>
                  <a:srgbClr val="272525"/>
                </a:solidFill>
                <a:latin typeface="Lato" pitchFamily="34" charset="0"/>
                <a:ea typeface="Lato" pitchFamily="34" charset="-122"/>
                <a:cs typeface="Lato" pitchFamily="34" charset="-120"/>
              </a:rPr>
              <a:t>: Set of objects (files, resources)</a:t>
            </a:r>
            <a:endParaRPr lang="en-US" sz="1250" dirty="0"/>
          </a:p>
        </p:txBody>
      </p:sp>
      <p:sp>
        <p:nvSpPr>
          <p:cNvPr id="10" name="Text 8"/>
          <p:cNvSpPr/>
          <p:nvPr/>
        </p:nvSpPr>
        <p:spPr>
          <a:xfrm>
            <a:off x="975360" y="4819412"/>
            <a:ext cx="6078855" cy="254079"/>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272525"/>
                </a:solidFill>
                <a:latin typeface="Lato" pitchFamily="34" charset="0"/>
                <a:ea typeface="Lato" pitchFamily="34" charset="-122"/>
                <a:cs typeface="Lato" pitchFamily="34" charset="-120"/>
              </a:rPr>
              <a:t>R</a:t>
            </a:r>
            <a:r>
              <a:rPr lang="en-US" sz="1250" dirty="0">
                <a:solidFill>
                  <a:srgbClr val="272525"/>
                </a:solidFill>
                <a:latin typeface="Lato" pitchFamily="34" charset="0"/>
                <a:ea typeface="Lato" pitchFamily="34" charset="-122"/>
                <a:cs typeface="Lato" pitchFamily="34" charset="-120"/>
              </a:rPr>
              <a:t>: Set of rights (read, write, execute, own)</a:t>
            </a:r>
            <a:endParaRPr lang="en-US" sz="1250" dirty="0"/>
          </a:p>
        </p:txBody>
      </p:sp>
      <p:sp>
        <p:nvSpPr>
          <p:cNvPr id="11" name="Text 9"/>
          <p:cNvSpPr/>
          <p:nvPr/>
        </p:nvSpPr>
        <p:spPr>
          <a:xfrm>
            <a:off x="975360" y="5128974"/>
            <a:ext cx="6078855" cy="254079"/>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272525"/>
                </a:solidFill>
                <a:latin typeface="Lato" pitchFamily="34" charset="0"/>
                <a:ea typeface="Lato" pitchFamily="34" charset="-122"/>
                <a:cs typeface="Lato" pitchFamily="34" charset="-120"/>
              </a:rPr>
              <a:t>M</a:t>
            </a:r>
            <a:r>
              <a:rPr lang="en-US" sz="1250" dirty="0">
                <a:solidFill>
                  <a:srgbClr val="272525"/>
                </a:solidFill>
                <a:latin typeface="Lato" pitchFamily="34" charset="0"/>
                <a:ea typeface="Lato" pitchFamily="34" charset="-122"/>
                <a:cs typeface="Lato" pitchFamily="34" charset="-120"/>
              </a:rPr>
              <a:t>: Access control matrix</a:t>
            </a:r>
            <a:endParaRPr lang="en-US" sz="1250" dirty="0"/>
          </a:p>
        </p:txBody>
      </p:sp>
      <p:sp>
        <p:nvSpPr>
          <p:cNvPr id="12" name="Shape 10"/>
          <p:cNvSpPr/>
          <p:nvPr/>
        </p:nvSpPr>
        <p:spPr>
          <a:xfrm>
            <a:off x="7394496" y="3675459"/>
            <a:ext cx="6442115" cy="1889165"/>
          </a:xfrm>
          <a:prstGeom prst="roundRect">
            <a:avLst>
              <a:gd name="adj" fmla="val 3530"/>
            </a:avLst>
          </a:prstGeom>
          <a:solidFill>
            <a:srgbClr val="FFFFFF">
              <a:alpha val="95000"/>
            </a:srgbClr>
          </a:solidFill>
          <a:ln w="22860">
            <a:solidFill>
              <a:srgbClr val="CECEC9"/>
            </a:solidFill>
            <a:prstDash val="solid"/>
          </a:ln>
        </p:spPr>
      </p:sp>
      <p:sp>
        <p:nvSpPr>
          <p:cNvPr id="13" name="Text 11"/>
          <p:cNvSpPr/>
          <p:nvPr/>
        </p:nvSpPr>
        <p:spPr>
          <a:xfrm>
            <a:off x="7576066" y="3857030"/>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272525"/>
                </a:solidFill>
                <a:latin typeface="Gelasio" pitchFamily="34" charset="0"/>
                <a:ea typeface="Gelasio" pitchFamily="34" charset="-122"/>
                <a:cs typeface="Gelasio" pitchFamily="34" charset="-120"/>
              </a:rPr>
              <a:t>Matrix Definition</a:t>
            </a:r>
            <a:endParaRPr lang="en-US" sz="1550" dirty="0"/>
          </a:p>
        </p:txBody>
      </p:sp>
      <p:sp>
        <p:nvSpPr>
          <p:cNvPr id="14" name="Text 12"/>
          <p:cNvSpPr/>
          <p:nvPr/>
        </p:nvSpPr>
        <p:spPr>
          <a:xfrm>
            <a:off x="7576066" y="4200287"/>
            <a:ext cx="6078974" cy="508159"/>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The access control matrix M is a two-dimensional array where rows correspond to subjects and columns correspond to objects.</a:t>
            </a:r>
            <a:endParaRPr lang="en-US" sz="1250" dirty="0"/>
          </a:p>
        </p:txBody>
      </p:sp>
      <p:sp>
        <p:nvSpPr>
          <p:cNvPr id="15" name="Text 13"/>
          <p:cNvSpPr/>
          <p:nvPr/>
        </p:nvSpPr>
        <p:spPr>
          <a:xfrm>
            <a:off x="7576066" y="4909304"/>
            <a:ext cx="6078974" cy="274558"/>
          </a:xfrm>
          <a:prstGeom prst="rect">
            <a:avLst/>
          </a:prstGeom>
          <a:noFill/>
          <a:ln/>
        </p:spPr>
        <p:txBody>
          <a:bodyPr wrap="none" lIns="0" tIns="0" rIns="0" bIns="0" rtlCol="0" anchor="t"/>
          <a:lstStyle/>
          <a:p>
            <a:pPr marL="0" indent="0" algn="l">
              <a:lnSpc>
                <a:spcPts val="2250"/>
              </a:lnSpc>
              <a:buNone/>
            </a:pPr>
            <a:endParaRPr lang="en-US" sz="1400" dirty="0"/>
          </a:p>
        </p:txBody>
      </p:sp>
      <p:pic>
        <p:nvPicPr>
          <p:cNvPr id="16" name="Image 0" descr="preencoded.png"/>
          <p:cNvPicPr>
            <a:picLocks noChangeAspect="1"/>
          </p:cNvPicPr>
          <p:nvPr/>
        </p:nvPicPr>
        <p:blipFill>
          <a:blip r:embed="rId3"/>
          <a:stretch>
            <a:fillRect/>
          </a:stretch>
        </p:blipFill>
        <p:spPr>
          <a:xfrm>
            <a:off x="7576066" y="4909304"/>
            <a:ext cx="6078974" cy="274558"/>
          </a:xfrm>
          <a:prstGeom prst="rect">
            <a:avLst/>
          </a:prstGeom>
        </p:spPr>
      </p:pic>
      <p:sp>
        <p:nvSpPr>
          <p:cNvPr id="17" name="Text 14"/>
          <p:cNvSpPr/>
          <p:nvPr/>
        </p:nvSpPr>
        <p:spPr>
          <a:xfrm>
            <a:off x="793790" y="5743218"/>
            <a:ext cx="13042821" cy="508159"/>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For example, if M[Alice, file.txt] = {read, write}, it means the subject Alice has read and write permissions for the object file.txt. The "discretionary" aspect comes from rules that allow subjects to modify the matrix. For example, if 'own' ∈ M[s, o], then subject s can execute commands to add or remove rights for another subject s′ over object o.</a:t>
            </a:r>
            <a:endParaRPr lang="en-US" sz="1250" dirty="0"/>
          </a:p>
        </p:txBody>
      </p:sp>
      <p:sp>
        <p:nvSpPr>
          <p:cNvPr id="18" name="Text 15"/>
          <p:cNvSpPr/>
          <p:nvPr/>
        </p:nvSpPr>
        <p:spPr>
          <a:xfrm>
            <a:off x="793790" y="6452235"/>
            <a:ext cx="13042821" cy="274558"/>
          </a:xfrm>
          <a:prstGeom prst="rect">
            <a:avLst/>
          </a:prstGeom>
          <a:noFill/>
          <a:ln/>
        </p:spPr>
        <p:txBody>
          <a:bodyPr wrap="none" lIns="0" tIns="0" rIns="0" bIns="0" rtlCol="0" anchor="t"/>
          <a:lstStyle/>
          <a:p>
            <a:pPr marL="0" indent="0" algn="l">
              <a:lnSpc>
                <a:spcPts val="2250"/>
              </a:lnSpc>
              <a:buNone/>
            </a:pPr>
            <a:endParaRPr lang="en-US" sz="1400" dirty="0"/>
          </a:p>
        </p:txBody>
      </p:sp>
      <p:pic>
        <p:nvPicPr>
          <p:cNvPr id="19" name="Image 1" descr="preencoded.png"/>
          <p:cNvPicPr>
            <a:picLocks noChangeAspect="1"/>
          </p:cNvPicPr>
          <p:nvPr/>
        </p:nvPicPr>
        <p:blipFill>
          <a:blip r:embed="rId4"/>
          <a:stretch>
            <a:fillRect/>
          </a:stretch>
        </p:blipFill>
        <p:spPr>
          <a:xfrm>
            <a:off x="793790" y="6452235"/>
            <a:ext cx="13042821" cy="274558"/>
          </a:xfrm>
          <a:prstGeom prst="rect">
            <a:avLst/>
          </a:prstGeom>
        </p:spPr>
      </p:pic>
      <p:sp>
        <p:nvSpPr>
          <p:cNvPr id="20" name="Text 16"/>
          <p:cNvSpPr/>
          <p:nvPr/>
        </p:nvSpPr>
        <p:spPr>
          <a:xfrm>
            <a:off x="793790" y="6927652"/>
            <a:ext cx="13042821" cy="508159"/>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This formalization clearly shows how permissions are tied directly to subject-object pairs and how a subject with ownership rights can alter these pairings, providing the mathematical foundation for understanding DAC behavior and security properties.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82836"/>
            <a:ext cx="6903363" cy="527090"/>
          </a:xfrm>
          <a:prstGeom prst="rect">
            <a:avLst/>
          </a:prstGeom>
          <a:noFill/>
          <a:ln/>
        </p:spPr>
        <p:txBody>
          <a:bodyPr wrap="none" lIns="0" tIns="0" rIns="0" bIns="0" rtlCol="0" anchor="t"/>
          <a:lstStyle/>
          <a:p>
            <a:pPr marL="0" indent="0" algn="l">
              <a:lnSpc>
                <a:spcPts val="4150"/>
              </a:lnSpc>
              <a:buNone/>
            </a:pPr>
            <a:r>
              <a:rPr lang="en-US" sz="3300" dirty="0">
                <a:solidFill>
                  <a:srgbClr val="312F2B"/>
                </a:solidFill>
                <a:latin typeface="Gelasio" pitchFamily="34" charset="0"/>
                <a:ea typeface="Gelasio" pitchFamily="34" charset="-122"/>
                <a:cs typeface="Gelasio" pitchFamily="34" charset="-120"/>
              </a:rPr>
              <a:t>RBAC Formal Model: NIST Standard</a:t>
            </a:r>
            <a:endParaRPr lang="en-US" sz="3300" dirty="0"/>
          </a:p>
        </p:txBody>
      </p:sp>
      <p:sp>
        <p:nvSpPr>
          <p:cNvPr id="3" name="Text 1"/>
          <p:cNvSpPr/>
          <p:nvPr/>
        </p:nvSpPr>
        <p:spPr>
          <a:xfrm>
            <a:off x="793790" y="1647230"/>
            <a:ext cx="13042821" cy="539829"/>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The NIST standard for RBAC provides a widely accepted formalization that has become the gold standard for role-based systems. The core RBAC model consists of several sets and relations that create a structured approach to access control.</a:t>
            </a:r>
            <a:endParaRPr lang="en-US" sz="1300" dirty="0"/>
          </a:p>
        </p:txBody>
      </p:sp>
      <p:sp>
        <p:nvSpPr>
          <p:cNvPr id="4" name="Shape 2"/>
          <p:cNvSpPr/>
          <p:nvPr/>
        </p:nvSpPr>
        <p:spPr>
          <a:xfrm>
            <a:off x="793790" y="2376845"/>
            <a:ext cx="6437114" cy="1973580"/>
          </a:xfrm>
          <a:prstGeom prst="roundRect">
            <a:avLst>
              <a:gd name="adj" fmla="val 3590"/>
            </a:avLst>
          </a:prstGeom>
          <a:solidFill>
            <a:srgbClr val="E8E8E3"/>
          </a:solidFill>
          <a:ln w="7620">
            <a:solidFill>
              <a:srgbClr val="CECEC9"/>
            </a:solidFill>
            <a:prstDash val="solid"/>
          </a:ln>
        </p:spPr>
      </p:sp>
      <p:sp>
        <p:nvSpPr>
          <p:cNvPr id="5" name="Text 3"/>
          <p:cNvSpPr/>
          <p:nvPr/>
        </p:nvSpPr>
        <p:spPr>
          <a:xfrm>
            <a:off x="2957989" y="2553057"/>
            <a:ext cx="2108716" cy="263485"/>
          </a:xfrm>
          <a:prstGeom prst="rect">
            <a:avLst/>
          </a:prstGeom>
          <a:noFill/>
          <a:ln/>
        </p:spPr>
        <p:txBody>
          <a:bodyPr wrap="none" lIns="0" tIns="0" rIns="0" bIns="0" rtlCol="0" anchor="t"/>
          <a:lstStyle/>
          <a:p>
            <a:pPr marL="0" indent="0" algn="ctr">
              <a:lnSpc>
                <a:spcPts val="2050"/>
              </a:lnSpc>
              <a:buNone/>
            </a:pPr>
            <a:r>
              <a:rPr lang="en-US" sz="1650" dirty="0">
                <a:solidFill>
                  <a:srgbClr val="272525"/>
                </a:solidFill>
                <a:latin typeface="Gelasio" pitchFamily="34" charset="0"/>
                <a:ea typeface="Gelasio" pitchFamily="34" charset="-122"/>
                <a:cs typeface="Gelasio" pitchFamily="34" charset="-120"/>
              </a:rPr>
              <a:t>Core Components</a:t>
            </a:r>
            <a:endParaRPr lang="en-US" sz="1650" dirty="0"/>
          </a:p>
        </p:txBody>
      </p:sp>
      <p:sp>
        <p:nvSpPr>
          <p:cNvPr id="6" name="Text 4"/>
          <p:cNvSpPr/>
          <p:nvPr/>
        </p:nvSpPr>
        <p:spPr>
          <a:xfrm>
            <a:off x="970002" y="2917746"/>
            <a:ext cx="6084689" cy="269915"/>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272525"/>
                </a:solidFill>
                <a:latin typeface="Lato" pitchFamily="34" charset="0"/>
                <a:ea typeface="Lato" pitchFamily="34" charset="-122"/>
                <a:cs typeface="Lato" pitchFamily="34" charset="-120"/>
              </a:rPr>
              <a:t>U</a:t>
            </a:r>
            <a:r>
              <a:rPr lang="en-US" sz="1300" dirty="0">
                <a:solidFill>
                  <a:srgbClr val="272525"/>
                </a:solidFill>
                <a:latin typeface="Lato" pitchFamily="34" charset="0"/>
                <a:ea typeface="Lato" pitchFamily="34" charset="-122"/>
                <a:cs typeface="Lato" pitchFamily="34" charset="-120"/>
              </a:rPr>
              <a:t>: Set of users</a:t>
            </a:r>
            <a:endParaRPr lang="en-US" sz="1300" dirty="0"/>
          </a:p>
        </p:txBody>
      </p:sp>
      <p:sp>
        <p:nvSpPr>
          <p:cNvPr id="7" name="Text 5"/>
          <p:cNvSpPr/>
          <p:nvPr/>
        </p:nvSpPr>
        <p:spPr>
          <a:xfrm>
            <a:off x="970002" y="3246596"/>
            <a:ext cx="6084689" cy="269915"/>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272525"/>
                </a:solidFill>
                <a:latin typeface="Lato" pitchFamily="34" charset="0"/>
                <a:ea typeface="Lato" pitchFamily="34" charset="-122"/>
                <a:cs typeface="Lato" pitchFamily="34" charset="-120"/>
              </a:rPr>
              <a:t>R</a:t>
            </a:r>
            <a:r>
              <a:rPr lang="en-US" sz="1300" dirty="0">
                <a:solidFill>
                  <a:srgbClr val="272525"/>
                </a:solidFill>
                <a:latin typeface="Lato" pitchFamily="34" charset="0"/>
                <a:ea typeface="Lato" pitchFamily="34" charset="-122"/>
                <a:cs typeface="Lato" pitchFamily="34" charset="-120"/>
              </a:rPr>
              <a:t>: Set of roles</a:t>
            </a:r>
            <a:endParaRPr lang="en-US" sz="1300" dirty="0"/>
          </a:p>
        </p:txBody>
      </p:sp>
      <p:sp>
        <p:nvSpPr>
          <p:cNvPr id="8" name="Text 6"/>
          <p:cNvSpPr/>
          <p:nvPr/>
        </p:nvSpPr>
        <p:spPr>
          <a:xfrm>
            <a:off x="970002" y="3575447"/>
            <a:ext cx="6084689" cy="269915"/>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272525"/>
                </a:solidFill>
                <a:latin typeface="Lato" pitchFamily="34" charset="0"/>
                <a:ea typeface="Lato" pitchFamily="34" charset="-122"/>
                <a:cs typeface="Lato" pitchFamily="34" charset="-120"/>
              </a:rPr>
              <a:t>P</a:t>
            </a:r>
            <a:r>
              <a:rPr lang="en-US" sz="1300" dirty="0">
                <a:solidFill>
                  <a:srgbClr val="272525"/>
                </a:solidFill>
                <a:latin typeface="Lato" pitchFamily="34" charset="0"/>
                <a:ea typeface="Lato" pitchFamily="34" charset="-122"/>
                <a:cs typeface="Lato" pitchFamily="34" charset="-120"/>
              </a:rPr>
              <a:t>: Set of permissions</a:t>
            </a:r>
            <a:endParaRPr lang="en-US" sz="1300" dirty="0"/>
          </a:p>
        </p:txBody>
      </p:sp>
      <p:sp>
        <p:nvSpPr>
          <p:cNvPr id="9" name="Text 7"/>
          <p:cNvSpPr/>
          <p:nvPr/>
        </p:nvSpPr>
        <p:spPr>
          <a:xfrm>
            <a:off x="970002" y="3904297"/>
            <a:ext cx="6084689" cy="269915"/>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272525"/>
                </a:solidFill>
                <a:latin typeface="Lato" pitchFamily="34" charset="0"/>
                <a:ea typeface="Lato" pitchFamily="34" charset="-122"/>
                <a:cs typeface="Lato" pitchFamily="34" charset="-120"/>
              </a:rPr>
              <a:t>S</a:t>
            </a:r>
            <a:r>
              <a:rPr lang="en-US" sz="1300" dirty="0">
                <a:solidFill>
                  <a:srgbClr val="272525"/>
                </a:solidFill>
                <a:latin typeface="Lato" pitchFamily="34" charset="0"/>
                <a:ea typeface="Lato" pitchFamily="34" charset="-122"/>
                <a:cs typeface="Lato" pitchFamily="34" charset="-120"/>
              </a:rPr>
              <a:t>: Set of sessions</a:t>
            </a:r>
            <a:endParaRPr lang="en-US" sz="1300" dirty="0"/>
          </a:p>
        </p:txBody>
      </p:sp>
      <p:sp>
        <p:nvSpPr>
          <p:cNvPr id="10" name="Shape 8"/>
          <p:cNvSpPr/>
          <p:nvPr/>
        </p:nvSpPr>
        <p:spPr>
          <a:xfrm>
            <a:off x="7399496" y="2376845"/>
            <a:ext cx="6437114" cy="1973580"/>
          </a:xfrm>
          <a:prstGeom prst="roundRect">
            <a:avLst>
              <a:gd name="adj" fmla="val 3590"/>
            </a:avLst>
          </a:prstGeom>
          <a:solidFill>
            <a:srgbClr val="E8E8E3"/>
          </a:solidFill>
          <a:ln w="7620">
            <a:solidFill>
              <a:srgbClr val="CECEC9"/>
            </a:solidFill>
            <a:prstDash val="solid"/>
          </a:ln>
        </p:spPr>
      </p:sp>
      <p:sp>
        <p:nvSpPr>
          <p:cNvPr id="11" name="Text 9"/>
          <p:cNvSpPr/>
          <p:nvPr/>
        </p:nvSpPr>
        <p:spPr>
          <a:xfrm>
            <a:off x="9563695" y="2553057"/>
            <a:ext cx="2108716" cy="263485"/>
          </a:xfrm>
          <a:prstGeom prst="rect">
            <a:avLst/>
          </a:prstGeom>
          <a:noFill/>
          <a:ln/>
        </p:spPr>
        <p:txBody>
          <a:bodyPr wrap="none" lIns="0" tIns="0" rIns="0" bIns="0" rtlCol="0" anchor="t"/>
          <a:lstStyle/>
          <a:p>
            <a:pPr marL="0" indent="0" algn="ctr">
              <a:lnSpc>
                <a:spcPts val="2050"/>
              </a:lnSpc>
              <a:buNone/>
            </a:pPr>
            <a:r>
              <a:rPr lang="en-US" sz="1650" dirty="0">
                <a:solidFill>
                  <a:srgbClr val="272525"/>
                </a:solidFill>
                <a:latin typeface="Gelasio" pitchFamily="34" charset="0"/>
                <a:ea typeface="Gelasio" pitchFamily="34" charset="-122"/>
                <a:cs typeface="Gelasio" pitchFamily="34" charset="-120"/>
              </a:rPr>
              <a:t>Key Relations</a:t>
            </a:r>
            <a:endParaRPr lang="en-US" sz="1650" dirty="0"/>
          </a:p>
        </p:txBody>
      </p:sp>
      <p:sp>
        <p:nvSpPr>
          <p:cNvPr id="12" name="Text 10"/>
          <p:cNvSpPr/>
          <p:nvPr/>
        </p:nvSpPr>
        <p:spPr>
          <a:xfrm>
            <a:off x="7575709" y="2917746"/>
            <a:ext cx="6084689" cy="269915"/>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272525"/>
                </a:solidFill>
                <a:latin typeface="Lato" pitchFamily="34" charset="0"/>
                <a:ea typeface="Lato" pitchFamily="34" charset="-122"/>
                <a:cs typeface="Lato" pitchFamily="34" charset="-120"/>
              </a:rPr>
              <a:t>PA ⊆ P × R</a:t>
            </a:r>
            <a:r>
              <a:rPr lang="en-US" sz="1300" dirty="0">
                <a:solidFill>
                  <a:srgbClr val="272525"/>
                </a:solidFill>
                <a:latin typeface="Lato" pitchFamily="34" charset="0"/>
                <a:ea typeface="Lato" pitchFamily="34" charset="-122"/>
                <a:cs typeface="Lato" pitchFamily="34" charset="-120"/>
              </a:rPr>
              <a:t>: Permission-to-role assignment</a:t>
            </a:r>
            <a:endParaRPr lang="en-US" sz="1300" dirty="0"/>
          </a:p>
        </p:txBody>
      </p:sp>
      <p:sp>
        <p:nvSpPr>
          <p:cNvPr id="13" name="Text 11"/>
          <p:cNvSpPr/>
          <p:nvPr/>
        </p:nvSpPr>
        <p:spPr>
          <a:xfrm>
            <a:off x="7575709" y="3246596"/>
            <a:ext cx="6084689" cy="269915"/>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272525"/>
                </a:solidFill>
                <a:latin typeface="Lato" pitchFamily="34" charset="0"/>
                <a:ea typeface="Lato" pitchFamily="34" charset="-122"/>
                <a:cs typeface="Lato" pitchFamily="34" charset="-120"/>
              </a:rPr>
              <a:t>UA ⊆ U × R</a:t>
            </a:r>
            <a:r>
              <a:rPr lang="en-US" sz="1300" dirty="0">
                <a:solidFill>
                  <a:srgbClr val="272525"/>
                </a:solidFill>
                <a:latin typeface="Lato" pitchFamily="34" charset="0"/>
                <a:ea typeface="Lato" pitchFamily="34" charset="-122"/>
                <a:cs typeface="Lato" pitchFamily="34" charset="-120"/>
              </a:rPr>
              <a:t>: User-to-role assignment</a:t>
            </a:r>
            <a:endParaRPr lang="en-US" sz="1300" dirty="0"/>
          </a:p>
        </p:txBody>
      </p:sp>
      <p:sp>
        <p:nvSpPr>
          <p:cNvPr id="14" name="Text 12"/>
          <p:cNvSpPr/>
          <p:nvPr/>
        </p:nvSpPr>
        <p:spPr>
          <a:xfrm>
            <a:off x="7575709" y="3575447"/>
            <a:ext cx="6084689" cy="269915"/>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272525"/>
                </a:solidFill>
                <a:latin typeface="Lato" pitchFamily="34" charset="0"/>
                <a:ea typeface="Lato" pitchFamily="34" charset="-122"/>
                <a:cs typeface="Lato" pitchFamily="34" charset="-120"/>
              </a:rPr>
              <a:t>user_sessions(u)</a:t>
            </a:r>
            <a:r>
              <a:rPr lang="en-US" sz="1300" dirty="0">
                <a:solidFill>
                  <a:srgbClr val="272525"/>
                </a:solidFill>
                <a:latin typeface="Lato" pitchFamily="34" charset="0"/>
                <a:ea typeface="Lato" pitchFamily="34" charset="-122"/>
                <a:cs typeface="Lato" pitchFamily="34" charset="-120"/>
              </a:rPr>
              <a:t>: User to sessions mapping</a:t>
            </a:r>
            <a:endParaRPr lang="en-US" sz="1300" dirty="0"/>
          </a:p>
        </p:txBody>
      </p:sp>
      <p:sp>
        <p:nvSpPr>
          <p:cNvPr id="15" name="Text 13"/>
          <p:cNvSpPr/>
          <p:nvPr/>
        </p:nvSpPr>
        <p:spPr>
          <a:xfrm>
            <a:off x="7575709" y="3904297"/>
            <a:ext cx="6084689" cy="269915"/>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272525"/>
                </a:solidFill>
                <a:latin typeface="Lato" pitchFamily="34" charset="0"/>
                <a:ea typeface="Lato" pitchFamily="34" charset="-122"/>
                <a:cs typeface="Lato" pitchFamily="34" charset="-120"/>
              </a:rPr>
              <a:t>session_roles(s)</a:t>
            </a:r>
            <a:r>
              <a:rPr lang="en-US" sz="1300" dirty="0">
                <a:solidFill>
                  <a:srgbClr val="272525"/>
                </a:solidFill>
                <a:latin typeface="Lato" pitchFamily="34" charset="0"/>
                <a:ea typeface="Lato" pitchFamily="34" charset="-122"/>
                <a:cs typeface="Lato" pitchFamily="34" charset="-120"/>
              </a:rPr>
              <a:t>: Session to roles mapping</a:t>
            </a:r>
            <a:endParaRPr lang="en-US" sz="1300" dirty="0"/>
          </a:p>
        </p:txBody>
      </p:sp>
      <p:sp>
        <p:nvSpPr>
          <p:cNvPr id="16" name="Text 14"/>
          <p:cNvSpPr/>
          <p:nvPr/>
        </p:nvSpPr>
        <p:spPr>
          <a:xfrm>
            <a:off x="1046798" y="4729996"/>
            <a:ext cx="12789813" cy="269915"/>
          </a:xfrm>
          <a:prstGeom prst="rect">
            <a:avLst/>
          </a:prstGeom>
          <a:noFill/>
          <a:ln/>
        </p:spPr>
        <p:txBody>
          <a:bodyPr wrap="non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A user can exercise a permission p if and only if that permission is authorized for one of the user's active roles.</a:t>
            </a:r>
            <a:endParaRPr lang="en-US" sz="1300" dirty="0"/>
          </a:p>
        </p:txBody>
      </p:sp>
      <p:sp>
        <p:nvSpPr>
          <p:cNvPr id="17" name="Shape 15"/>
          <p:cNvSpPr/>
          <p:nvPr/>
        </p:nvSpPr>
        <p:spPr>
          <a:xfrm>
            <a:off x="793790" y="4540210"/>
            <a:ext cx="22860" cy="649486"/>
          </a:xfrm>
          <a:prstGeom prst="rect">
            <a:avLst/>
          </a:prstGeom>
          <a:solidFill>
            <a:srgbClr val="E5E5E0"/>
          </a:solidFill>
          <a:ln/>
        </p:spPr>
      </p:sp>
      <p:sp>
        <p:nvSpPr>
          <p:cNvPr id="18" name="Text 16"/>
          <p:cNvSpPr/>
          <p:nvPr/>
        </p:nvSpPr>
        <p:spPr>
          <a:xfrm>
            <a:off x="793790" y="5403175"/>
            <a:ext cx="13042821" cy="290751"/>
          </a:xfrm>
          <a:prstGeom prst="rect">
            <a:avLst/>
          </a:prstGeom>
          <a:noFill/>
          <a:ln/>
        </p:spPr>
        <p:txBody>
          <a:bodyPr wrap="none" lIns="0" tIns="0" rIns="0" bIns="0" rtlCol="0" anchor="t"/>
          <a:lstStyle/>
          <a:p>
            <a:pPr marL="0" indent="0" algn="l">
              <a:lnSpc>
                <a:spcPts val="2350"/>
              </a:lnSpc>
              <a:buNone/>
            </a:pPr>
            <a:endParaRPr lang="en-US" sz="1450" dirty="0"/>
          </a:p>
        </p:txBody>
      </p:sp>
      <p:pic>
        <p:nvPicPr>
          <p:cNvPr id="19" name="Image 0" descr="preencoded.png"/>
          <p:cNvPicPr>
            <a:picLocks noChangeAspect="1"/>
          </p:cNvPicPr>
          <p:nvPr/>
        </p:nvPicPr>
        <p:blipFill>
          <a:blip r:embed="rId3"/>
          <a:stretch>
            <a:fillRect/>
          </a:stretch>
        </p:blipFill>
        <p:spPr>
          <a:xfrm>
            <a:off x="793790" y="5403175"/>
            <a:ext cx="13042821" cy="290751"/>
          </a:xfrm>
          <a:prstGeom prst="rect">
            <a:avLst/>
          </a:prstGeom>
        </p:spPr>
      </p:pic>
      <p:sp>
        <p:nvSpPr>
          <p:cNvPr id="20" name="Text 17"/>
          <p:cNvSpPr/>
          <p:nvPr/>
        </p:nvSpPr>
        <p:spPr>
          <a:xfrm>
            <a:off x="793790" y="5907405"/>
            <a:ext cx="13042821" cy="809744"/>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This model introduces a crucial layer of abstraction—the role—between users and permissions. A user is not directly granted permission; instead, they are assigned a role, and the role itself is what holds the permissions. This indirection is the key to RBAC's administrative scalability and forms the theoretical foundation for understanding how role-based systems achieve both security and manageability.</a:t>
            </a:r>
            <a:endParaRPr lang="en-US" sz="1300" dirty="0"/>
          </a:p>
        </p:txBody>
      </p:sp>
      <p:sp>
        <p:nvSpPr>
          <p:cNvPr id="21" name="Text 18"/>
          <p:cNvSpPr/>
          <p:nvPr/>
        </p:nvSpPr>
        <p:spPr>
          <a:xfrm>
            <a:off x="793790" y="6906935"/>
            <a:ext cx="13042821" cy="539829"/>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Further extensions to the model include role hierarchies, which allow inheritance of permissions through organizational structures, and constraints like Separation of Duty (SoD), which prevent conflicts of interest by ensuring that sensitive operations require multiple roles or cannot be performed by a single user.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075" y="546140"/>
            <a:ext cx="5876687" cy="464701"/>
          </a:xfrm>
          <a:prstGeom prst="rect">
            <a:avLst/>
          </a:prstGeom>
          <a:noFill/>
          <a:ln/>
        </p:spPr>
        <p:txBody>
          <a:bodyPr wrap="none" lIns="0" tIns="0" rIns="0" bIns="0" rtlCol="0" anchor="t"/>
          <a:lstStyle/>
          <a:p>
            <a:pPr marL="0" indent="0" algn="l">
              <a:lnSpc>
                <a:spcPts val="3650"/>
              </a:lnSpc>
              <a:buNone/>
            </a:pPr>
            <a:r>
              <a:rPr lang="en-US" sz="2900" dirty="0">
                <a:solidFill>
                  <a:srgbClr val="312F2B"/>
                </a:solidFill>
                <a:latin typeface="Gelasio" pitchFamily="34" charset="0"/>
                <a:ea typeface="Gelasio" pitchFamily="34" charset="-122"/>
                <a:cs typeface="Gelasio" pitchFamily="34" charset="-120"/>
              </a:rPr>
              <a:t>Discretionary Access Control (DAC)</a:t>
            </a:r>
            <a:endParaRPr lang="en-US" sz="2900" dirty="0"/>
          </a:p>
        </p:txBody>
      </p:sp>
      <p:sp>
        <p:nvSpPr>
          <p:cNvPr id="3" name="Text 1"/>
          <p:cNvSpPr/>
          <p:nvPr/>
        </p:nvSpPr>
        <p:spPr>
          <a:xfrm>
            <a:off x="793075" y="1308259"/>
            <a:ext cx="13044249" cy="475774"/>
          </a:xfrm>
          <a:prstGeom prst="rect">
            <a:avLst/>
          </a:prstGeom>
          <a:noFill/>
          <a:ln/>
        </p:spPr>
        <p:txBody>
          <a:bodyPr wrap="square" lIns="0" tIns="0" rIns="0" bIns="0" rtlCol="0" anchor="t"/>
          <a:lstStyle/>
          <a:p>
            <a:pPr marL="0" indent="0" algn="l">
              <a:lnSpc>
                <a:spcPts val="1850"/>
              </a:lnSpc>
              <a:buNone/>
            </a:pPr>
            <a:r>
              <a:rPr lang="en-US" sz="1150" dirty="0">
                <a:solidFill>
                  <a:srgbClr val="272525"/>
                </a:solidFill>
                <a:latin typeface="Lato" pitchFamily="34" charset="0"/>
                <a:ea typeface="Lato" pitchFamily="34" charset="-122"/>
                <a:cs typeface="Lato" pitchFamily="34" charset="-120"/>
              </a:rPr>
              <a:t>Discretionary Access Control is an access control policy determined by the owner of an object. The owner has the discretion to grant or revoke access permissions for that object to other subjects. This model is one of the simplest and most widely used, forming the basis for security in most commercial operating systems.</a:t>
            </a:r>
            <a:endParaRPr lang="en-US" sz="1150" dirty="0"/>
          </a:p>
        </p:txBody>
      </p:sp>
      <p:sp>
        <p:nvSpPr>
          <p:cNvPr id="4" name="Text 2"/>
          <p:cNvSpPr/>
          <p:nvPr/>
        </p:nvSpPr>
        <p:spPr>
          <a:xfrm>
            <a:off x="793075" y="2007037"/>
            <a:ext cx="4778812" cy="371713"/>
          </a:xfrm>
          <a:prstGeom prst="rect">
            <a:avLst/>
          </a:prstGeom>
          <a:noFill/>
          <a:ln/>
        </p:spPr>
        <p:txBody>
          <a:bodyPr wrap="none" lIns="0" tIns="0" rIns="0" bIns="0" rtlCol="0" anchor="t"/>
          <a:lstStyle/>
          <a:p>
            <a:pPr marL="0" indent="0" algn="l">
              <a:lnSpc>
                <a:spcPts val="2900"/>
              </a:lnSpc>
              <a:buNone/>
            </a:pPr>
            <a:r>
              <a:rPr lang="en-US" sz="2300" dirty="0">
                <a:solidFill>
                  <a:srgbClr val="312F2B"/>
                </a:solidFill>
                <a:latin typeface="Gelasio" pitchFamily="34" charset="0"/>
                <a:ea typeface="Gelasio" pitchFamily="34" charset="-122"/>
                <a:cs typeface="Gelasio" pitchFamily="34" charset="-120"/>
              </a:rPr>
              <a:t>Core Principles and Implementation</a:t>
            </a:r>
            <a:endParaRPr lang="en-US" sz="2300" dirty="0"/>
          </a:p>
        </p:txBody>
      </p:sp>
      <p:sp>
        <p:nvSpPr>
          <p:cNvPr id="5" name="Text 3"/>
          <p:cNvSpPr/>
          <p:nvPr/>
        </p:nvSpPr>
        <p:spPr>
          <a:xfrm>
            <a:off x="793075" y="2601754"/>
            <a:ext cx="13044249" cy="475774"/>
          </a:xfrm>
          <a:prstGeom prst="rect">
            <a:avLst/>
          </a:prstGeom>
          <a:noFill/>
          <a:ln/>
        </p:spPr>
        <p:txBody>
          <a:bodyPr wrap="square" lIns="0" tIns="0" rIns="0" bIns="0" rtlCol="0" anchor="t"/>
          <a:lstStyle/>
          <a:p>
            <a:pPr marL="0" indent="0" algn="l">
              <a:lnSpc>
                <a:spcPts val="1850"/>
              </a:lnSpc>
              <a:buNone/>
            </a:pPr>
            <a:r>
              <a:rPr lang="en-US" sz="1150" dirty="0">
                <a:solidFill>
                  <a:srgbClr val="272525"/>
                </a:solidFill>
                <a:latin typeface="Lato" pitchFamily="34" charset="0"/>
                <a:ea typeface="Lato" pitchFamily="34" charset="-122"/>
                <a:cs typeface="Lato" pitchFamily="34" charset="-120"/>
              </a:rPr>
              <a:t>The fundamental principle of DAC is owner-controlled access. When a subject creates a new object (e.g., a file or directory), they become its owner and are granted full control over it. This control is typically managed through an Access Control List (ACL).</a:t>
            </a:r>
            <a:endParaRPr lang="en-US" sz="1150" dirty="0"/>
          </a:p>
        </p:txBody>
      </p:sp>
      <p:pic>
        <p:nvPicPr>
          <p:cNvPr id="6" name="Image 0" descr="preencoded.png"/>
          <p:cNvPicPr>
            <a:picLocks noChangeAspect="1"/>
          </p:cNvPicPr>
          <p:nvPr/>
        </p:nvPicPr>
        <p:blipFill>
          <a:blip r:embed="rId3"/>
          <a:stretch>
            <a:fillRect/>
          </a:stretch>
        </p:blipFill>
        <p:spPr>
          <a:xfrm>
            <a:off x="793075" y="3244810"/>
            <a:ext cx="743545" cy="892254"/>
          </a:xfrm>
          <a:prstGeom prst="rect">
            <a:avLst/>
          </a:prstGeom>
        </p:spPr>
      </p:pic>
      <p:sp>
        <p:nvSpPr>
          <p:cNvPr id="7" name="Text 4"/>
          <p:cNvSpPr/>
          <p:nvPr/>
        </p:nvSpPr>
        <p:spPr>
          <a:xfrm>
            <a:off x="1685330" y="3393519"/>
            <a:ext cx="1858923" cy="232291"/>
          </a:xfrm>
          <a:prstGeom prst="rect">
            <a:avLst/>
          </a:prstGeom>
          <a:noFill/>
          <a:ln/>
        </p:spPr>
        <p:txBody>
          <a:bodyPr wrap="none" lIns="0" tIns="0" rIns="0" bIns="0" rtlCol="0" anchor="t"/>
          <a:lstStyle/>
          <a:p>
            <a:pPr marL="0" indent="0" algn="l">
              <a:lnSpc>
                <a:spcPts val="1800"/>
              </a:lnSpc>
              <a:buNone/>
            </a:pPr>
            <a:r>
              <a:rPr lang="en-US" sz="1450" dirty="0">
                <a:solidFill>
                  <a:srgbClr val="272525"/>
                </a:solidFill>
                <a:latin typeface="Gelasio" pitchFamily="34" charset="0"/>
                <a:ea typeface="Gelasio" pitchFamily="34" charset="-122"/>
                <a:cs typeface="Gelasio" pitchFamily="34" charset="-120"/>
              </a:rPr>
              <a:t>Object Creation</a:t>
            </a:r>
            <a:endParaRPr lang="en-US" sz="1450" dirty="0"/>
          </a:p>
        </p:txBody>
      </p:sp>
      <p:sp>
        <p:nvSpPr>
          <p:cNvPr id="8" name="Text 5"/>
          <p:cNvSpPr/>
          <p:nvPr/>
        </p:nvSpPr>
        <p:spPr>
          <a:xfrm>
            <a:off x="1685330" y="3714988"/>
            <a:ext cx="12151995" cy="237887"/>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Lato" pitchFamily="34" charset="0"/>
                <a:ea typeface="Lato" pitchFamily="34" charset="-122"/>
                <a:cs typeface="Lato" pitchFamily="34" charset="-120"/>
              </a:rPr>
              <a:t>User creates a new file or resource and automatically becomes the owner with full control privileges</a:t>
            </a:r>
            <a:endParaRPr lang="en-US" sz="1150" dirty="0"/>
          </a:p>
        </p:txBody>
      </p:sp>
      <p:pic>
        <p:nvPicPr>
          <p:cNvPr id="9" name="Image 1" descr="preencoded.png"/>
          <p:cNvPicPr>
            <a:picLocks noChangeAspect="1"/>
          </p:cNvPicPr>
          <p:nvPr/>
        </p:nvPicPr>
        <p:blipFill>
          <a:blip r:embed="rId4"/>
          <a:stretch>
            <a:fillRect/>
          </a:stretch>
        </p:blipFill>
        <p:spPr>
          <a:xfrm>
            <a:off x="793075" y="4137065"/>
            <a:ext cx="743545" cy="892254"/>
          </a:xfrm>
          <a:prstGeom prst="rect">
            <a:avLst/>
          </a:prstGeom>
        </p:spPr>
      </p:pic>
      <p:sp>
        <p:nvSpPr>
          <p:cNvPr id="10" name="Text 6"/>
          <p:cNvSpPr/>
          <p:nvPr/>
        </p:nvSpPr>
        <p:spPr>
          <a:xfrm>
            <a:off x="1685330" y="4285774"/>
            <a:ext cx="1858923" cy="232291"/>
          </a:xfrm>
          <a:prstGeom prst="rect">
            <a:avLst/>
          </a:prstGeom>
          <a:noFill/>
          <a:ln/>
        </p:spPr>
        <p:txBody>
          <a:bodyPr wrap="none" lIns="0" tIns="0" rIns="0" bIns="0" rtlCol="0" anchor="t"/>
          <a:lstStyle/>
          <a:p>
            <a:pPr marL="0" indent="0" algn="l">
              <a:lnSpc>
                <a:spcPts val="1800"/>
              </a:lnSpc>
              <a:buNone/>
            </a:pPr>
            <a:r>
              <a:rPr lang="en-US" sz="1450" dirty="0">
                <a:solidFill>
                  <a:srgbClr val="272525"/>
                </a:solidFill>
                <a:latin typeface="Gelasio" pitchFamily="34" charset="0"/>
                <a:ea typeface="Gelasio" pitchFamily="34" charset="-122"/>
                <a:cs typeface="Gelasio" pitchFamily="34" charset="-120"/>
              </a:rPr>
              <a:t>ACL Management</a:t>
            </a:r>
            <a:endParaRPr lang="en-US" sz="1450" dirty="0"/>
          </a:p>
        </p:txBody>
      </p:sp>
      <p:sp>
        <p:nvSpPr>
          <p:cNvPr id="11" name="Text 7"/>
          <p:cNvSpPr/>
          <p:nvPr/>
        </p:nvSpPr>
        <p:spPr>
          <a:xfrm>
            <a:off x="1685330" y="4607243"/>
            <a:ext cx="12151995" cy="237887"/>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Lato" pitchFamily="34" charset="0"/>
                <a:ea typeface="Lato" pitchFamily="34" charset="-122"/>
                <a:cs typeface="Lato" pitchFamily="34" charset="-120"/>
              </a:rPr>
              <a:t>Owner maintains an Access Control List specifying which subjects have what permissions</a:t>
            </a:r>
            <a:endParaRPr lang="en-US" sz="1150" dirty="0"/>
          </a:p>
        </p:txBody>
      </p:sp>
      <p:pic>
        <p:nvPicPr>
          <p:cNvPr id="12" name="Image 2" descr="preencoded.png"/>
          <p:cNvPicPr>
            <a:picLocks noChangeAspect="1"/>
          </p:cNvPicPr>
          <p:nvPr/>
        </p:nvPicPr>
        <p:blipFill>
          <a:blip r:embed="rId5"/>
          <a:stretch>
            <a:fillRect/>
          </a:stretch>
        </p:blipFill>
        <p:spPr>
          <a:xfrm>
            <a:off x="793075" y="5029319"/>
            <a:ext cx="743545" cy="892254"/>
          </a:xfrm>
          <a:prstGeom prst="rect">
            <a:avLst/>
          </a:prstGeom>
        </p:spPr>
      </p:pic>
      <p:sp>
        <p:nvSpPr>
          <p:cNvPr id="13" name="Text 8"/>
          <p:cNvSpPr/>
          <p:nvPr/>
        </p:nvSpPr>
        <p:spPr>
          <a:xfrm>
            <a:off x="1685330" y="5178028"/>
            <a:ext cx="1858923" cy="232291"/>
          </a:xfrm>
          <a:prstGeom prst="rect">
            <a:avLst/>
          </a:prstGeom>
          <a:noFill/>
          <a:ln/>
        </p:spPr>
        <p:txBody>
          <a:bodyPr wrap="none" lIns="0" tIns="0" rIns="0" bIns="0" rtlCol="0" anchor="t"/>
          <a:lstStyle/>
          <a:p>
            <a:pPr marL="0" indent="0" algn="l">
              <a:lnSpc>
                <a:spcPts val="1800"/>
              </a:lnSpc>
              <a:buNone/>
            </a:pPr>
            <a:r>
              <a:rPr lang="en-US" sz="1450" dirty="0">
                <a:solidFill>
                  <a:srgbClr val="272525"/>
                </a:solidFill>
                <a:latin typeface="Gelasio" pitchFamily="34" charset="0"/>
                <a:ea typeface="Gelasio" pitchFamily="34" charset="-122"/>
                <a:cs typeface="Gelasio" pitchFamily="34" charset="-120"/>
              </a:rPr>
              <a:t>Permission Granting</a:t>
            </a:r>
            <a:endParaRPr lang="en-US" sz="1450" dirty="0"/>
          </a:p>
        </p:txBody>
      </p:sp>
      <p:sp>
        <p:nvSpPr>
          <p:cNvPr id="14" name="Text 9"/>
          <p:cNvSpPr/>
          <p:nvPr/>
        </p:nvSpPr>
        <p:spPr>
          <a:xfrm>
            <a:off x="1685330" y="5499497"/>
            <a:ext cx="12151995" cy="237887"/>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Lato" pitchFamily="34" charset="0"/>
                <a:ea typeface="Lato" pitchFamily="34" charset="-122"/>
                <a:cs typeface="Lato" pitchFamily="34" charset="-120"/>
              </a:rPr>
              <a:t>Owner can grant or revoke specific permissions (read, write, execute) to other users or groups</a:t>
            </a:r>
            <a:endParaRPr lang="en-US" sz="1150" dirty="0"/>
          </a:p>
        </p:txBody>
      </p:sp>
      <p:sp>
        <p:nvSpPr>
          <p:cNvPr id="15" name="Text 10"/>
          <p:cNvSpPr/>
          <p:nvPr/>
        </p:nvSpPr>
        <p:spPr>
          <a:xfrm>
            <a:off x="793075" y="6088856"/>
            <a:ext cx="13044249" cy="475774"/>
          </a:xfrm>
          <a:prstGeom prst="rect">
            <a:avLst/>
          </a:prstGeom>
          <a:noFill/>
          <a:ln/>
        </p:spPr>
        <p:txBody>
          <a:bodyPr wrap="square" lIns="0" tIns="0" rIns="0" bIns="0" rtlCol="0" anchor="t"/>
          <a:lstStyle/>
          <a:p>
            <a:pPr marL="0" indent="0" algn="l">
              <a:lnSpc>
                <a:spcPts val="1850"/>
              </a:lnSpc>
              <a:buNone/>
            </a:pPr>
            <a:r>
              <a:rPr lang="en-US" sz="1150" dirty="0">
                <a:solidFill>
                  <a:srgbClr val="272525"/>
                </a:solidFill>
                <a:latin typeface="Lato" pitchFamily="34" charset="0"/>
                <a:ea typeface="Lato" pitchFamily="34" charset="-122"/>
                <a:cs typeface="Lato" pitchFamily="34" charset="-120"/>
              </a:rPr>
              <a:t>An ACL is a data structure associated with an object that lists all subjects (users or groups) that have been granted access rights to it. Each entry in the ACL, known as an Access Control Entry (ACE), specifies a subject and the set of operations they are permitted to perform.</a:t>
            </a:r>
            <a:endParaRPr lang="en-US" sz="1150" dirty="0"/>
          </a:p>
        </p:txBody>
      </p:sp>
      <p:sp>
        <p:nvSpPr>
          <p:cNvPr id="16" name="Text 11"/>
          <p:cNvSpPr/>
          <p:nvPr/>
        </p:nvSpPr>
        <p:spPr>
          <a:xfrm>
            <a:off x="793075" y="6731913"/>
            <a:ext cx="13044249" cy="951548"/>
          </a:xfrm>
          <a:prstGeom prst="rect">
            <a:avLst/>
          </a:prstGeom>
          <a:noFill/>
          <a:ln/>
        </p:spPr>
        <p:txBody>
          <a:bodyPr wrap="square" lIns="0" tIns="0" rIns="0" bIns="0" rtlCol="0" anchor="t"/>
          <a:lstStyle/>
          <a:p>
            <a:pPr marL="0" indent="0" algn="l">
              <a:lnSpc>
                <a:spcPts val="1850"/>
              </a:lnSpc>
              <a:buNone/>
            </a:pPr>
            <a:r>
              <a:rPr lang="en-US" sz="1150" dirty="0">
                <a:solidFill>
                  <a:srgbClr val="272525"/>
                </a:solidFill>
                <a:latin typeface="Lato" pitchFamily="34" charset="0"/>
                <a:ea typeface="Lato" pitchFamily="34" charset="-122"/>
                <a:cs typeface="Lato" pitchFamily="34" charset="-120"/>
              </a:rPr>
              <a:t>For instance, in a UNIX-like operating system, file permissions are a classic example of DAC. Each file has an owner and a group, and permissions are defined for three classes of subjects: Owner (the user who created the file), Group (a group of users who share permissions), and Others (all other users on the system). Permissions are specified for reading ('r'), writing ('w'), and executing ('x'). A command like chmod 754 file.txt sets the owner's permissions to 'rwx' (read, write, execute), the group's to 'rx' (read, execute), and others' to 'r' (read). The owner can change these permissions at any time, demonstrating the discretionary nature of this access control model.</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915114"/>
            <a:ext cx="5253871" cy="403146"/>
          </a:xfrm>
          <a:prstGeom prst="rect">
            <a:avLst/>
          </a:prstGeom>
          <a:noFill/>
          <a:ln/>
        </p:spPr>
        <p:txBody>
          <a:bodyPr wrap="none" lIns="0" tIns="0" rIns="0" bIns="0" rtlCol="0" anchor="t"/>
          <a:lstStyle/>
          <a:p>
            <a:pPr marL="0" indent="0" algn="l">
              <a:lnSpc>
                <a:spcPts val="3150"/>
              </a:lnSpc>
              <a:buNone/>
            </a:pPr>
            <a:r>
              <a:rPr lang="en-US" sz="2500" dirty="0">
                <a:solidFill>
                  <a:srgbClr val="312F2B"/>
                </a:solidFill>
                <a:latin typeface="Gelasio" pitchFamily="34" charset="0"/>
                <a:ea typeface="Gelasio" pitchFamily="34" charset="-122"/>
                <a:cs typeface="Gelasio" pitchFamily="34" charset="-120"/>
              </a:rPr>
              <a:t>DAC: Advantages and Disadvantages</a:t>
            </a:r>
            <a:endParaRPr lang="en-US" sz="2500" dirty="0"/>
          </a:p>
        </p:txBody>
      </p:sp>
      <p:sp>
        <p:nvSpPr>
          <p:cNvPr id="3" name="Text 1"/>
          <p:cNvSpPr/>
          <p:nvPr/>
        </p:nvSpPr>
        <p:spPr>
          <a:xfrm>
            <a:off x="793790" y="1640681"/>
            <a:ext cx="2580084" cy="322421"/>
          </a:xfrm>
          <a:prstGeom prst="rect">
            <a:avLst/>
          </a:prstGeom>
          <a:noFill/>
          <a:ln/>
        </p:spPr>
        <p:txBody>
          <a:bodyPr wrap="none" lIns="0" tIns="0" rIns="0" bIns="0" rtlCol="0" anchor="t"/>
          <a:lstStyle/>
          <a:p>
            <a:pPr marL="0" indent="0" algn="l">
              <a:lnSpc>
                <a:spcPts val="2500"/>
              </a:lnSpc>
              <a:buNone/>
            </a:pPr>
            <a:r>
              <a:rPr lang="en-US" sz="2000" dirty="0">
                <a:solidFill>
                  <a:srgbClr val="312F2B"/>
                </a:solidFill>
                <a:latin typeface="Gelasio" pitchFamily="34" charset="0"/>
                <a:ea typeface="Gelasio" pitchFamily="34" charset="-122"/>
                <a:cs typeface="Gelasio" pitchFamily="34" charset="-120"/>
              </a:rPr>
              <a:t>Advantages of DAC</a:t>
            </a:r>
            <a:endParaRPr lang="en-US" sz="2000" dirty="0"/>
          </a:p>
        </p:txBody>
      </p:sp>
      <p:sp>
        <p:nvSpPr>
          <p:cNvPr id="4" name="Shape 2"/>
          <p:cNvSpPr/>
          <p:nvPr/>
        </p:nvSpPr>
        <p:spPr>
          <a:xfrm>
            <a:off x="793790" y="2108121"/>
            <a:ext cx="6364129" cy="1738789"/>
          </a:xfrm>
          <a:prstGeom prst="roundRect">
            <a:avLst>
              <a:gd name="adj" fmla="val 3116"/>
            </a:avLst>
          </a:prstGeom>
          <a:solidFill>
            <a:srgbClr val="E8E8E3"/>
          </a:solidFill>
          <a:ln w="7620">
            <a:solidFill>
              <a:srgbClr val="E5E5E0"/>
            </a:solidFill>
            <a:prstDash val="solid"/>
          </a:ln>
        </p:spPr>
      </p:sp>
      <p:sp>
        <p:nvSpPr>
          <p:cNvPr id="5" name="Shape 3"/>
          <p:cNvSpPr/>
          <p:nvPr/>
        </p:nvSpPr>
        <p:spPr>
          <a:xfrm>
            <a:off x="930354" y="2244685"/>
            <a:ext cx="386953" cy="386953"/>
          </a:xfrm>
          <a:prstGeom prst="roundRect">
            <a:avLst>
              <a:gd name="adj" fmla="val 23628414"/>
            </a:avLst>
          </a:prstGeom>
          <a:solidFill>
            <a:srgbClr val="E5E5E0"/>
          </a:solidFill>
          <a:ln/>
        </p:spPr>
      </p:sp>
      <p:pic>
        <p:nvPicPr>
          <p:cNvPr id="6" name="Image 0" descr="preencoded.png"/>
          <p:cNvPicPr>
            <a:picLocks noChangeAspect="1"/>
          </p:cNvPicPr>
          <p:nvPr/>
        </p:nvPicPr>
        <p:blipFill>
          <a:blip r:embed="rId3"/>
          <a:stretch>
            <a:fillRect/>
          </a:stretch>
        </p:blipFill>
        <p:spPr>
          <a:xfrm>
            <a:off x="1036796" y="2329339"/>
            <a:ext cx="174069" cy="217646"/>
          </a:xfrm>
          <a:prstGeom prst="rect">
            <a:avLst/>
          </a:prstGeom>
        </p:spPr>
      </p:pic>
      <p:sp>
        <p:nvSpPr>
          <p:cNvPr id="7" name="Text 4"/>
          <p:cNvSpPr/>
          <p:nvPr/>
        </p:nvSpPr>
        <p:spPr>
          <a:xfrm>
            <a:off x="930354" y="2760583"/>
            <a:ext cx="1882735" cy="201454"/>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Flexibility and Ease of Use</a:t>
            </a:r>
            <a:endParaRPr lang="en-US" sz="1250" dirty="0"/>
          </a:p>
        </p:txBody>
      </p:sp>
      <p:sp>
        <p:nvSpPr>
          <p:cNvPr id="8" name="Text 5"/>
          <p:cNvSpPr/>
          <p:nvPr/>
        </p:nvSpPr>
        <p:spPr>
          <a:xfrm>
            <a:off x="930354" y="3090982"/>
            <a:ext cx="6090999" cy="619363"/>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Lato" pitchFamily="34" charset="0"/>
                <a:ea typeface="Lato" pitchFamily="34" charset="-122"/>
                <a:cs typeface="Lato" pitchFamily="34" charset="-120"/>
              </a:rPr>
              <a:t>DAC is highly flexible. Owners can share resources with collaborators quickly and dynamically without needing to go through a central administrator. This fosters a collaborative environment where users can respond immediately to changing business needs.</a:t>
            </a:r>
            <a:endParaRPr lang="en-US" sz="1000" dirty="0"/>
          </a:p>
        </p:txBody>
      </p:sp>
      <p:sp>
        <p:nvSpPr>
          <p:cNvPr id="9" name="Shape 6"/>
          <p:cNvSpPr/>
          <p:nvPr/>
        </p:nvSpPr>
        <p:spPr>
          <a:xfrm>
            <a:off x="793790" y="3975854"/>
            <a:ext cx="6364129" cy="1532334"/>
          </a:xfrm>
          <a:prstGeom prst="roundRect">
            <a:avLst>
              <a:gd name="adj" fmla="val 3536"/>
            </a:avLst>
          </a:prstGeom>
          <a:solidFill>
            <a:srgbClr val="E8E8E3"/>
          </a:solidFill>
          <a:ln w="7620">
            <a:solidFill>
              <a:srgbClr val="E5E5E0"/>
            </a:solidFill>
            <a:prstDash val="solid"/>
          </a:ln>
        </p:spPr>
      </p:sp>
      <p:sp>
        <p:nvSpPr>
          <p:cNvPr id="10" name="Shape 7"/>
          <p:cNvSpPr/>
          <p:nvPr/>
        </p:nvSpPr>
        <p:spPr>
          <a:xfrm>
            <a:off x="930354" y="4112419"/>
            <a:ext cx="386953" cy="386953"/>
          </a:xfrm>
          <a:prstGeom prst="roundRect">
            <a:avLst>
              <a:gd name="adj" fmla="val 23628414"/>
            </a:avLst>
          </a:prstGeom>
          <a:solidFill>
            <a:srgbClr val="E5E5E0"/>
          </a:solidFill>
          <a:ln/>
        </p:spPr>
      </p:sp>
      <p:pic>
        <p:nvPicPr>
          <p:cNvPr id="11" name="Image 1" descr="preencoded.png"/>
          <p:cNvPicPr>
            <a:picLocks noChangeAspect="1"/>
          </p:cNvPicPr>
          <p:nvPr/>
        </p:nvPicPr>
        <p:blipFill>
          <a:blip r:embed="rId4"/>
          <a:stretch>
            <a:fillRect/>
          </a:stretch>
        </p:blipFill>
        <p:spPr>
          <a:xfrm>
            <a:off x="1036796" y="4197072"/>
            <a:ext cx="174069" cy="217646"/>
          </a:xfrm>
          <a:prstGeom prst="rect">
            <a:avLst/>
          </a:prstGeom>
        </p:spPr>
      </p:pic>
      <p:sp>
        <p:nvSpPr>
          <p:cNvPr id="12" name="Text 8"/>
          <p:cNvSpPr/>
          <p:nvPr/>
        </p:nvSpPr>
        <p:spPr>
          <a:xfrm>
            <a:off x="930354" y="4628317"/>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Simplicity</a:t>
            </a:r>
            <a:endParaRPr lang="en-US" sz="1250" dirty="0"/>
          </a:p>
        </p:txBody>
      </p:sp>
      <p:sp>
        <p:nvSpPr>
          <p:cNvPr id="13" name="Text 9"/>
          <p:cNvSpPr/>
          <p:nvPr/>
        </p:nvSpPr>
        <p:spPr>
          <a:xfrm>
            <a:off x="930354" y="4958715"/>
            <a:ext cx="6090999" cy="412909"/>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Lato" pitchFamily="34" charset="0"/>
                <a:ea typeface="Lato" pitchFamily="34" charset="-122"/>
                <a:cs typeface="Lato" pitchFamily="34" charset="-120"/>
              </a:rPr>
              <a:t>The concept of ownership is intuitive and easy for end-users to understand and manage for their own files. Users can apply familiar real-world ownership concepts to digital resources.</a:t>
            </a:r>
            <a:endParaRPr lang="en-US" sz="1000" dirty="0"/>
          </a:p>
        </p:txBody>
      </p:sp>
      <p:sp>
        <p:nvSpPr>
          <p:cNvPr id="14" name="Shape 10"/>
          <p:cNvSpPr/>
          <p:nvPr/>
        </p:nvSpPr>
        <p:spPr>
          <a:xfrm>
            <a:off x="793790" y="5637133"/>
            <a:ext cx="6364129" cy="1532334"/>
          </a:xfrm>
          <a:prstGeom prst="roundRect">
            <a:avLst>
              <a:gd name="adj" fmla="val 3536"/>
            </a:avLst>
          </a:prstGeom>
          <a:solidFill>
            <a:srgbClr val="E8E8E3"/>
          </a:solidFill>
          <a:ln w="7620">
            <a:solidFill>
              <a:srgbClr val="E5E5E0"/>
            </a:solidFill>
            <a:prstDash val="solid"/>
          </a:ln>
        </p:spPr>
      </p:sp>
      <p:sp>
        <p:nvSpPr>
          <p:cNvPr id="15" name="Shape 11"/>
          <p:cNvSpPr/>
          <p:nvPr/>
        </p:nvSpPr>
        <p:spPr>
          <a:xfrm>
            <a:off x="930354" y="5773698"/>
            <a:ext cx="386953" cy="386953"/>
          </a:xfrm>
          <a:prstGeom prst="roundRect">
            <a:avLst>
              <a:gd name="adj" fmla="val 23628414"/>
            </a:avLst>
          </a:prstGeom>
          <a:solidFill>
            <a:srgbClr val="E5E5E0"/>
          </a:solidFill>
          <a:ln/>
        </p:spPr>
      </p:sp>
      <p:pic>
        <p:nvPicPr>
          <p:cNvPr id="16" name="Image 2" descr="preencoded.png"/>
          <p:cNvPicPr>
            <a:picLocks noChangeAspect="1"/>
          </p:cNvPicPr>
          <p:nvPr/>
        </p:nvPicPr>
        <p:blipFill>
          <a:blip r:embed="rId5"/>
          <a:stretch>
            <a:fillRect/>
          </a:stretch>
        </p:blipFill>
        <p:spPr>
          <a:xfrm>
            <a:off x="1036796" y="5858351"/>
            <a:ext cx="174069" cy="217646"/>
          </a:xfrm>
          <a:prstGeom prst="rect">
            <a:avLst/>
          </a:prstGeom>
        </p:spPr>
      </p:pic>
      <p:sp>
        <p:nvSpPr>
          <p:cNvPr id="17" name="Text 12"/>
          <p:cNvSpPr/>
          <p:nvPr/>
        </p:nvSpPr>
        <p:spPr>
          <a:xfrm>
            <a:off x="930354" y="6289596"/>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Granularity</a:t>
            </a:r>
            <a:endParaRPr lang="en-US" sz="1250" dirty="0"/>
          </a:p>
        </p:txBody>
      </p:sp>
      <p:sp>
        <p:nvSpPr>
          <p:cNvPr id="18" name="Text 13"/>
          <p:cNvSpPr/>
          <p:nvPr/>
        </p:nvSpPr>
        <p:spPr>
          <a:xfrm>
            <a:off x="930354" y="6619994"/>
            <a:ext cx="6090999" cy="412909"/>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Lato" pitchFamily="34" charset="0"/>
                <a:ea typeface="Lato" pitchFamily="34" charset="-122"/>
                <a:cs typeface="Lato" pitchFamily="34" charset="-120"/>
              </a:rPr>
              <a:t>Permissions can be assigned on a per-user, per-object basis, allowing for very fine-grained control if needed. This enables precise control over who can access what resources.</a:t>
            </a:r>
            <a:endParaRPr lang="en-US" sz="1000" dirty="0"/>
          </a:p>
        </p:txBody>
      </p:sp>
      <p:sp>
        <p:nvSpPr>
          <p:cNvPr id="19" name="Text 14"/>
          <p:cNvSpPr/>
          <p:nvPr/>
        </p:nvSpPr>
        <p:spPr>
          <a:xfrm>
            <a:off x="7480102" y="1640681"/>
            <a:ext cx="2580084" cy="322421"/>
          </a:xfrm>
          <a:prstGeom prst="rect">
            <a:avLst/>
          </a:prstGeom>
          <a:noFill/>
          <a:ln/>
        </p:spPr>
        <p:txBody>
          <a:bodyPr wrap="none" lIns="0" tIns="0" rIns="0" bIns="0" rtlCol="0" anchor="t"/>
          <a:lstStyle/>
          <a:p>
            <a:pPr marL="0" indent="0" algn="l">
              <a:lnSpc>
                <a:spcPts val="2500"/>
              </a:lnSpc>
              <a:buNone/>
            </a:pPr>
            <a:r>
              <a:rPr lang="en-US" sz="2000" dirty="0">
                <a:solidFill>
                  <a:srgbClr val="312F2B"/>
                </a:solidFill>
                <a:latin typeface="Gelasio" pitchFamily="34" charset="0"/>
                <a:ea typeface="Gelasio" pitchFamily="34" charset="-122"/>
                <a:cs typeface="Gelasio" pitchFamily="34" charset="-120"/>
              </a:rPr>
              <a:t>Disadvantages of DAC</a:t>
            </a:r>
            <a:endParaRPr lang="en-US" sz="2000" dirty="0"/>
          </a:p>
        </p:txBody>
      </p:sp>
      <p:sp>
        <p:nvSpPr>
          <p:cNvPr id="20" name="Shape 15"/>
          <p:cNvSpPr/>
          <p:nvPr/>
        </p:nvSpPr>
        <p:spPr>
          <a:xfrm>
            <a:off x="7480102" y="2108121"/>
            <a:ext cx="6364129" cy="1444585"/>
          </a:xfrm>
          <a:prstGeom prst="roundRect">
            <a:avLst>
              <a:gd name="adj" fmla="val 5064"/>
            </a:avLst>
          </a:prstGeom>
          <a:solidFill>
            <a:srgbClr val="FFFFFF">
              <a:alpha val="95000"/>
            </a:srgbClr>
          </a:solidFill>
          <a:ln w="15240">
            <a:solidFill>
              <a:srgbClr val="D3C1B6"/>
            </a:solidFill>
            <a:prstDash val="solid"/>
          </a:ln>
        </p:spPr>
      </p:sp>
      <p:sp>
        <p:nvSpPr>
          <p:cNvPr id="21" name="Shape 16"/>
          <p:cNvSpPr/>
          <p:nvPr/>
        </p:nvSpPr>
        <p:spPr>
          <a:xfrm>
            <a:off x="7464862" y="2108121"/>
            <a:ext cx="60960" cy="1444585"/>
          </a:xfrm>
          <a:prstGeom prst="roundRect">
            <a:avLst>
              <a:gd name="adj" fmla="val 88884"/>
            </a:avLst>
          </a:prstGeom>
          <a:solidFill>
            <a:srgbClr val="D3C1B6"/>
          </a:solidFill>
          <a:ln/>
        </p:spPr>
      </p:sp>
      <p:sp>
        <p:nvSpPr>
          <p:cNvPr id="22" name="Text 17"/>
          <p:cNvSpPr/>
          <p:nvPr/>
        </p:nvSpPr>
        <p:spPr>
          <a:xfrm>
            <a:off x="7670006" y="2252305"/>
            <a:ext cx="2201942" cy="201454"/>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Susceptibility to Trojan Horses</a:t>
            </a:r>
            <a:endParaRPr lang="en-US" sz="1250" dirty="0"/>
          </a:p>
        </p:txBody>
      </p:sp>
      <p:sp>
        <p:nvSpPr>
          <p:cNvPr id="23" name="Text 18"/>
          <p:cNvSpPr/>
          <p:nvPr/>
        </p:nvSpPr>
        <p:spPr>
          <a:xfrm>
            <a:off x="7670006" y="2582704"/>
            <a:ext cx="6030039" cy="825817"/>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Lato" pitchFamily="34" charset="0"/>
                <a:ea typeface="Lato" pitchFamily="34" charset="-122"/>
                <a:cs typeface="Lato" pitchFamily="34" charset="-120"/>
              </a:rPr>
              <a:t>DAC's major vulnerability lies in its handling of program execution. If a user runs a program (a Trojan horse) that has malicious code, that program inherits all of the user's permissions. It can then perform unauthorized actions on behalf of the user, such as deleting files or copying sensitive data to an unauthorized location, without the user's knowledge.</a:t>
            </a:r>
            <a:endParaRPr lang="en-US" sz="1000" dirty="0"/>
          </a:p>
        </p:txBody>
      </p:sp>
      <p:sp>
        <p:nvSpPr>
          <p:cNvPr id="24" name="Shape 19"/>
          <p:cNvSpPr/>
          <p:nvPr/>
        </p:nvSpPr>
        <p:spPr>
          <a:xfrm>
            <a:off x="7480102" y="3681651"/>
            <a:ext cx="6364129" cy="1031677"/>
          </a:xfrm>
          <a:prstGeom prst="roundRect">
            <a:avLst>
              <a:gd name="adj" fmla="val 7091"/>
            </a:avLst>
          </a:prstGeom>
          <a:solidFill>
            <a:srgbClr val="FFFFFF">
              <a:alpha val="95000"/>
            </a:srgbClr>
          </a:solidFill>
          <a:ln w="15240">
            <a:solidFill>
              <a:srgbClr val="D3C1B6"/>
            </a:solidFill>
            <a:prstDash val="solid"/>
          </a:ln>
        </p:spPr>
      </p:sp>
      <p:sp>
        <p:nvSpPr>
          <p:cNvPr id="25" name="Shape 20"/>
          <p:cNvSpPr/>
          <p:nvPr/>
        </p:nvSpPr>
        <p:spPr>
          <a:xfrm>
            <a:off x="7464862" y="3681651"/>
            <a:ext cx="60960" cy="1031677"/>
          </a:xfrm>
          <a:prstGeom prst="roundRect">
            <a:avLst>
              <a:gd name="adj" fmla="val 88884"/>
            </a:avLst>
          </a:prstGeom>
          <a:solidFill>
            <a:srgbClr val="D3C1B6"/>
          </a:solidFill>
          <a:ln/>
        </p:spPr>
      </p:sp>
      <p:sp>
        <p:nvSpPr>
          <p:cNvPr id="26" name="Text 21"/>
          <p:cNvSpPr/>
          <p:nvPr/>
        </p:nvSpPr>
        <p:spPr>
          <a:xfrm>
            <a:off x="7670006" y="3825835"/>
            <a:ext cx="1949529" cy="201454"/>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Lack of Centralized Control</a:t>
            </a:r>
            <a:endParaRPr lang="en-US" sz="1250" dirty="0"/>
          </a:p>
        </p:txBody>
      </p:sp>
      <p:sp>
        <p:nvSpPr>
          <p:cNvPr id="27" name="Text 22"/>
          <p:cNvSpPr/>
          <p:nvPr/>
        </p:nvSpPr>
        <p:spPr>
          <a:xfrm>
            <a:off x="7670006" y="4156234"/>
            <a:ext cx="6030039" cy="412909"/>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Lato" pitchFamily="34" charset="0"/>
                <a:ea typeface="Lato" pitchFamily="34" charset="-122"/>
                <a:cs typeface="Lato" pitchFamily="34" charset="-120"/>
              </a:rPr>
              <a:t>Because permissions are managed by individual users, it is difficult to enforce a consistent, organization-wide security policy. This can lead to security gaps and inconsistent permission settings across the system.</a:t>
            </a:r>
            <a:endParaRPr lang="en-US" sz="1000" dirty="0"/>
          </a:p>
        </p:txBody>
      </p:sp>
      <p:sp>
        <p:nvSpPr>
          <p:cNvPr id="28" name="Shape 23"/>
          <p:cNvSpPr/>
          <p:nvPr/>
        </p:nvSpPr>
        <p:spPr>
          <a:xfrm>
            <a:off x="7480102" y="4842272"/>
            <a:ext cx="6364129" cy="1238131"/>
          </a:xfrm>
          <a:prstGeom prst="roundRect">
            <a:avLst>
              <a:gd name="adj" fmla="val 5908"/>
            </a:avLst>
          </a:prstGeom>
          <a:solidFill>
            <a:srgbClr val="FFFFFF">
              <a:alpha val="95000"/>
            </a:srgbClr>
          </a:solidFill>
          <a:ln w="15240">
            <a:solidFill>
              <a:srgbClr val="D3C1B6"/>
            </a:solidFill>
            <a:prstDash val="solid"/>
          </a:ln>
        </p:spPr>
      </p:sp>
      <p:sp>
        <p:nvSpPr>
          <p:cNvPr id="29" name="Shape 24"/>
          <p:cNvSpPr/>
          <p:nvPr/>
        </p:nvSpPr>
        <p:spPr>
          <a:xfrm>
            <a:off x="7464862" y="4842272"/>
            <a:ext cx="60960" cy="1238131"/>
          </a:xfrm>
          <a:prstGeom prst="roundRect">
            <a:avLst>
              <a:gd name="adj" fmla="val 88884"/>
            </a:avLst>
          </a:prstGeom>
          <a:solidFill>
            <a:srgbClr val="D3C1B6"/>
          </a:solidFill>
          <a:ln/>
        </p:spPr>
      </p:sp>
      <p:sp>
        <p:nvSpPr>
          <p:cNvPr id="30" name="Text 25"/>
          <p:cNvSpPr/>
          <p:nvPr/>
        </p:nvSpPr>
        <p:spPr>
          <a:xfrm>
            <a:off x="7670006" y="4986457"/>
            <a:ext cx="1794391" cy="201454"/>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Administrative Overhead</a:t>
            </a:r>
            <a:endParaRPr lang="en-US" sz="1250" dirty="0"/>
          </a:p>
        </p:txBody>
      </p:sp>
      <p:sp>
        <p:nvSpPr>
          <p:cNvPr id="31" name="Text 26"/>
          <p:cNvSpPr/>
          <p:nvPr/>
        </p:nvSpPr>
        <p:spPr>
          <a:xfrm>
            <a:off x="7670006" y="5316855"/>
            <a:ext cx="6030039" cy="619363"/>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Lato" pitchFamily="34" charset="0"/>
                <a:ea typeface="Lato" pitchFamily="34" charset="-122"/>
                <a:cs typeface="Lato" pitchFamily="34" charset="-120"/>
              </a:rPr>
              <a:t>In a large system, tracking and managing permissions can become incredibly complex. Revoking access for a user who has left the organization can be a tedious and error-prone process, as an administrator must check the ACL of every object they might have had access to.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79872"/>
            <a:ext cx="5366861" cy="434102"/>
          </a:xfrm>
          <a:prstGeom prst="rect">
            <a:avLst/>
          </a:prstGeom>
          <a:noFill/>
          <a:ln/>
        </p:spPr>
        <p:txBody>
          <a:bodyPr wrap="none" lIns="0" tIns="0" rIns="0" bIns="0" rtlCol="0" anchor="t"/>
          <a:lstStyle/>
          <a:p>
            <a:pPr marL="0" indent="0" algn="l">
              <a:lnSpc>
                <a:spcPts val="3400"/>
              </a:lnSpc>
              <a:buNone/>
            </a:pPr>
            <a:r>
              <a:rPr lang="en-US" sz="2700" dirty="0">
                <a:solidFill>
                  <a:srgbClr val="312F2B"/>
                </a:solidFill>
                <a:latin typeface="Gelasio" pitchFamily="34" charset="0"/>
                <a:ea typeface="Gelasio" pitchFamily="34" charset="-122"/>
                <a:cs typeface="Gelasio" pitchFamily="34" charset="-120"/>
              </a:rPr>
              <a:t>Role-Based Access Control (RBAC)</a:t>
            </a:r>
            <a:endParaRPr lang="en-US" sz="2700" dirty="0"/>
          </a:p>
        </p:txBody>
      </p:sp>
      <p:sp>
        <p:nvSpPr>
          <p:cNvPr id="3" name="Text 1"/>
          <p:cNvSpPr/>
          <p:nvPr/>
        </p:nvSpPr>
        <p:spPr>
          <a:xfrm>
            <a:off x="793790" y="1591747"/>
            <a:ext cx="13042821" cy="444579"/>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latin typeface="Lato" pitchFamily="34" charset="0"/>
                <a:ea typeface="Lato" pitchFamily="34" charset="-122"/>
                <a:cs typeface="Lato" pitchFamily="34" charset="-120"/>
              </a:rPr>
              <a:t>Role-Based Access Control is a policy-neutral access control model that has gained widespread acceptance as a best practice for managing permissions in medium-to-large-scale enterprises. In RBAC, access decisions are based on the roles that individual users have as part of an organization.</a:t>
            </a:r>
            <a:endParaRPr lang="en-US" sz="1050" dirty="0"/>
          </a:p>
        </p:txBody>
      </p:sp>
      <p:sp>
        <p:nvSpPr>
          <p:cNvPr id="4" name="Text 2"/>
          <p:cNvSpPr/>
          <p:nvPr/>
        </p:nvSpPr>
        <p:spPr>
          <a:xfrm>
            <a:off x="793790" y="2244685"/>
            <a:ext cx="4464963" cy="347305"/>
          </a:xfrm>
          <a:prstGeom prst="rect">
            <a:avLst/>
          </a:prstGeom>
          <a:noFill/>
          <a:ln/>
        </p:spPr>
        <p:txBody>
          <a:bodyPr wrap="none" lIns="0" tIns="0" rIns="0" bIns="0" rtlCol="0" anchor="t"/>
          <a:lstStyle/>
          <a:p>
            <a:pPr marL="0" indent="0" algn="l">
              <a:lnSpc>
                <a:spcPts val="2700"/>
              </a:lnSpc>
              <a:buNone/>
            </a:pPr>
            <a:r>
              <a:rPr lang="en-US" sz="2150" dirty="0">
                <a:solidFill>
                  <a:srgbClr val="312F2B"/>
                </a:solidFill>
                <a:latin typeface="Gelasio" pitchFamily="34" charset="0"/>
                <a:ea typeface="Gelasio" pitchFamily="34" charset="-122"/>
                <a:cs typeface="Gelasio" pitchFamily="34" charset="-120"/>
              </a:rPr>
              <a:t>Core Principles and Implementation</a:t>
            </a:r>
            <a:endParaRPr lang="en-US" sz="2150" dirty="0"/>
          </a:p>
        </p:txBody>
      </p:sp>
      <p:sp>
        <p:nvSpPr>
          <p:cNvPr id="5" name="Text 3"/>
          <p:cNvSpPr/>
          <p:nvPr/>
        </p:nvSpPr>
        <p:spPr>
          <a:xfrm>
            <a:off x="793790" y="2800350"/>
            <a:ext cx="13042821" cy="444579"/>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latin typeface="Lato" pitchFamily="34" charset="0"/>
                <a:ea typeface="Lato" pitchFamily="34" charset="-122"/>
                <a:cs typeface="Lato" pitchFamily="34" charset="-120"/>
              </a:rPr>
              <a:t>The central idea of RBAC is to introduce a level of indirection between users and permissions. Rather than assigning permissions directly to users, permissions are assigned to roles, and users are then assigned to roles. A role is a semantic construct that represents a job function or title within an organization (e.g., 'Accountant', 'HR Manager', 'Database Administrator').</a:t>
            </a:r>
            <a:endParaRPr lang="en-US" sz="1050" dirty="0"/>
          </a:p>
        </p:txBody>
      </p:sp>
      <p:sp>
        <p:nvSpPr>
          <p:cNvPr id="6" name="Shape 4"/>
          <p:cNvSpPr/>
          <p:nvPr/>
        </p:nvSpPr>
        <p:spPr>
          <a:xfrm>
            <a:off x="793790" y="4701778"/>
            <a:ext cx="13042821" cy="15240"/>
          </a:xfrm>
          <a:prstGeom prst="roundRect">
            <a:avLst>
              <a:gd name="adj" fmla="val 382883"/>
            </a:avLst>
          </a:prstGeom>
          <a:solidFill>
            <a:srgbClr val="CECEC9"/>
          </a:solidFill>
          <a:ln/>
        </p:spPr>
      </p:sp>
      <p:sp>
        <p:nvSpPr>
          <p:cNvPr id="7" name="Shape 5"/>
          <p:cNvSpPr/>
          <p:nvPr/>
        </p:nvSpPr>
        <p:spPr>
          <a:xfrm>
            <a:off x="4003358" y="4285119"/>
            <a:ext cx="15240" cy="416719"/>
          </a:xfrm>
          <a:prstGeom prst="roundRect">
            <a:avLst>
              <a:gd name="adj" fmla="val 382883"/>
            </a:avLst>
          </a:prstGeom>
          <a:solidFill>
            <a:srgbClr val="CECEC9"/>
          </a:solidFill>
          <a:ln/>
        </p:spPr>
      </p:sp>
      <p:sp>
        <p:nvSpPr>
          <p:cNvPr id="8" name="Shape 6"/>
          <p:cNvSpPr/>
          <p:nvPr/>
        </p:nvSpPr>
        <p:spPr>
          <a:xfrm>
            <a:off x="3854768" y="4545509"/>
            <a:ext cx="312539" cy="312539"/>
          </a:xfrm>
          <a:prstGeom prst="roundRect">
            <a:avLst>
              <a:gd name="adj" fmla="val 18670"/>
            </a:avLst>
          </a:prstGeom>
          <a:solidFill>
            <a:srgbClr val="E8E8E3"/>
          </a:solidFill>
          <a:ln w="7620">
            <a:solidFill>
              <a:srgbClr val="CECEC9"/>
            </a:solidFill>
            <a:prstDash val="solid"/>
          </a:ln>
        </p:spPr>
      </p:sp>
      <p:sp>
        <p:nvSpPr>
          <p:cNvPr id="9" name="Text 7"/>
          <p:cNvSpPr/>
          <p:nvPr/>
        </p:nvSpPr>
        <p:spPr>
          <a:xfrm>
            <a:off x="3906798" y="4571524"/>
            <a:ext cx="208359" cy="260390"/>
          </a:xfrm>
          <a:prstGeom prst="rect">
            <a:avLst/>
          </a:prstGeom>
          <a:noFill/>
          <a:ln/>
        </p:spPr>
        <p:txBody>
          <a:bodyPr wrap="none" lIns="0" tIns="0" rIns="0" bIns="0" rtlCol="0" anchor="t"/>
          <a:lstStyle/>
          <a:p>
            <a:pPr marL="0" indent="0" algn="ctr">
              <a:lnSpc>
                <a:spcPts val="1600"/>
              </a:lnSpc>
              <a:buNone/>
            </a:pPr>
            <a:r>
              <a:rPr lang="en-US" sz="1600" dirty="0">
                <a:solidFill>
                  <a:srgbClr val="272525"/>
                </a:solidFill>
                <a:latin typeface="Gelasio" pitchFamily="34" charset="0"/>
                <a:ea typeface="Gelasio" pitchFamily="34" charset="-122"/>
                <a:cs typeface="Gelasio" pitchFamily="34" charset="-120"/>
              </a:rPr>
              <a:t>1</a:t>
            </a:r>
            <a:endParaRPr lang="en-US" sz="1600" dirty="0"/>
          </a:p>
        </p:txBody>
      </p:sp>
      <p:sp>
        <p:nvSpPr>
          <p:cNvPr id="10" name="Text 8"/>
          <p:cNvSpPr/>
          <p:nvPr/>
        </p:nvSpPr>
        <p:spPr>
          <a:xfrm>
            <a:off x="2701290" y="3401139"/>
            <a:ext cx="2619494" cy="217051"/>
          </a:xfrm>
          <a:prstGeom prst="rect">
            <a:avLst/>
          </a:prstGeom>
          <a:noFill/>
          <a:ln/>
        </p:spPr>
        <p:txBody>
          <a:bodyPr wrap="none" lIns="0" tIns="0" rIns="0" bIns="0" rtlCol="0" anchor="t"/>
          <a:lstStyle/>
          <a:p>
            <a:pPr marL="0" indent="0" algn="ctr">
              <a:lnSpc>
                <a:spcPts val="1700"/>
              </a:lnSpc>
              <a:buNone/>
            </a:pPr>
            <a:r>
              <a:rPr lang="en-US" sz="1350" dirty="0">
                <a:solidFill>
                  <a:srgbClr val="272525"/>
                </a:solidFill>
                <a:latin typeface="Gelasio" pitchFamily="34" charset="0"/>
                <a:ea typeface="Gelasio" pitchFamily="34" charset="-122"/>
                <a:cs typeface="Gelasio" pitchFamily="34" charset="-120"/>
              </a:rPr>
              <a:t>Permission-Role Assignment (PA)</a:t>
            </a:r>
            <a:endParaRPr lang="en-US" sz="1350" dirty="0"/>
          </a:p>
        </p:txBody>
      </p:sp>
      <p:sp>
        <p:nvSpPr>
          <p:cNvPr id="11" name="Text 9"/>
          <p:cNvSpPr/>
          <p:nvPr/>
        </p:nvSpPr>
        <p:spPr>
          <a:xfrm>
            <a:off x="932617" y="3701534"/>
            <a:ext cx="6156960" cy="444579"/>
          </a:xfrm>
          <a:prstGeom prst="rect">
            <a:avLst/>
          </a:prstGeom>
          <a:noFill/>
          <a:ln/>
        </p:spPr>
        <p:txBody>
          <a:bodyPr wrap="square" lIns="0" tIns="0" rIns="0" bIns="0" rtlCol="0" anchor="t"/>
          <a:lstStyle/>
          <a:p>
            <a:pPr marL="0" indent="0" algn="ctr">
              <a:lnSpc>
                <a:spcPts val="1750"/>
              </a:lnSpc>
              <a:buNone/>
            </a:pPr>
            <a:r>
              <a:rPr lang="en-US" sz="1050" dirty="0">
                <a:solidFill>
                  <a:srgbClr val="272525"/>
                </a:solidFill>
                <a:latin typeface="Lato" pitchFamily="34" charset="0"/>
                <a:ea typeface="Lato" pitchFamily="34" charset="-122"/>
                <a:cs typeface="Lato" pitchFamily="34" charset="-120"/>
              </a:rPr>
              <a:t>Specific system permissions (e.g., 'create-invoice', 'view-salary-data', 'reboot-server') are assigned to the relevant roles based on job function requirements</a:t>
            </a:r>
            <a:endParaRPr lang="en-US" sz="1050" dirty="0"/>
          </a:p>
        </p:txBody>
      </p:sp>
      <p:sp>
        <p:nvSpPr>
          <p:cNvPr id="12" name="Shape 10"/>
          <p:cNvSpPr/>
          <p:nvPr/>
        </p:nvSpPr>
        <p:spPr>
          <a:xfrm>
            <a:off x="7307461" y="4701719"/>
            <a:ext cx="15240" cy="416719"/>
          </a:xfrm>
          <a:prstGeom prst="roundRect">
            <a:avLst>
              <a:gd name="adj" fmla="val 382883"/>
            </a:avLst>
          </a:prstGeom>
          <a:solidFill>
            <a:srgbClr val="CECEC9"/>
          </a:solidFill>
          <a:ln/>
        </p:spPr>
      </p:sp>
      <p:sp>
        <p:nvSpPr>
          <p:cNvPr id="13" name="Shape 11"/>
          <p:cNvSpPr/>
          <p:nvPr/>
        </p:nvSpPr>
        <p:spPr>
          <a:xfrm>
            <a:off x="7158871" y="4545509"/>
            <a:ext cx="312539" cy="312539"/>
          </a:xfrm>
          <a:prstGeom prst="roundRect">
            <a:avLst>
              <a:gd name="adj" fmla="val 18670"/>
            </a:avLst>
          </a:prstGeom>
          <a:solidFill>
            <a:srgbClr val="E8E8E3"/>
          </a:solidFill>
          <a:ln w="7620">
            <a:solidFill>
              <a:srgbClr val="CECEC9"/>
            </a:solidFill>
            <a:prstDash val="solid"/>
          </a:ln>
        </p:spPr>
      </p:sp>
      <p:sp>
        <p:nvSpPr>
          <p:cNvPr id="14" name="Text 12"/>
          <p:cNvSpPr/>
          <p:nvPr/>
        </p:nvSpPr>
        <p:spPr>
          <a:xfrm>
            <a:off x="7210901" y="4571524"/>
            <a:ext cx="208359" cy="260390"/>
          </a:xfrm>
          <a:prstGeom prst="rect">
            <a:avLst/>
          </a:prstGeom>
          <a:noFill/>
          <a:ln/>
        </p:spPr>
        <p:txBody>
          <a:bodyPr wrap="none" lIns="0" tIns="0" rIns="0" bIns="0" rtlCol="0" anchor="t"/>
          <a:lstStyle/>
          <a:p>
            <a:pPr marL="0" indent="0" algn="ctr">
              <a:lnSpc>
                <a:spcPts val="1600"/>
              </a:lnSpc>
              <a:buNone/>
            </a:pPr>
            <a:r>
              <a:rPr lang="en-US" sz="1600" dirty="0">
                <a:solidFill>
                  <a:srgbClr val="272525"/>
                </a:solidFill>
                <a:latin typeface="Gelasio" pitchFamily="34" charset="0"/>
                <a:ea typeface="Gelasio" pitchFamily="34" charset="-122"/>
                <a:cs typeface="Gelasio" pitchFamily="34" charset="-120"/>
              </a:rPr>
              <a:t>2</a:t>
            </a:r>
            <a:endParaRPr lang="en-US" sz="1600" dirty="0"/>
          </a:p>
        </p:txBody>
      </p:sp>
      <p:sp>
        <p:nvSpPr>
          <p:cNvPr id="15" name="Text 13"/>
          <p:cNvSpPr/>
          <p:nvPr/>
        </p:nvSpPr>
        <p:spPr>
          <a:xfrm>
            <a:off x="6242804" y="5257443"/>
            <a:ext cx="2144673" cy="217051"/>
          </a:xfrm>
          <a:prstGeom prst="rect">
            <a:avLst/>
          </a:prstGeom>
          <a:noFill/>
          <a:ln/>
        </p:spPr>
        <p:txBody>
          <a:bodyPr wrap="none" lIns="0" tIns="0" rIns="0" bIns="0" rtlCol="0" anchor="t"/>
          <a:lstStyle/>
          <a:p>
            <a:pPr marL="0" indent="0" algn="ctr">
              <a:lnSpc>
                <a:spcPts val="1700"/>
              </a:lnSpc>
              <a:buNone/>
            </a:pPr>
            <a:r>
              <a:rPr lang="en-US" sz="1350" dirty="0">
                <a:solidFill>
                  <a:srgbClr val="272525"/>
                </a:solidFill>
                <a:latin typeface="Gelasio" pitchFamily="34" charset="0"/>
                <a:ea typeface="Gelasio" pitchFamily="34" charset="-122"/>
                <a:cs typeface="Gelasio" pitchFamily="34" charset="-120"/>
              </a:rPr>
              <a:t>User-Role Assignment (UA)</a:t>
            </a:r>
            <a:endParaRPr lang="en-US" sz="1350" dirty="0"/>
          </a:p>
        </p:txBody>
      </p:sp>
      <p:sp>
        <p:nvSpPr>
          <p:cNvPr id="16" name="Text 14"/>
          <p:cNvSpPr/>
          <p:nvPr/>
        </p:nvSpPr>
        <p:spPr>
          <a:xfrm>
            <a:off x="4236720" y="5557838"/>
            <a:ext cx="6156960" cy="222290"/>
          </a:xfrm>
          <a:prstGeom prst="rect">
            <a:avLst/>
          </a:prstGeom>
          <a:noFill/>
          <a:ln/>
        </p:spPr>
        <p:txBody>
          <a:bodyPr wrap="none" lIns="0" tIns="0" rIns="0" bIns="0" rtlCol="0" anchor="t"/>
          <a:lstStyle/>
          <a:p>
            <a:pPr marL="0" indent="0" algn="ctr">
              <a:lnSpc>
                <a:spcPts val="1750"/>
              </a:lnSpc>
              <a:buNone/>
            </a:pPr>
            <a:r>
              <a:rPr lang="en-US" sz="1050" dirty="0">
                <a:solidFill>
                  <a:srgbClr val="272525"/>
                </a:solidFill>
                <a:latin typeface="Lato" pitchFamily="34" charset="0"/>
                <a:ea typeface="Lato" pitchFamily="34" charset="-122"/>
                <a:cs typeface="Lato" pitchFamily="34" charset="-120"/>
              </a:rPr>
              <a:t>Users are assigned to one or more roles based on their job responsibilities and organizational position</a:t>
            </a:r>
            <a:endParaRPr lang="en-US" sz="1050" dirty="0"/>
          </a:p>
        </p:txBody>
      </p:sp>
      <p:sp>
        <p:nvSpPr>
          <p:cNvPr id="17" name="Shape 15"/>
          <p:cNvSpPr/>
          <p:nvPr/>
        </p:nvSpPr>
        <p:spPr>
          <a:xfrm>
            <a:off x="10611564" y="4285119"/>
            <a:ext cx="15240" cy="416719"/>
          </a:xfrm>
          <a:prstGeom prst="roundRect">
            <a:avLst>
              <a:gd name="adj" fmla="val 382883"/>
            </a:avLst>
          </a:prstGeom>
          <a:solidFill>
            <a:srgbClr val="CECEC9"/>
          </a:solidFill>
          <a:ln/>
        </p:spPr>
      </p:sp>
      <p:sp>
        <p:nvSpPr>
          <p:cNvPr id="18" name="Shape 16"/>
          <p:cNvSpPr/>
          <p:nvPr/>
        </p:nvSpPr>
        <p:spPr>
          <a:xfrm>
            <a:off x="10462974" y="4545509"/>
            <a:ext cx="312539" cy="312539"/>
          </a:xfrm>
          <a:prstGeom prst="roundRect">
            <a:avLst>
              <a:gd name="adj" fmla="val 18670"/>
            </a:avLst>
          </a:prstGeom>
          <a:solidFill>
            <a:srgbClr val="E8E8E3"/>
          </a:solidFill>
          <a:ln w="7620">
            <a:solidFill>
              <a:srgbClr val="CECEC9"/>
            </a:solidFill>
            <a:prstDash val="solid"/>
          </a:ln>
        </p:spPr>
      </p:sp>
      <p:sp>
        <p:nvSpPr>
          <p:cNvPr id="19" name="Text 17"/>
          <p:cNvSpPr/>
          <p:nvPr/>
        </p:nvSpPr>
        <p:spPr>
          <a:xfrm>
            <a:off x="10515005" y="4571524"/>
            <a:ext cx="208359" cy="260390"/>
          </a:xfrm>
          <a:prstGeom prst="rect">
            <a:avLst/>
          </a:prstGeom>
          <a:noFill/>
          <a:ln/>
        </p:spPr>
        <p:txBody>
          <a:bodyPr wrap="none" lIns="0" tIns="0" rIns="0" bIns="0" rtlCol="0" anchor="t"/>
          <a:lstStyle/>
          <a:p>
            <a:pPr marL="0" indent="0" algn="ctr">
              <a:lnSpc>
                <a:spcPts val="1600"/>
              </a:lnSpc>
              <a:buNone/>
            </a:pPr>
            <a:r>
              <a:rPr lang="en-US" sz="1600" dirty="0">
                <a:solidFill>
                  <a:srgbClr val="272525"/>
                </a:solidFill>
                <a:latin typeface="Gelasio" pitchFamily="34" charset="0"/>
                <a:ea typeface="Gelasio" pitchFamily="34" charset="-122"/>
                <a:cs typeface="Gelasio" pitchFamily="34" charset="-120"/>
              </a:rPr>
              <a:t>3</a:t>
            </a:r>
            <a:endParaRPr lang="en-US" sz="1600" dirty="0"/>
          </a:p>
        </p:txBody>
      </p:sp>
      <p:sp>
        <p:nvSpPr>
          <p:cNvPr id="20" name="Text 18"/>
          <p:cNvSpPr/>
          <p:nvPr/>
        </p:nvSpPr>
        <p:spPr>
          <a:xfrm>
            <a:off x="9750981" y="3401139"/>
            <a:ext cx="1736646" cy="217051"/>
          </a:xfrm>
          <a:prstGeom prst="rect">
            <a:avLst/>
          </a:prstGeom>
          <a:noFill/>
          <a:ln/>
        </p:spPr>
        <p:txBody>
          <a:bodyPr wrap="none" lIns="0" tIns="0" rIns="0" bIns="0" rtlCol="0" anchor="t"/>
          <a:lstStyle/>
          <a:p>
            <a:pPr marL="0" indent="0" algn="ctr">
              <a:lnSpc>
                <a:spcPts val="1700"/>
              </a:lnSpc>
              <a:buNone/>
            </a:pPr>
            <a:r>
              <a:rPr lang="en-US" sz="1350" dirty="0">
                <a:solidFill>
                  <a:srgbClr val="272525"/>
                </a:solidFill>
                <a:latin typeface="Gelasio" pitchFamily="34" charset="0"/>
                <a:ea typeface="Gelasio" pitchFamily="34" charset="-122"/>
                <a:cs typeface="Gelasio" pitchFamily="34" charset="-120"/>
              </a:rPr>
              <a:t>Session Management</a:t>
            </a:r>
            <a:endParaRPr lang="en-US" sz="1350" dirty="0"/>
          </a:p>
        </p:txBody>
      </p:sp>
      <p:sp>
        <p:nvSpPr>
          <p:cNvPr id="21" name="Text 19"/>
          <p:cNvSpPr/>
          <p:nvPr/>
        </p:nvSpPr>
        <p:spPr>
          <a:xfrm>
            <a:off x="7540823" y="3701534"/>
            <a:ext cx="6156960" cy="444579"/>
          </a:xfrm>
          <a:prstGeom prst="rect">
            <a:avLst/>
          </a:prstGeom>
          <a:noFill/>
          <a:ln/>
        </p:spPr>
        <p:txBody>
          <a:bodyPr wrap="square" lIns="0" tIns="0" rIns="0" bIns="0" rtlCol="0" anchor="t"/>
          <a:lstStyle/>
          <a:p>
            <a:pPr marL="0" indent="0" algn="ctr">
              <a:lnSpc>
                <a:spcPts val="1750"/>
              </a:lnSpc>
              <a:buNone/>
            </a:pPr>
            <a:r>
              <a:rPr lang="en-US" sz="1050" dirty="0">
                <a:solidFill>
                  <a:srgbClr val="272525"/>
                </a:solidFill>
                <a:latin typeface="Lato" pitchFamily="34" charset="0"/>
                <a:ea typeface="Lato" pitchFamily="34" charset="-122"/>
                <a:cs typeface="Lato" pitchFamily="34" charset="-120"/>
              </a:rPr>
              <a:t>When a user logs in, they create a session and can choose to activate a subset of their assigned roles, adhering to the principle of least privilege</a:t>
            </a:r>
            <a:endParaRPr lang="en-US" sz="1050" dirty="0"/>
          </a:p>
        </p:txBody>
      </p:sp>
      <p:sp>
        <p:nvSpPr>
          <p:cNvPr id="22" name="Text 20"/>
          <p:cNvSpPr/>
          <p:nvPr/>
        </p:nvSpPr>
        <p:spPr>
          <a:xfrm>
            <a:off x="793790" y="5936337"/>
            <a:ext cx="13042821" cy="666869"/>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latin typeface="Lato" pitchFamily="34" charset="0"/>
                <a:ea typeface="Lato" pitchFamily="34" charset="-122"/>
                <a:cs typeface="Lato" pitchFamily="34" charset="-120"/>
              </a:rPr>
              <a:t>This structure dramatically simplifies security administration. When a new employee joins, the administrator simply assigns them the appropriate role(s). When an employee's job changes, their role assignment is updated, and their permissions change automatically. When an employee leaves, their role assignments are simply revoked, effectively and cleanly severing all access. This systematic approach reduces administrative burden while improving security consistency across the organization.</a:t>
            </a:r>
            <a:endParaRPr lang="en-US" sz="1050" dirty="0"/>
          </a:p>
        </p:txBody>
      </p:sp>
      <p:sp>
        <p:nvSpPr>
          <p:cNvPr id="23" name="Shape 21"/>
          <p:cNvSpPr/>
          <p:nvPr/>
        </p:nvSpPr>
        <p:spPr>
          <a:xfrm>
            <a:off x="793790" y="6759416"/>
            <a:ext cx="13042821" cy="590193"/>
          </a:xfrm>
          <a:prstGeom prst="roundRect">
            <a:avLst>
              <a:gd name="adj" fmla="val 9887"/>
            </a:avLst>
          </a:prstGeom>
          <a:solidFill>
            <a:srgbClr val="DCDCD5"/>
          </a:solidFill>
          <a:ln/>
        </p:spPr>
      </p:sp>
      <p:pic>
        <p:nvPicPr>
          <p:cNvPr id="24" name="Image 0" descr="preencoded.png"/>
          <p:cNvPicPr>
            <a:picLocks noChangeAspect="1"/>
          </p:cNvPicPr>
          <p:nvPr/>
        </p:nvPicPr>
        <p:blipFill>
          <a:blip r:embed="rId3"/>
          <a:stretch>
            <a:fillRect/>
          </a:stretch>
        </p:blipFill>
        <p:spPr>
          <a:xfrm>
            <a:off x="932617" y="6971348"/>
            <a:ext cx="173593" cy="138827"/>
          </a:xfrm>
          <a:prstGeom prst="rect">
            <a:avLst/>
          </a:prstGeom>
        </p:spPr>
      </p:pic>
      <p:sp>
        <p:nvSpPr>
          <p:cNvPr id="25" name="Text 22"/>
          <p:cNvSpPr/>
          <p:nvPr/>
        </p:nvSpPr>
        <p:spPr>
          <a:xfrm>
            <a:off x="1245037" y="6932890"/>
            <a:ext cx="12452747" cy="222290"/>
          </a:xfrm>
          <a:prstGeom prst="rect">
            <a:avLst/>
          </a:prstGeom>
          <a:noFill/>
          <a:ln/>
        </p:spPr>
        <p:txBody>
          <a:bodyPr wrap="none" lIns="0" tIns="0" rIns="0" bIns="0" rtlCol="0" anchor="t"/>
          <a:lstStyle/>
          <a:p>
            <a:pPr marL="0" indent="0" algn="l">
              <a:lnSpc>
                <a:spcPts val="1750"/>
              </a:lnSpc>
              <a:buNone/>
            </a:pPr>
            <a:r>
              <a:rPr lang="en-US" sz="1050" dirty="0">
                <a:solidFill>
                  <a:srgbClr val="000000"/>
                </a:solidFill>
                <a:latin typeface="Lato" pitchFamily="34" charset="0"/>
                <a:ea typeface="Lato" pitchFamily="34" charset="-122"/>
                <a:cs typeface="Lato" pitchFamily="34" charset="-120"/>
              </a:rPr>
              <a:t>The principle of least privilege is naturally enforced in RBAC by defining roles with only the minimal set of permissions required for specific job functions.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43307"/>
            <a:ext cx="5870019" cy="434102"/>
          </a:xfrm>
          <a:prstGeom prst="rect">
            <a:avLst/>
          </a:prstGeom>
          <a:noFill/>
          <a:ln/>
        </p:spPr>
        <p:txBody>
          <a:bodyPr wrap="none" lIns="0" tIns="0" rIns="0" bIns="0" rtlCol="0" anchor="t"/>
          <a:lstStyle/>
          <a:p>
            <a:pPr marL="0" indent="0" algn="l">
              <a:lnSpc>
                <a:spcPts val="3400"/>
              </a:lnSpc>
              <a:buNone/>
            </a:pPr>
            <a:r>
              <a:rPr lang="en-US" sz="2700" dirty="0">
                <a:solidFill>
                  <a:srgbClr val="312F2B"/>
                </a:solidFill>
                <a:latin typeface="Gelasio" pitchFamily="34" charset="0"/>
                <a:ea typeface="Gelasio" pitchFamily="34" charset="-122"/>
                <a:cs typeface="Gelasio" pitchFamily="34" charset="-120"/>
              </a:rPr>
              <a:t>RBAC: Advantages and Disadvantages</a:t>
            </a:r>
            <a:endParaRPr lang="en-US" sz="2700" dirty="0"/>
          </a:p>
        </p:txBody>
      </p:sp>
      <p:sp>
        <p:nvSpPr>
          <p:cNvPr id="3" name="Text 1"/>
          <p:cNvSpPr/>
          <p:nvPr/>
        </p:nvSpPr>
        <p:spPr>
          <a:xfrm>
            <a:off x="793790" y="1385768"/>
            <a:ext cx="2778562" cy="347305"/>
          </a:xfrm>
          <a:prstGeom prst="rect">
            <a:avLst/>
          </a:prstGeom>
          <a:noFill/>
          <a:ln/>
        </p:spPr>
        <p:txBody>
          <a:bodyPr wrap="none" lIns="0" tIns="0" rIns="0" bIns="0" rtlCol="0" anchor="t"/>
          <a:lstStyle/>
          <a:p>
            <a:pPr marL="0" indent="0" algn="l">
              <a:lnSpc>
                <a:spcPts val="2700"/>
              </a:lnSpc>
              <a:buNone/>
            </a:pPr>
            <a:r>
              <a:rPr lang="en-US" sz="2150" dirty="0">
                <a:solidFill>
                  <a:srgbClr val="312F2B"/>
                </a:solidFill>
                <a:latin typeface="Gelasio" pitchFamily="34" charset="0"/>
                <a:ea typeface="Gelasio" pitchFamily="34" charset="-122"/>
                <a:cs typeface="Gelasio" pitchFamily="34" charset="-120"/>
              </a:rPr>
              <a:t>Advantages of RBAC</a:t>
            </a:r>
            <a:endParaRPr lang="en-US" sz="2150" dirty="0"/>
          </a:p>
        </p:txBody>
      </p:sp>
      <p:sp>
        <p:nvSpPr>
          <p:cNvPr id="4" name="Shape 2"/>
          <p:cNvSpPr/>
          <p:nvPr/>
        </p:nvSpPr>
        <p:spPr>
          <a:xfrm>
            <a:off x="793790" y="1941433"/>
            <a:ext cx="6451997" cy="1260158"/>
          </a:xfrm>
          <a:prstGeom prst="roundRect">
            <a:avLst>
              <a:gd name="adj" fmla="val 4630"/>
            </a:avLst>
          </a:prstGeom>
          <a:solidFill>
            <a:srgbClr val="E5E5E0"/>
          </a:solidFill>
          <a:ln w="7620">
            <a:solidFill>
              <a:srgbClr val="CBCBC6"/>
            </a:solidFill>
            <a:prstDash val="solid"/>
          </a:ln>
        </p:spPr>
      </p:sp>
      <p:sp>
        <p:nvSpPr>
          <p:cNvPr id="5" name="Text 3"/>
          <p:cNvSpPr/>
          <p:nvPr/>
        </p:nvSpPr>
        <p:spPr>
          <a:xfrm>
            <a:off x="940237" y="2087880"/>
            <a:ext cx="2007513" cy="217051"/>
          </a:xfrm>
          <a:prstGeom prst="rect">
            <a:avLst/>
          </a:prstGeom>
          <a:noFill/>
          <a:ln/>
        </p:spPr>
        <p:txBody>
          <a:bodyPr wrap="none" lIns="0" tIns="0" rIns="0" bIns="0" rtlCol="0" anchor="t"/>
          <a:lstStyle/>
          <a:p>
            <a:pPr marL="0" indent="0" algn="l">
              <a:lnSpc>
                <a:spcPts val="1700"/>
              </a:lnSpc>
              <a:buNone/>
            </a:pPr>
            <a:r>
              <a:rPr lang="en-US" sz="1350" dirty="0">
                <a:solidFill>
                  <a:srgbClr val="000000"/>
                </a:solidFill>
                <a:latin typeface="Gelasio" pitchFamily="34" charset="0"/>
                <a:ea typeface="Gelasio" pitchFamily="34" charset="-122"/>
                <a:cs typeface="Gelasio" pitchFamily="34" charset="-120"/>
              </a:rPr>
              <a:t>Simplified Administration</a:t>
            </a:r>
            <a:endParaRPr lang="en-US" sz="1350" dirty="0"/>
          </a:p>
        </p:txBody>
      </p:sp>
      <p:sp>
        <p:nvSpPr>
          <p:cNvPr id="6" name="Text 4"/>
          <p:cNvSpPr/>
          <p:nvPr/>
        </p:nvSpPr>
        <p:spPr>
          <a:xfrm>
            <a:off x="940237" y="2388275"/>
            <a:ext cx="6159103" cy="666869"/>
          </a:xfrm>
          <a:prstGeom prst="rect">
            <a:avLst/>
          </a:prstGeom>
          <a:noFill/>
          <a:ln/>
        </p:spPr>
        <p:txBody>
          <a:bodyPr wrap="square" lIns="0" tIns="0" rIns="0" bIns="0" rtlCol="0" anchor="t"/>
          <a:lstStyle/>
          <a:p>
            <a:pPr marL="0" indent="0" algn="l">
              <a:lnSpc>
                <a:spcPts val="1750"/>
              </a:lnSpc>
              <a:buNone/>
            </a:pPr>
            <a:r>
              <a:rPr lang="en-US" sz="1050" dirty="0">
                <a:solidFill>
                  <a:srgbClr val="000000"/>
                </a:solidFill>
                <a:latin typeface="Lato" pitchFamily="34" charset="0"/>
                <a:ea typeface="Lato" pitchFamily="34" charset="-122"/>
                <a:cs typeface="Lato" pitchFamily="34" charset="-120"/>
              </a:rPr>
              <a:t>Managing roles is far simpler than managing individual permissions for thousands of users. This significantly reduces administrative workload and the potential for error. Instead of tracking individual user permissions across hundreds of resources, administrators manage a smaller set of roles.</a:t>
            </a:r>
            <a:endParaRPr lang="en-US" sz="1050" dirty="0"/>
          </a:p>
        </p:txBody>
      </p:sp>
      <p:sp>
        <p:nvSpPr>
          <p:cNvPr id="7" name="Shape 5"/>
          <p:cNvSpPr/>
          <p:nvPr/>
        </p:nvSpPr>
        <p:spPr>
          <a:xfrm>
            <a:off x="7384613" y="1941433"/>
            <a:ext cx="6451997" cy="1260158"/>
          </a:xfrm>
          <a:prstGeom prst="roundRect">
            <a:avLst>
              <a:gd name="adj" fmla="val 4630"/>
            </a:avLst>
          </a:prstGeom>
          <a:solidFill>
            <a:srgbClr val="E5E5E0"/>
          </a:solidFill>
          <a:ln w="7620">
            <a:solidFill>
              <a:srgbClr val="CBCBC6"/>
            </a:solidFill>
            <a:prstDash val="solid"/>
          </a:ln>
        </p:spPr>
      </p:sp>
      <p:sp>
        <p:nvSpPr>
          <p:cNvPr id="8" name="Text 6"/>
          <p:cNvSpPr/>
          <p:nvPr/>
        </p:nvSpPr>
        <p:spPr>
          <a:xfrm>
            <a:off x="7531060" y="2087880"/>
            <a:ext cx="2356842" cy="217051"/>
          </a:xfrm>
          <a:prstGeom prst="rect">
            <a:avLst/>
          </a:prstGeom>
          <a:noFill/>
          <a:ln/>
        </p:spPr>
        <p:txBody>
          <a:bodyPr wrap="none" lIns="0" tIns="0" rIns="0" bIns="0" rtlCol="0" anchor="t"/>
          <a:lstStyle/>
          <a:p>
            <a:pPr marL="0" indent="0" algn="l">
              <a:lnSpc>
                <a:spcPts val="1700"/>
              </a:lnSpc>
              <a:buNone/>
            </a:pPr>
            <a:r>
              <a:rPr lang="en-US" sz="1350" dirty="0">
                <a:solidFill>
                  <a:srgbClr val="000000"/>
                </a:solidFill>
                <a:latin typeface="Gelasio" pitchFamily="34" charset="0"/>
                <a:ea typeface="Gelasio" pitchFamily="34" charset="-122"/>
                <a:cs typeface="Gelasio" pitchFamily="34" charset="-120"/>
              </a:rPr>
              <a:t>Enforcement of Least Privilege</a:t>
            </a:r>
            <a:endParaRPr lang="en-US" sz="1350" dirty="0"/>
          </a:p>
        </p:txBody>
      </p:sp>
      <p:sp>
        <p:nvSpPr>
          <p:cNvPr id="9" name="Text 7"/>
          <p:cNvSpPr/>
          <p:nvPr/>
        </p:nvSpPr>
        <p:spPr>
          <a:xfrm>
            <a:off x="7531060" y="2388275"/>
            <a:ext cx="6159103" cy="666869"/>
          </a:xfrm>
          <a:prstGeom prst="rect">
            <a:avLst/>
          </a:prstGeom>
          <a:noFill/>
          <a:ln/>
        </p:spPr>
        <p:txBody>
          <a:bodyPr wrap="square" lIns="0" tIns="0" rIns="0" bIns="0" rtlCol="0" anchor="t"/>
          <a:lstStyle/>
          <a:p>
            <a:pPr marL="0" indent="0" algn="l">
              <a:lnSpc>
                <a:spcPts val="1750"/>
              </a:lnSpc>
              <a:buNone/>
            </a:pPr>
            <a:r>
              <a:rPr lang="en-US" sz="1050" dirty="0">
                <a:solidFill>
                  <a:srgbClr val="000000"/>
                </a:solidFill>
                <a:latin typeface="Lato" pitchFamily="34" charset="0"/>
                <a:ea typeface="Lato" pitchFamily="34" charset="-122"/>
                <a:cs typeface="Lato" pitchFamily="34" charset="-120"/>
              </a:rPr>
              <a:t>RBAC makes it easy to implement the principle of least privilege. By defining roles with the minimal set of permissions required for a job function, organizations can reduce the risk of users having excessive, unnecessary access rights.</a:t>
            </a:r>
            <a:endParaRPr lang="en-US" sz="1050" dirty="0"/>
          </a:p>
        </p:txBody>
      </p:sp>
      <p:sp>
        <p:nvSpPr>
          <p:cNvPr id="10" name="Shape 8"/>
          <p:cNvSpPr/>
          <p:nvPr/>
        </p:nvSpPr>
        <p:spPr>
          <a:xfrm>
            <a:off x="793790" y="3340418"/>
            <a:ext cx="6451997" cy="1260158"/>
          </a:xfrm>
          <a:prstGeom prst="roundRect">
            <a:avLst>
              <a:gd name="adj" fmla="val 4630"/>
            </a:avLst>
          </a:prstGeom>
          <a:solidFill>
            <a:srgbClr val="E5E5E0"/>
          </a:solidFill>
          <a:ln w="7620">
            <a:solidFill>
              <a:srgbClr val="CBCBC6"/>
            </a:solidFill>
            <a:prstDash val="solid"/>
          </a:ln>
        </p:spPr>
      </p:sp>
      <p:sp>
        <p:nvSpPr>
          <p:cNvPr id="11" name="Text 9"/>
          <p:cNvSpPr/>
          <p:nvPr/>
        </p:nvSpPr>
        <p:spPr>
          <a:xfrm>
            <a:off x="940237" y="3486864"/>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000000"/>
                </a:solidFill>
                <a:latin typeface="Gelasio" pitchFamily="34" charset="0"/>
                <a:ea typeface="Gelasio" pitchFamily="34" charset="-122"/>
                <a:cs typeface="Gelasio" pitchFamily="34" charset="-120"/>
              </a:rPr>
              <a:t>Scalability</a:t>
            </a:r>
            <a:endParaRPr lang="en-US" sz="1350" dirty="0"/>
          </a:p>
        </p:txBody>
      </p:sp>
      <p:sp>
        <p:nvSpPr>
          <p:cNvPr id="12" name="Text 10"/>
          <p:cNvSpPr/>
          <p:nvPr/>
        </p:nvSpPr>
        <p:spPr>
          <a:xfrm>
            <a:off x="940237" y="3787259"/>
            <a:ext cx="6159103" cy="666869"/>
          </a:xfrm>
          <a:prstGeom prst="rect">
            <a:avLst/>
          </a:prstGeom>
          <a:noFill/>
          <a:ln/>
        </p:spPr>
        <p:txBody>
          <a:bodyPr wrap="square" lIns="0" tIns="0" rIns="0" bIns="0" rtlCol="0" anchor="t"/>
          <a:lstStyle/>
          <a:p>
            <a:pPr marL="0" indent="0" algn="l">
              <a:lnSpc>
                <a:spcPts val="1750"/>
              </a:lnSpc>
              <a:buNone/>
            </a:pPr>
            <a:r>
              <a:rPr lang="en-US" sz="1050" dirty="0">
                <a:solidFill>
                  <a:srgbClr val="000000"/>
                </a:solidFill>
                <a:latin typeface="Lato" pitchFamily="34" charset="0"/>
                <a:ea typeface="Lato" pitchFamily="34" charset="-122"/>
                <a:cs typeface="Lato" pitchFamily="34" charset="-120"/>
              </a:rPr>
              <a:t>RBAC scales exceptionally well. As an organization grows, new users are simply slotted into existing roles. New job functions can be accommodated by creating new roles without disrupting the existing permission structure.</a:t>
            </a:r>
            <a:endParaRPr lang="en-US" sz="1050" dirty="0"/>
          </a:p>
        </p:txBody>
      </p:sp>
      <p:sp>
        <p:nvSpPr>
          <p:cNvPr id="13" name="Shape 11"/>
          <p:cNvSpPr/>
          <p:nvPr/>
        </p:nvSpPr>
        <p:spPr>
          <a:xfrm>
            <a:off x="7384613" y="3340418"/>
            <a:ext cx="6451997" cy="1260158"/>
          </a:xfrm>
          <a:prstGeom prst="roundRect">
            <a:avLst>
              <a:gd name="adj" fmla="val 4630"/>
            </a:avLst>
          </a:prstGeom>
          <a:solidFill>
            <a:srgbClr val="E5E5E0"/>
          </a:solidFill>
          <a:ln w="7620">
            <a:solidFill>
              <a:srgbClr val="CBCBC6"/>
            </a:solidFill>
            <a:prstDash val="solid"/>
          </a:ln>
        </p:spPr>
      </p:sp>
      <p:sp>
        <p:nvSpPr>
          <p:cNvPr id="14" name="Text 12"/>
          <p:cNvSpPr/>
          <p:nvPr/>
        </p:nvSpPr>
        <p:spPr>
          <a:xfrm>
            <a:off x="7531060" y="3486864"/>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000000"/>
                </a:solidFill>
                <a:latin typeface="Gelasio" pitchFamily="34" charset="0"/>
                <a:ea typeface="Gelasio" pitchFamily="34" charset="-122"/>
                <a:cs typeface="Gelasio" pitchFamily="34" charset="-120"/>
              </a:rPr>
              <a:t>Policy Compliance</a:t>
            </a:r>
            <a:endParaRPr lang="en-US" sz="1350" dirty="0"/>
          </a:p>
        </p:txBody>
      </p:sp>
      <p:sp>
        <p:nvSpPr>
          <p:cNvPr id="15" name="Text 13"/>
          <p:cNvSpPr/>
          <p:nvPr/>
        </p:nvSpPr>
        <p:spPr>
          <a:xfrm>
            <a:off x="7531060" y="3787259"/>
            <a:ext cx="6159103" cy="666869"/>
          </a:xfrm>
          <a:prstGeom prst="rect">
            <a:avLst/>
          </a:prstGeom>
          <a:noFill/>
          <a:ln/>
        </p:spPr>
        <p:txBody>
          <a:bodyPr wrap="square" lIns="0" tIns="0" rIns="0" bIns="0" rtlCol="0" anchor="t"/>
          <a:lstStyle/>
          <a:p>
            <a:pPr marL="0" indent="0" algn="l">
              <a:lnSpc>
                <a:spcPts val="1750"/>
              </a:lnSpc>
              <a:buNone/>
            </a:pPr>
            <a:r>
              <a:rPr lang="en-US" sz="1050" dirty="0">
                <a:solidFill>
                  <a:srgbClr val="000000"/>
                </a:solidFill>
                <a:latin typeface="Lato" pitchFamily="34" charset="0"/>
                <a:ea typeface="Lato" pitchFamily="34" charset="-122"/>
                <a:cs typeface="Lato" pitchFamily="34" charset="-120"/>
              </a:rPr>
              <a:t>RBAC helps organizations meet regulatory and statutory requirements (e.g., HIPAA, SOX) that mandate privacy and confidentiality, as it allows for systematic enforcement and auditing of access policies.</a:t>
            </a:r>
            <a:endParaRPr lang="en-US" sz="1050" dirty="0"/>
          </a:p>
        </p:txBody>
      </p:sp>
      <p:sp>
        <p:nvSpPr>
          <p:cNvPr id="16" name="Text 14"/>
          <p:cNvSpPr/>
          <p:nvPr/>
        </p:nvSpPr>
        <p:spPr>
          <a:xfrm>
            <a:off x="793790" y="4808934"/>
            <a:ext cx="2897981" cy="347305"/>
          </a:xfrm>
          <a:prstGeom prst="rect">
            <a:avLst/>
          </a:prstGeom>
          <a:noFill/>
          <a:ln/>
        </p:spPr>
        <p:txBody>
          <a:bodyPr wrap="none" lIns="0" tIns="0" rIns="0" bIns="0" rtlCol="0" anchor="t"/>
          <a:lstStyle/>
          <a:p>
            <a:pPr marL="0" indent="0" algn="l">
              <a:lnSpc>
                <a:spcPts val="2700"/>
              </a:lnSpc>
              <a:buNone/>
            </a:pPr>
            <a:r>
              <a:rPr lang="en-US" sz="2150" dirty="0">
                <a:solidFill>
                  <a:srgbClr val="312F2B"/>
                </a:solidFill>
                <a:latin typeface="Gelasio" pitchFamily="34" charset="0"/>
                <a:ea typeface="Gelasio" pitchFamily="34" charset="-122"/>
                <a:cs typeface="Gelasio" pitchFamily="34" charset="-120"/>
              </a:rPr>
              <a:t>Disadvantages of RBAC</a:t>
            </a:r>
            <a:endParaRPr lang="en-US" sz="2150" dirty="0"/>
          </a:p>
        </p:txBody>
      </p:sp>
      <p:sp>
        <p:nvSpPr>
          <p:cNvPr id="17" name="Shape 15"/>
          <p:cNvSpPr/>
          <p:nvPr/>
        </p:nvSpPr>
        <p:spPr>
          <a:xfrm>
            <a:off x="793790" y="5572958"/>
            <a:ext cx="4255056" cy="1913215"/>
          </a:xfrm>
          <a:prstGeom prst="roundRect">
            <a:avLst>
              <a:gd name="adj" fmla="val 3824"/>
            </a:avLst>
          </a:prstGeom>
          <a:solidFill>
            <a:srgbClr val="FFFFFF">
              <a:alpha val="95000"/>
            </a:srgbClr>
          </a:solidFill>
          <a:ln/>
        </p:spPr>
      </p:sp>
      <p:sp>
        <p:nvSpPr>
          <p:cNvPr id="18" name="Shape 16"/>
          <p:cNvSpPr/>
          <p:nvPr/>
        </p:nvSpPr>
        <p:spPr>
          <a:xfrm>
            <a:off x="793790" y="5557718"/>
            <a:ext cx="4255056" cy="60960"/>
          </a:xfrm>
          <a:prstGeom prst="roundRect">
            <a:avLst>
              <a:gd name="adj" fmla="val 95721"/>
            </a:avLst>
          </a:prstGeom>
          <a:solidFill>
            <a:srgbClr val="D3C1B6"/>
          </a:solidFill>
          <a:ln/>
        </p:spPr>
      </p:sp>
      <p:sp>
        <p:nvSpPr>
          <p:cNvPr id="19" name="Shape 17"/>
          <p:cNvSpPr/>
          <p:nvPr/>
        </p:nvSpPr>
        <p:spPr>
          <a:xfrm>
            <a:off x="2712958" y="5364599"/>
            <a:ext cx="416719" cy="416719"/>
          </a:xfrm>
          <a:prstGeom prst="roundRect">
            <a:avLst>
              <a:gd name="adj" fmla="val 219428"/>
            </a:avLst>
          </a:prstGeom>
          <a:solidFill>
            <a:srgbClr val="D3C1B6"/>
          </a:solidFill>
          <a:ln/>
        </p:spPr>
      </p:sp>
      <p:sp>
        <p:nvSpPr>
          <p:cNvPr id="20" name="Text 18"/>
          <p:cNvSpPr/>
          <p:nvPr/>
        </p:nvSpPr>
        <p:spPr>
          <a:xfrm>
            <a:off x="2837974" y="5468779"/>
            <a:ext cx="166688" cy="208359"/>
          </a:xfrm>
          <a:prstGeom prst="rect">
            <a:avLst/>
          </a:prstGeom>
          <a:noFill/>
          <a:ln/>
        </p:spPr>
        <p:txBody>
          <a:bodyPr wrap="none" lIns="0" tIns="0" rIns="0" bIns="0" rtlCol="0" anchor="t"/>
          <a:lstStyle/>
          <a:p>
            <a:pPr marL="0" indent="0" algn="l">
              <a:lnSpc>
                <a:spcPts val="2100"/>
              </a:lnSpc>
              <a:buNone/>
            </a:pPr>
            <a:r>
              <a:rPr lang="en-US" sz="1300" dirty="0">
                <a:solidFill>
                  <a:srgbClr val="000000"/>
                </a:solidFill>
                <a:latin typeface="Gelasio" pitchFamily="34" charset="0"/>
                <a:ea typeface="Gelasio" pitchFamily="34" charset="-122"/>
                <a:cs typeface="Gelasio" pitchFamily="34" charset="-120"/>
              </a:rPr>
              <a:t>1</a:t>
            </a:r>
            <a:endParaRPr lang="en-US" sz="1300" dirty="0"/>
          </a:p>
        </p:txBody>
      </p:sp>
      <p:sp>
        <p:nvSpPr>
          <p:cNvPr id="21" name="Text 19"/>
          <p:cNvSpPr/>
          <p:nvPr/>
        </p:nvSpPr>
        <p:spPr>
          <a:xfrm>
            <a:off x="947857" y="5920264"/>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272525"/>
                </a:solidFill>
                <a:latin typeface="Gelasio" pitchFamily="34" charset="0"/>
                <a:ea typeface="Gelasio" pitchFamily="34" charset="-122"/>
                <a:cs typeface="Gelasio" pitchFamily="34" charset="-120"/>
              </a:rPr>
              <a:t>Initial Complexity</a:t>
            </a:r>
            <a:endParaRPr lang="en-US" sz="1350" dirty="0"/>
          </a:p>
        </p:txBody>
      </p:sp>
      <p:sp>
        <p:nvSpPr>
          <p:cNvPr id="22" name="Text 20"/>
          <p:cNvSpPr/>
          <p:nvPr/>
        </p:nvSpPr>
        <p:spPr>
          <a:xfrm>
            <a:off x="947857" y="6220658"/>
            <a:ext cx="3946922" cy="889159"/>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latin typeface="Lato" pitchFamily="34" charset="0"/>
                <a:ea typeface="Lato" pitchFamily="34" charset="-122"/>
                <a:cs typeface="Lato" pitchFamily="34" charset="-120"/>
              </a:rPr>
              <a:t>The initial implementation of RBAC can be a complex and resource-intensive project. It requires a thorough analysis of the organization's business processes and job functions to define a logical and effective set of roles.</a:t>
            </a:r>
            <a:endParaRPr lang="en-US" sz="1050" dirty="0"/>
          </a:p>
        </p:txBody>
      </p:sp>
      <p:sp>
        <p:nvSpPr>
          <p:cNvPr id="23" name="Shape 21"/>
          <p:cNvSpPr/>
          <p:nvPr/>
        </p:nvSpPr>
        <p:spPr>
          <a:xfrm>
            <a:off x="5187672" y="5572958"/>
            <a:ext cx="4255056" cy="1913215"/>
          </a:xfrm>
          <a:prstGeom prst="roundRect">
            <a:avLst>
              <a:gd name="adj" fmla="val 3824"/>
            </a:avLst>
          </a:prstGeom>
          <a:solidFill>
            <a:srgbClr val="FFFFFF">
              <a:alpha val="95000"/>
            </a:srgbClr>
          </a:solidFill>
          <a:ln/>
        </p:spPr>
      </p:sp>
      <p:sp>
        <p:nvSpPr>
          <p:cNvPr id="24" name="Shape 22"/>
          <p:cNvSpPr/>
          <p:nvPr/>
        </p:nvSpPr>
        <p:spPr>
          <a:xfrm>
            <a:off x="5187672" y="5557718"/>
            <a:ext cx="4255056" cy="60960"/>
          </a:xfrm>
          <a:prstGeom prst="roundRect">
            <a:avLst>
              <a:gd name="adj" fmla="val 95721"/>
            </a:avLst>
          </a:prstGeom>
          <a:solidFill>
            <a:srgbClr val="D3C1B6"/>
          </a:solidFill>
          <a:ln/>
        </p:spPr>
      </p:sp>
      <p:sp>
        <p:nvSpPr>
          <p:cNvPr id="25" name="Shape 23"/>
          <p:cNvSpPr/>
          <p:nvPr/>
        </p:nvSpPr>
        <p:spPr>
          <a:xfrm>
            <a:off x="7106841" y="5364599"/>
            <a:ext cx="416719" cy="416719"/>
          </a:xfrm>
          <a:prstGeom prst="roundRect">
            <a:avLst>
              <a:gd name="adj" fmla="val 219428"/>
            </a:avLst>
          </a:prstGeom>
          <a:solidFill>
            <a:srgbClr val="D3C1B6"/>
          </a:solidFill>
          <a:ln/>
        </p:spPr>
      </p:sp>
      <p:sp>
        <p:nvSpPr>
          <p:cNvPr id="26" name="Text 24"/>
          <p:cNvSpPr/>
          <p:nvPr/>
        </p:nvSpPr>
        <p:spPr>
          <a:xfrm>
            <a:off x="7231856" y="5468779"/>
            <a:ext cx="166688" cy="208359"/>
          </a:xfrm>
          <a:prstGeom prst="rect">
            <a:avLst/>
          </a:prstGeom>
          <a:noFill/>
          <a:ln/>
        </p:spPr>
        <p:txBody>
          <a:bodyPr wrap="none" lIns="0" tIns="0" rIns="0" bIns="0" rtlCol="0" anchor="t"/>
          <a:lstStyle/>
          <a:p>
            <a:pPr marL="0" indent="0" algn="l">
              <a:lnSpc>
                <a:spcPts val="2100"/>
              </a:lnSpc>
              <a:buNone/>
            </a:pPr>
            <a:r>
              <a:rPr lang="en-US" sz="1300" dirty="0">
                <a:solidFill>
                  <a:srgbClr val="000000"/>
                </a:solidFill>
                <a:latin typeface="Gelasio" pitchFamily="34" charset="0"/>
                <a:ea typeface="Gelasio" pitchFamily="34" charset="-122"/>
                <a:cs typeface="Gelasio" pitchFamily="34" charset="-120"/>
              </a:rPr>
              <a:t>2</a:t>
            </a:r>
            <a:endParaRPr lang="en-US" sz="1300" dirty="0"/>
          </a:p>
        </p:txBody>
      </p:sp>
      <p:sp>
        <p:nvSpPr>
          <p:cNvPr id="27" name="Text 25"/>
          <p:cNvSpPr/>
          <p:nvPr/>
        </p:nvSpPr>
        <p:spPr>
          <a:xfrm>
            <a:off x="5341739" y="5920264"/>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272525"/>
                </a:solidFill>
                <a:latin typeface="Gelasio" pitchFamily="34" charset="0"/>
                <a:ea typeface="Gelasio" pitchFamily="34" charset="-122"/>
                <a:cs typeface="Gelasio" pitchFamily="34" charset="-120"/>
              </a:rPr>
              <a:t>Role Explosion</a:t>
            </a:r>
            <a:endParaRPr lang="en-US" sz="1350" dirty="0"/>
          </a:p>
        </p:txBody>
      </p:sp>
      <p:sp>
        <p:nvSpPr>
          <p:cNvPr id="28" name="Text 26"/>
          <p:cNvSpPr/>
          <p:nvPr/>
        </p:nvSpPr>
        <p:spPr>
          <a:xfrm>
            <a:off x="5341739" y="6220658"/>
            <a:ext cx="3946922" cy="1111448"/>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latin typeface="Lato" pitchFamily="34" charset="0"/>
                <a:ea typeface="Lato" pitchFamily="34" charset="-122"/>
                <a:cs typeface="Lato" pitchFamily="34" charset="-120"/>
              </a:rPr>
              <a:t>In large, complex organizations, the number of distinct roles can become unmanageably large. This "role explosion" can reintroduce the complexity that RBAC was designed to solve. Careful role engineering and management are required to prevent this.</a:t>
            </a:r>
            <a:endParaRPr lang="en-US" sz="1050" dirty="0"/>
          </a:p>
        </p:txBody>
      </p:sp>
      <p:sp>
        <p:nvSpPr>
          <p:cNvPr id="29" name="Shape 27"/>
          <p:cNvSpPr/>
          <p:nvPr/>
        </p:nvSpPr>
        <p:spPr>
          <a:xfrm>
            <a:off x="9581555" y="5572958"/>
            <a:ext cx="4255056" cy="1913215"/>
          </a:xfrm>
          <a:prstGeom prst="roundRect">
            <a:avLst>
              <a:gd name="adj" fmla="val 3824"/>
            </a:avLst>
          </a:prstGeom>
          <a:solidFill>
            <a:srgbClr val="FFFFFF">
              <a:alpha val="95000"/>
            </a:srgbClr>
          </a:solidFill>
          <a:ln/>
        </p:spPr>
      </p:sp>
      <p:sp>
        <p:nvSpPr>
          <p:cNvPr id="30" name="Shape 28"/>
          <p:cNvSpPr/>
          <p:nvPr/>
        </p:nvSpPr>
        <p:spPr>
          <a:xfrm>
            <a:off x="9581555" y="5557718"/>
            <a:ext cx="4255056" cy="60960"/>
          </a:xfrm>
          <a:prstGeom prst="roundRect">
            <a:avLst>
              <a:gd name="adj" fmla="val 95721"/>
            </a:avLst>
          </a:prstGeom>
          <a:solidFill>
            <a:srgbClr val="D3C1B6"/>
          </a:solidFill>
          <a:ln/>
        </p:spPr>
      </p:sp>
      <p:sp>
        <p:nvSpPr>
          <p:cNvPr id="31" name="Shape 29"/>
          <p:cNvSpPr/>
          <p:nvPr/>
        </p:nvSpPr>
        <p:spPr>
          <a:xfrm>
            <a:off x="11500723" y="5364599"/>
            <a:ext cx="416719" cy="416719"/>
          </a:xfrm>
          <a:prstGeom prst="roundRect">
            <a:avLst>
              <a:gd name="adj" fmla="val 219428"/>
            </a:avLst>
          </a:prstGeom>
          <a:solidFill>
            <a:srgbClr val="D3C1B6"/>
          </a:solidFill>
          <a:ln/>
        </p:spPr>
      </p:sp>
      <p:sp>
        <p:nvSpPr>
          <p:cNvPr id="32" name="Text 30"/>
          <p:cNvSpPr/>
          <p:nvPr/>
        </p:nvSpPr>
        <p:spPr>
          <a:xfrm>
            <a:off x="11625739" y="5468779"/>
            <a:ext cx="166688" cy="208359"/>
          </a:xfrm>
          <a:prstGeom prst="rect">
            <a:avLst/>
          </a:prstGeom>
          <a:noFill/>
          <a:ln/>
        </p:spPr>
        <p:txBody>
          <a:bodyPr wrap="none" lIns="0" tIns="0" rIns="0" bIns="0" rtlCol="0" anchor="t"/>
          <a:lstStyle/>
          <a:p>
            <a:pPr marL="0" indent="0" algn="l">
              <a:lnSpc>
                <a:spcPts val="2100"/>
              </a:lnSpc>
              <a:buNone/>
            </a:pPr>
            <a:r>
              <a:rPr lang="en-US" sz="1300" dirty="0">
                <a:solidFill>
                  <a:srgbClr val="000000"/>
                </a:solidFill>
                <a:latin typeface="Gelasio" pitchFamily="34" charset="0"/>
                <a:ea typeface="Gelasio" pitchFamily="34" charset="-122"/>
                <a:cs typeface="Gelasio" pitchFamily="34" charset="-120"/>
              </a:rPr>
              <a:t>3</a:t>
            </a:r>
            <a:endParaRPr lang="en-US" sz="1300" dirty="0"/>
          </a:p>
        </p:txBody>
      </p:sp>
      <p:sp>
        <p:nvSpPr>
          <p:cNvPr id="33" name="Text 31"/>
          <p:cNvSpPr/>
          <p:nvPr/>
        </p:nvSpPr>
        <p:spPr>
          <a:xfrm>
            <a:off x="9735622" y="5920264"/>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272525"/>
                </a:solidFill>
                <a:latin typeface="Gelasio" pitchFamily="34" charset="0"/>
                <a:ea typeface="Gelasio" pitchFamily="34" charset="-122"/>
                <a:cs typeface="Gelasio" pitchFamily="34" charset="-120"/>
              </a:rPr>
              <a:t>Static Nature</a:t>
            </a:r>
            <a:endParaRPr lang="en-US" sz="1350" dirty="0"/>
          </a:p>
        </p:txBody>
      </p:sp>
      <p:sp>
        <p:nvSpPr>
          <p:cNvPr id="34" name="Text 32"/>
          <p:cNvSpPr/>
          <p:nvPr/>
        </p:nvSpPr>
        <p:spPr>
          <a:xfrm>
            <a:off x="9735622" y="6220658"/>
            <a:ext cx="3946922" cy="889159"/>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latin typeface="Lato" pitchFamily="34" charset="0"/>
                <a:ea typeface="Lato" pitchFamily="34" charset="-122"/>
                <a:cs typeface="Lato" pitchFamily="34" charset="-120"/>
              </a:rPr>
              <a:t>Core RBAC models can be static. They do not easily account for contextual attributes, such as time of day, user location, or the state of a resource, which may be required for more dynamic access control decisions.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015246"/>
            <a:ext cx="5703213" cy="558165"/>
          </a:xfrm>
          <a:prstGeom prst="rect">
            <a:avLst/>
          </a:prstGeom>
          <a:noFill/>
          <a:ln/>
        </p:spPr>
        <p:txBody>
          <a:bodyPr wrap="none" lIns="0" tIns="0" rIns="0" bIns="0" rtlCol="0" anchor="t"/>
          <a:lstStyle/>
          <a:p>
            <a:pPr marL="0" indent="0" algn="l">
              <a:lnSpc>
                <a:spcPts val="4350"/>
              </a:lnSpc>
              <a:buNone/>
            </a:pPr>
            <a:r>
              <a:rPr lang="en-US" sz="3500" dirty="0">
                <a:solidFill>
                  <a:srgbClr val="312F2B"/>
                </a:solidFill>
                <a:latin typeface="Gelasio" pitchFamily="34" charset="0"/>
                <a:ea typeface="Gelasio" pitchFamily="34" charset="-122"/>
                <a:cs typeface="Gelasio" pitchFamily="34" charset="-120"/>
              </a:rPr>
              <a:t>DAC Applications in Practice</a:t>
            </a:r>
            <a:endParaRPr lang="en-US" sz="3500" dirty="0"/>
          </a:p>
        </p:txBody>
      </p:sp>
      <p:sp>
        <p:nvSpPr>
          <p:cNvPr id="3" name="Text 1"/>
          <p:cNvSpPr/>
          <p:nvPr/>
        </p:nvSpPr>
        <p:spPr>
          <a:xfrm>
            <a:off x="793790" y="1930598"/>
            <a:ext cx="13042821" cy="571500"/>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Discretionary Access Control finds extensive application across various computing environments, from personal devices to collaborative platforms. Its intuitive owner-based permission model makes it particularly suitable for scenarios where users need direct control over their resources.</a:t>
            </a:r>
            <a:endParaRPr lang="en-US" sz="1400" dirty="0"/>
          </a:p>
        </p:txBody>
      </p:sp>
      <p:sp>
        <p:nvSpPr>
          <p:cNvPr id="4" name="Text 2"/>
          <p:cNvSpPr/>
          <p:nvPr/>
        </p:nvSpPr>
        <p:spPr>
          <a:xfrm>
            <a:off x="793790" y="2881551"/>
            <a:ext cx="2727127" cy="278963"/>
          </a:xfrm>
          <a:prstGeom prst="rect">
            <a:avLst/>
          </a:prstGeom>
          <a:noFill/>
          <a:ln/>
        </p:spPr>
        <p:txBody>
          <a:bodyPr wrap="none" lIns="0" tIns="0" rIns="0" bIns="0" rtlCol="0" anchor="t"/>
          <a:lstStyle/>
          <a:p>
            <a:pPr marL="0" indent="0" algn="l">
              <a:lnSpc>
                <a:spcPts val="2150"/>
              </a:lnSpc>
              <a:buNone/>
            </a:pPr>
            <a:r>
              <a:rPr lang="en-US" sz="1750" dirty="0">
                <a:solidFill>
                  <a:srgbClr val="272525"/>
                </a:solidFill>
                <a:latin typeface="Gelasio" pitchFamily="34" charset="0"/>
                <a:ea typeface="Gelasio" pitchFamily="34" charset="-122"/>
                <a:cs typeface="Gelasio" pitchFamily="34" charset="-120"/>
              </a:rPr>
              <a:t>Desktop Operating Systems</a:t>
            </a:r>
            <a:endParaRPr lang="en-US" sz="1750" dirty="0"/>
          </a:p>
        </p:txBody>
      </p:sp>
      <p:sp>
        <p:nvSpPr>
          <p:cNvPr id="5" name="Text 3"/>
          <p:cNvSpPr/>
          <p:nvPr/>
        </p:nvSpPr>
        <p:spPr>
          <a:xfrm>
            <a:off x="793790" y="3267670"/>
            <a:ext cx="4198739" cy="2000250"/>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The most common examples of DAC are found in file systems of OSs like Microsoft Windows (NTFS permissions), macOS, and Linux. When you create a document on your computer, you are its owner. You can then right-click the file, go to 'Properties' or 'Get Info', and set specific permissions for other users or groups on that computer or network.</a:t>
            </a:r>
            <a:endParaRPr lang="en-US" sz="1400" dirty="0"/>
          </a:p>
        </p:txBody>
      </p:sp>
      <p:sp>
        <p:nvSpPr>
          <p:cNvPr id="6" name="Text 4"/>
          <p:cNvSpPr/>
          <p:nvPr/>
        </p:nvSpPr>
        <p:spPr>
          <a:xfrm>
            <a:off x="5215771" y="2881551"/>
            <a:ext cx="2284571" cy="278963"/>
          </a:xfrm>
          <a:prstGeom prst="rect">
            <a:avLst/>
          </a:prstGeom>
          <a:noFill/>
          <a:ln/>
        </p:spPr>
        <p:txBody>
          <a:bodyPr wrap="none" lIns="0" tIns="0" rIns="0" bIns="0" rtlCol="0" anchor="t"/>
          <a:lstStyle/>
          <a:p>
            <a:pPr marL="0" indent="0" algn="l">
              <a:lnSpc>
                <a:spcPts val="2150"/>
              </a:lnSpc>
              <a:buNone/>
            </a:pPr>
            <a:r>
              <a:rPr lang="en-US" sz="1750" dirty="0">
                <a:solidFill>
                  <a:srgbClr val="272525"/>
                </a:solidFill>
                <a:latin typeface="Gelasio" pitchFamily="34" charset="0"/>
                <a:ea typeface="Gelasio" pitchFamily="34" charset="-122"/>
                <a:cs typeface="Gelasio" pitchFamily="34" charset="-120"/>
              </a:rPr>
              <a:t>Social Media Platforms</a:t>
            </a:r>
            <a:endParaRPr lang="en-US" sz="1750" dirty="0"/>
          </a:p>
        </p:txBody>
      </p:sp>
      <p:sp>
        <p:nvSpPr>
          <p:cNvPr id="7" name="Text 5"/>
          <p:cNvSpPr/>
          <p:nvPr/>
        </p:nvSpPr>
        <p:spPr>
          <a:xfrm>
            <a:off x="5215771" y="3267670"/>
            <a:ext cx="4198739" cy="1714500"/>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On platforms like Facebook or Google Drive, when you upload a photo or create a document, you can often choose who gets to see it—"Only Me," "Friends," or "Public." This is a form of DAC, where you, the owner of the data object, are making discretionary decisions about its access.</a:t>
            </a:r>
            <a:endParaRPr lang="en-US" sz="1400" dirty="0"/>
          </a:p>
        </p:txBody>
      </p:sp>
      <p:sp>
        <p:nvSpPr>
          <p:cNvPr id="8" name="Text 6"/>
          <p:cNvSpPr/>
          <p:nvPr/>
        </p:nvSpPr>
        <p:spPr>
          <a:xfrm>
            <a:off x="9637752" y="2881551"/>
            <a:ext cx="3117890" cy="278963"/>
          </a:xfrm>
          <a:prstGeom prst="rect">
            <a:avLst/>
          </a:prstGeom>
          <a:noFill/>
          <a:ln/>
        </p:spPr>
        <p:txBody>
          <a:bodyPr wrap="none" lIns="0" tIns="0" rIns="0" bIns="0" rtlCol="0" anchor="t"/>
          <a:lstStyle/>
          <a:p>
            <a:pPr marL="0" indent="0" algn="l">
              <a:lnSpc>
                <a:spcPts val="2150"/>
              </a:lnSpc>
              <a:buNone/>
            </a:pPr>
            <a:r>
              <a:rPr lang="en-US" sz="1750" dirty="0">
                <a:solidFill>
                  <a:srgbClr val="272525"/>
                </a:solidFill>
                <a:latin typeface="Gelasio" pitchFamily="34" charset="0"/>
                <a:ea typeface="Gelasio" pitchFamily="34" charset="-122"/>
                <a:cs typeface="Gelasio" pitchFamily="34" charset="-120"/>
              </a:rPr>
              <a:t>Small-Scale Collaborative Tools</a:t>
            </a:r>
            <a:endParaRPr lang="en-US" sz="1750" dirty="0"/>
          </a:p>
        </p:txBody>
      </p:sp>
      <p:sp>
        <p:nvSpPr>
          <p:cNvPr id="9" name="Text 7"/>
          <p:cNvSpPr/>
          <p:nvPr/>
        </p:nvSpPr>
        <p:spPr>
          <a:xfrm>
            <a:off x="9637752" y="3267670"/>
            <a:ext cx="4198858" cy="1714500"/>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Tools like Trello or shared folders in Dropbox often use a DAC-like model. The creator of a board or folder can invite specific collaborators and assign them different levels of access (e.g., view-only, editor). This provides immediate flexibility for project-based collaboration.</a:t>
            </a:r>
            <a:endParaRPr lang="en-US" sz="1400" dirty="0"/>
          </a:p>
        </p:txBody>
      </p:sp>
      <p:sp>
        <p:nvSpPr>
          <p:cNvPr id="10" name="Text 8"/>
          <p:cNvSpPr/>
          <p:nvPr/>
        </p:nvSpPr>
        <p:spPr>
          <a:xfrm>
            <a:off x="1061680" y="5669637"/>
            <a:ext cx="12774930" cy="571500"/>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DAC's strength lies in its simplicity and user empowerment, making it ideal for environments where resource owners can be trusted to make appropriate security decisions.</a:t>
            </a:r>
            <a:endParaRPr lang="en-US" sz="1400" dirty="0"/>
          </a:p>
        </p:txBody>
      </p:sp>
      <p:sp>
        <p:nvSpPr>
          <p:cNvPr id="11" name="Shape 9"/>
          <p:cNvSpPr/>
          <p:nvPr/>
        </p:nvSpPr>
        <p:spPr>
          <a:xfrm>
            <a:off x="793790" y="5468779"/>
            <a:ext cx="22860" cy="973217"/>
          </a:xfrm>
          <a:prstGeom prst="rect">
            <a:avLst/>
          </a:prstGeom>
          <a:solidFill>
            <a:srgbClr val="E5E5E0"/>
          </a:solidFill>
          <a:ln/>
        </p:spPr>
      </p:sp>
      <p:sp>
        <p:nvSpPr>
          <p:cNvPr id="12" name="Text 10"/>
          <p:cNvSpPr/>
          <p:nvPr/>
        </p:nvSpPr>
        <p:spPr>
          <a:xfrm>
            <a:off x="793790" y="6642854"/>
            <a:ext cx="13042821" cy="571500"/>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These applications demonstrate DAC's effectiveness in scenarios where users need immediate, flexible control over their resources without administrative intervention. The model's intuitive nature allows users to understand and manage permissions using familiar concepts of ownership and sharing.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34177"/>
            <a:ext cx="8351639" cy="496133"/>
          </a:xfrm>
          <a:prstGeom prst="rect">
            <a:avLst/>
          </a:prstGeom>
          <a:noFill/>
          <a:ln/>
        </p:spPr>
        <p:txBody>
          <a:bodyPr wrap="none" lIns="0" tIns="0" rIns="0" bIns="0" rtlCol="0" anchor="t"/>
          <a:lstStyle/>
          <a:p>
            <a:pPr marL="0" indent="0" algn="l">
              <a:lnSpc>
                <a:spcPts val="3900"/>
              </a:lnSpc>
              <a:buNone/>
            </a:pPr>
            <a:r>
              <a:rPr lang="en-US" sz="3100" dirty="0">
                <a:solidFill>
                  <a:srgbClr val="312F2B"/>
                </a:solidFill>
                <a:latin typeface="Gelasio" pitchFamily="34" charset="0"/>
                <a:ea typeface="Gelasio" pitchFamily="34" charset="-122"/>
                <a:cs typeface="Gelasio" pitchFamily="34" charset="-120"/>
              </a:rPr>
              <a:t>RBAC Applications in Enterprise Environments</a:t>
            </a:r>
            <a:endParaRPr lang="en-US" sz="3100" dirty="0"/>
          </a:p>
        </p:txBody>
      </p:sp>
      <p:sp>
        <p:nvSpPr>
          <p:cNvPr id="3" name="Text 1"/>
          <p:cNvSpPr/>
          <p:nvPr/>
        </p:nvSpPr>
        <p:spPr>
          <a:xfrm>
            <a:off x="793790" y="1847850"/>
            <a:ext cx="13042821" cy="508159"/>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Role-Based Access Control has become the cornerstone of security in large-scale enterprise systems, where managing individual user permissions would be impractical and error-prone. Its structured approach to access control makes it indispensable for organizations requiring both security and administrative efficiency.</a:t>
            </a:r>
            <a:endParaRPr lang="en-US" sz="1250" dirty="0"/>
          </a:p>
        </p:txBody>
      </p:sp>
      <p:sp>
        <p:nvSpPr>
          <p:cNvPr id="4" name="Text 2"/>
          <p:cNvSpPr/>
          <p:nvPr/>
        </p:nvSpPr>
        <p:spPr>
          <a:xfrm>
            <a:off x="793790" y="2534603"/>
            <a:ext cx="158710" cy="198358"/>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Gelasio Light" pitchFamily="34" charset="0"/>
                <a:ea typeface="Gelasio Light" pitchFamily="34" charset="-122"/>
                <a:cs typeface="Gelasio Light" pitchFamily="34" charset="-120"/>
              </a:rPr>
              <a:t>01</a:t>
            </a:r>
            <a:endParaRPr lang="en-US" sz="1250" dirty="0"/>
          </a:p>
        </p:txBody>
      </p:sp>
      <p:sp>
        <p:nvSpPr>
          <p:cNvPr id="5" name="Shape 3"/>
          <p:cNvSpPr/>
          <p:nvPr/>
        </p:nvSpPr>
        <p:spPr>
          <a:xfrm>
            <a:off x="793790" y="2781419"/>
            <a:ext cx="4241721" cy="22860"/>
          </a:xfrm>
          <a:prstGeom prst="rect">
            <a:avLst/>
          </a:prstGeom>
          <a:solidFill>
            <a:srgbClr val="E5E5E0"/>
          </a:solidFill>
          <a:ln/>
        </p:spPr>
      </p:sp>
      <p:sp>
        <p:nvSpPr>
          <p:cNvPr id="6" name="Text 4"/>
          <p:cNvSpPr/>
          <p:nvPr/>
        </p:nvSpPr>
        <p:spPr>
          <a:xfrm>
            <a:off x="793790" y="2906435"/>
            <a:ext cx="3973473" cy="248007"/>
          </a:xfrm>
          <a:prstGeom prst="rect">
            <a:avLst/>
          </a:prstGeom>
          <a:noFill/>
          <a:ln/>
        </p:spPr>
        <p:txBody>
          <a:bodyPr wrap="none" lIns="0" tIns="0" rIns="0" bIns="0" rtlCol="0" anchor="t"/>
          <a:lstStyle/>
          <a:p>
            <a:pPr marL="0" indent="0" algn="l">
              <a:lnSpc>
                <a:spcPts val="1950"/>
              </a:lnSpc>
              <a:buNone/>
            </a:pPr>
            <a:r>
              <a:rPr lang="en-US" sz="1550" dirty="0">
                <a:solidFill>
                  <a:srgbClr val="272525"/>
                </a:solidFill>
                <a:latin typeface="Gelasio" pitchFamily="34" charset="0"/>
                <a:ea typeface="Gelasio" pitchFamily="34" charset="-122"/>
                <a:cs typeface="Gelasio" pitchFamily="34" charset="-120"/>
              </a:rPr>
              <a:t>Enterprise Resource Planning (ERP) Systems</a:t>
            </a:r>
            <a:endParaRPr lang="en-US" sz="1550" dirty="0"/>
          </a:p>
        </p:txBody>
      </p:sp>
      <p:sp>
        <p:nvSpPr>
          <p:cNvPr id="7" name="Text 5"/>
          <p:cNvSpPr/>
          <p:nvPr/>
        </p:nvSpPr>
        <p:spPr>
          <a:xfrm>
            <a:off x="793790" y="3249692"/>
            <a:ext cx="4241721" cy="2032635"/>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In a large company using a system like SAP or Oracle, thousands of employees need access. An employee in the finance department is assigned the 'Accountant' role. This role automatically grants them access to view financial ledgers, create invoices, and process payments, but not to view HR records or modify production schedules. This ensures role-appropriate access across complex business functions.</a:t>
            </a:r>
            <a:endParaRPr lang="en-US" sz="1250" dirty="0"/>
          </a:p>
        </p:txBody>
      </p:sp>
      <p:sp>
        <p:nvSpPr>
          <p:cNvPr id="8" name="Text 6"/>
          <p:cNvSpPr/>
          <p:nvPr/>
        </p:nvSpPr>
        <p:spPr>
          <a:xfrm>
            <a:off x="5194221" y="2534603"/>
            <a:ext cx="158710" cy="198358"/>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Gelasio Light" pitchFamily="34" charset="0"/>
                <a:ea typeface="Gelasio Light" pitchFamily="34" charset="-122"/>
                <a:cs typeface="Gelasio Light" pitchFamily="34" charset="-120"/>
              </a:rPr>
              <a:t>02</a:t>
            </a:r>
            <a:endParaRPr lang="en-US" sz="1250" dirty="0"/>
          </a:p>
        </p:txBody>
      </p:sp>
      <p:sp>
        <p:nvSpPr>
          <p:cNvPr id="9" name="Shape 7"/>
          <p:cNvSpPr/>
          <p:nvPr/>
        </p:nvSpPr>
        <p:spPr>
          <a:xfrm>
            <a:off x="5194221" y="2781419"/>
            <a:ext cx="4241840" cy="22860"/>
          </a:xfrm>
          <a:prstGeom prst="rect">
            <a:avLst/>
          </a:prstGeom>
          <a:solidFill>
            <a:srgbClr val="E5E5E0"/>
          </a:solidFill>
          <a:ln/>
        </p:spPr>
      </p:sp>
      <p:sp>
        <p:nvSpPr>
          <p:cNvPr id="10" name="Text 8"/>
          <p:cNvSpPr/>
          <p:nvPr/>
        </p:nvSpPr>
        <p:spPr>
          <a:xfrm>
            <a:off x="5194221" y="2906435"/>
            <a:ext cx="2455307" cy="248007"/>
          </a:xfrm>
          <a:prstGeom prst="rect">
            <a:avLst/>
          </a:prstGeom>
          <a:noFill/>
          <a:ln/>
        </p:spPr>
        <p:txBody>
          <a:bodyPr wrap="none" lIns="0" tIns="0" rIns="0" bIns="0" rtlCol="0" anchor="t"/>
          <a:lstStyle/>
          <a:p>
            <a:pPr marL="0" indent="0" algn="l">
              <a:lnSpc>
                <a:spcPts val="1950"/>
              </a:lnSpc>
              <a:buNone/>
            </a:pPr>
            <a:r>
              <a:rPr lang="en-US" sz="1550" dirty="0">
                <a:solidFill>
                  <a:srgbClr val="272525"/>
                </a:solidFill>
                <a:latin typeface="Gelasio" pitchFamily="34" charset="0"/>
                <a:ea typeface="Gelasio" pitchFamily="34" charset="-122"/>
                <a:cs typeface="Gelasio" pitchFamily="34" charset="-120"/>
              </a:rPr>
              <a:t>Cloud Computing Platforms</a:t>
            </a:r>
            <a:endParaRPr lang="en-US" sz="1550" dirty="0"/>
          </a:p>
        </p:txBody>
      </p:sp>
      <p:sp>
        <p:nvSpPr>
          <p:cNvPr id="11" name="Text 9"/>
          <p:cNvSpPr/>
          <p:nvPr/>
        </p:nvSpPr>
        <p:spPr>
          <a:xfrm>
            <a:off x="5194221" y="3249692"/>
            <a:ext cx="4241840" cy="2032635"/>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Services like Amazon Web Services (AWS) and Microsoft Azure rely heavily on RBAC through their Identity and Access Management (IAM) systems. An administrator can create roles like 'Developer', 'DatabaseAdmin', or 'Auditor'. A user assigned the 'Developer' role can spin up and manage virtual machines but cannot change billing information or access sensitive security logs, which are permissions reserved for other roles.</a:t>
            </a:r>
            <a:endParaRPr lang="en-US" sz="1250" dirty="0"/>
          </a:p>
        </p:txBody>
      </p:sp>
      <p:sp>
        <p:nvSpPr>
          <p:cNvPr id="12" name="Text 10"/>
          <p:cNvSpPr/>
          <p:nvPr/>
        </p:nvSpPr>
        <p:spPr>
          <a:xfrm>
            <a:off x="9594771" y="2534603"/>
            <a:ext cx="158710" cy="198358"/>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Gelasio Light" pitchFamily="34" charset="0"/>
                <a:ea typeface="Gelasio Light" pitchFamily="34" charset="-122"/>
                <a:cs typeface="Gelasio Light" pitchFamily="34" charset="-120"/>
              </a:rPr>
              <a:t>03</a:t>
            </a:r>
            <a:endParaRPr lang="en-US" sz="1250" dirty="0"/>
          </a:p>
        </p:txBody>
      </p:sp>
      <p:sp>
        <p:nvSpPr>
          <p:cNvPr id="13" name="Shape 11"/>
          <p:cNvSpPr/>
          <p:nvPr/>
        </p:nvSpPr>
        <p:spPr>
          <a:xfrm>
            <a:off x="9594771" y="2781419"/>
            <a:ext cx="4241721" cy="22860"/>
          </a:xfrm>
          <a:prstGeom prst="rect">
            <a:avLst/>
          </a:prstGeom>
          <a:solidFill>
            <a:srgbClr val="E5E5E0"/>
          </a:solidFill>
          <a:ln/>
        </p:spPr>
      </p:sp>
      <p:sp>
        <p:nvSpPr>
          <p:cNvPr id="14" name="Text 12"/>
          <p:cNvSpPr/>
          <p:nvPr/>
        </p:nvSpPr>
        <p:spPr>
          <a:xfrm>
            <a:off x="9594771" y="2906435"/>
            <a:ext cx="2853095" cy="248007"/>
          </a:xfrm>
          <a:prstGeom prst="rect">
            <a:avLst/>
          </a:prstGeom>
          <a:noFill/>
          <a:ln/>
        </p:spPr>
        <p:txBody>
          <a:bodyPr wrap="none" lIns="0" tIns="0" rIns="0" bIns="0" rtlCol="0" anchor="t"/>
          <a:lstStyle/>
          <a:p>
            <a:pPr marL="0" indent="0" algn="l">
              <a:lnSpc>
                <a:spcPts val="1950"/>
              </a:lnSpc>
              <a:buNone/>
            </a:pPr>
            <a:r>
              <a:rPr lang="en-US" sz="1550" dirty="0">
                <a:solidFill>
                  <a:srgbClr val="272525"/>
                </a:solidFill>
                <a:latin typeface="Gelasio" pitchFamily="34" charset="0"/>
                <a:ea typeface="Gelasio" pitchFamily="34" charset="-122"/>
                <a:cs typeface="Gelasio" pitchFamily="34" charset="-120"/>
              </a:rPr>
              <a:t>Healthcare Information Systems</a:t>
            </a:r>
            <a:endParaRPr lang="en-US" sz="1550" dirty="0"/>
          </a:p>
        </p:txBody>
      </p:sp>
      <p:sp>
        <p:nvSpPr>
          <p:cNvPr id="15" name="Text 13"/>
          <p:cNvSpPr/>
          <p:nvPr/>
        </p:nvSpPr>
        <p:spPr>
          <a:xfrm>
            <a:off x="9594771" y="3249692"/>
            <a:ext cx="4241721" cy="1778556"/>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To comply with regulations like HIPAA, hospitals use RBAC to control access to Electronic Health Records (EHR). A doctor is assigned a 'Physician' role, allowing them to view and modify the records of patients under their care. A 'Billing Clerk' role allows access only to the insurance and payment information associated with a patient, not their clinical diagnoses or treatment history.</a:t>
            </a:r>
            <a:endParaRPr lang="en-US" sz="1250" dirty="0"/>
          </a:p>
        </p:txBody>
      </p:sp>
      <p:sp>
        <p:nvSpPr>
          <p:cNvPr id="16" name="Text 14"/>
          <p:cNvSpPr/>
          <p:nvPr/>
        </p:nvSpPr>
        <p:spPr>
          <a:xfrm>
            <a:off x="793671" y="5961102"/>
            <a:ext cx="13042821" cy="762238"/>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These applications demonstrate RBAC's critical role in maintaining security while ensuring operational efficiency. The model's ability to align permissions with organizational structure and job functions makes it particularly valuable for regulated industries where compliance and audit trails are essential. By implementing RBAC, organizations can ensure that employees access only the minimum necessary information required to perform their jobs, significantly reducing security risks while maintaining productivity.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047274"/>
            <a:ext cx="6471166" cy="496133"/>
          </a:xfrm>
          <a:prstGeom prst="rect">
            <a:avLst/>
          </a:prstGeom>
          <a:noFill/>
          <a:ln/>
        </p:spPr>
        <p:txBody>
          <a:bodyPr wrap="none" lIns="0" tIns="0" rIns="0" bIns="0" rtlCol="0" anchor="t"/>
          <a:lstStyle/>
          <a:p>
            <a:pPr marL="0" indent="0" algn="l">
              <a:lnSpc>
                <a:spcPts val="3900"/>
              </a:lnSpc>
              <a:buNone/>
            </a:pPr>
            <a:r>
              <a:rPr lang="en-US" sz="3100" dirty="0">
                <a:solidFill>
                  <a:srgbClr val="312F2B"/>
                </a:solidFill>
                <a:latin typeface="Gelasio" pitchFamily="34" charset="0"/>
                <a:ea typeface="Gelasio" pitchFamily="34" charset="-122"/>
                <a:cs typeface="Gelasio" pitchFamily="34" charset="-120"/>
              </a:rPr>
              <a:t>Comparative Analysis: DAC vs RBAC</a:t>
            </a:r>
            <a:endParaRPr lang="en-US" sz="3100" dirty="0"/>
          </a:p>
        </p:txBody>
      </p:sp>
      <p:sp>
        <p:nvSpPr>
          <p:cNvPr id="3" name="Text 1"/>
          <p:cNvSpPr/>
          <p:nvPr/>
        </p:nvSpPr>
        <p:spPr>
          <a:xfrm>
            <a:off x="793790" y="1860947"/>
            <a:ext cx="13042821" cy="508159"/>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Understanding the fundamental differences between Discretionary Access Control (DAC) and Role-Based Access Control (RBAC) is crucial for designing effective security architectures. While both manage access to resources, their underlying principles, management approaches, and suitability for different environments vary significantly.</a:t>
            </a:r>
            <a:endParaRPr lang="en-US" sz="1250" dirty="0"/>
          </a:p>
        </p:txBody>
      </p:sp>
      <p:sp>
        <p:nvSpPr>
          <p:cNvPr id="4" name="Shape 2"/>
          <p:cNvSpPr/>
          <p:nvPr/>
        </p:nvSpPr>
        <p:spPr>
          <a:xfrm>
            <a:off x="793790" y="2547699"/>
            <a:ext cx="13042821" cy="3947874"/>
          </a:xfrm>
          <a:prstGeom prst="roundRect">
            <a:avLst>
              <a:gd name="adj" fmla="val 1689"/>
            </a:avLst>
          </a:prstGeom>
          <a:noFill/>
          <a:ln w="7620">
            <a:solidFill>
              <a:srgbClr val="000000">
                <a:alpha val="8000"/>
              </a:srgbClr>
            </a:solidFill>
            <a:prstDash val="solid"/>
          </a:ln>
        </p:spPr>
      </p:sp>
      <p:sp>
        <p:nvSpPr>
          <p:cNvPr id="5" name="Shape 3"/>
          <p:cNvSpPr/>
          <p:nvPr/>
        </p:nvSpPr>
        <p:spPr>
          <a:xfrm>
            <a:off x="801410" y="2555319"/>
            <a:ext cx="13026271" cy="459819"/>
          </a:xfrm>
          <a:prstGeom prst="rect">
            <a:avLst/>
          </a:prstGeom>
          <a:solidFill>
            <a:srgbClr val="FFFFFF">
              <a:alpha val="4000"/>
            </a:srgbClr>
          </a:solidFill>
          <a:ln/>
        </p:spPr>
      </p:sp>
      <p:sp>
        <p:nvSpPr>
          <p:cNvPr id="6" name="Text 4"/>
          <p:cNvSpPr/>
          <p:nvPr/>
        </p:nvSpPr>
        <p:spPr>
          <a:xfrm>
            <a:off x="961549" y="2658189"/>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Control Locus</a:t>
            </a:r>
            <a:endParaRPr lang="en-US" sz="1250" dirty="0"/>
          </a:p>
        </p:txBody>
      </p:sp>
      <p:sp>
        <p:nvSpPr>
          <p:cNvPr id="7" name="Text 5"/>
          <p:cNvSpPr/>
          <p:nvPr/>
        </p:nvSpPr>
        <p:spPr>
          <a:xfrm>
            <a:off x="5306973" y="2658189"/>
            <a:ext cx="401657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Resource owners</a:t>
            </a:r>
            <a:endParaRPr lang="en-US" sz="1250" dirty="0"/>
          </a:p>
        </p:txBody>
      </p:sp>
      <p:sp>
        <p:nvSpPr>
          <p:cNvPr id="8" name="Text 6"/>
          <p:cNvSpPr/>
          <p:nvPr/>
        </p:nvSpPr>
        <p:spPr>
          <a:xfrm>
            <a:off x="9648587" y="2658189"/>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Centralized administrators</a:t>
            </a:r>
            <a:endParaRPr lang="en-US" sz="1250" dirty="0"/>
          </a:p>
        </p:txBody>
      </p:sp>
      <p:sp>
        <p:nvSpPr>
          <p:cNvPr id="9" name="Shape 7"/>
          <p:cNvSpPr/>
          <p:nvPr/>
        </p:nvSpPr>
        <p:spPr>
          <a:xfrm>
            <a:off x="801410" y="3015139"/>
            <a:ext cx="13026271" cy="459819"/>
          </a:xfrm>
          <a:prstGeom prst="rect">
            <a:avLst/>
          </a:prstGeom>
          <a:solidFill>
            <a:srgbClr val="000000">
              <a:alpha val="4000"/>
            </a:srgbClr>
          </a:solidFill>
          <a:ln/>
        </p:spPr>
      </p:sp>
      <p:sp>
        <p:nvSpPr>
          <p:cNvPr id="10" name="Text 8"/>
          <p:cNvSpPr/>
          <p:nvPr/>
        </p:nvSpPr>
        <p:spPr>
          <a:xfrm>
            <a:off x="961549" y="3118009"/>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Access Basis</a:t>
            </a:r>
            <a:endParaRPr lang="en-US" sz="1250" dirty="0"/>
          </a:p>
        </p:txBody>
      </p:sp>
      <p:sp>
        <p:nvSpPr>
          <p:cNvPr id="11" name="Text 9"/>
          <p:cNvSpPr/>
          <p:nvPr/>
        </p:nvSpPr>
        <p:spPr>
          <a:xfrm>
            <a:off x="5306973" y="3118009"/>
            <a:ext cx="401657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User identity and specific permissions (ACLs)</a:t>
            </a:r>
            <a:endParaRPr lang="en-US" sz="1250" dirty="0"/>
          </a:p>
        </p:txBody>
      </p:sp>
      <p:sp>
        <p:nvSpPr>
          <p:cNvPr id="12" name="Text 10"/>
          <p:cNvSpPr/>
          <p:nvPr/>
        </p:nvSpPr>
        <p:spPr>
          <a:xfrm>
            <a:off x="9648587" y="3118009"/>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User's assigned roles</a:t>
            </a:r>
            <a:endParaRPr lang="en-US" sz="1250" dirty="0"/>
          </a:p>
        </p:txBody>
      </p:sp>
      <p:sp>
        <p:nvSpPr>
          <p:cNvPr id="13" name="Shape 11"/>
          <p:cNvSpPr/>
          <p:nvPr/>
        </p:nvSpPr>
        <p:spPr>
          <a:xfrm>
            <a:off x="801410" y="3474958"/>
            <a:ext cx="13026271" cy="459819"/>
          </a:xfrm>
          <a:prstGeom prst="rect">
            <a:avLst/>
          </a:prstGeom>
          <a:solidFill>
            <a:srgbClr val="FFFFFF">
              <a:alpha val="4000"/>
            </a:srgbClr>
          </a:solidFill>
          <a:ln/>
        </p:spPr>
      </p:sp>
      <p:sp>
        <p:nvSpPr>
          <p:cNvPr id="14" name="Text 12"/>
          <p:cNvSpPr/>
          <p:nvPr/>
        </p:nvSpPr>
        <p:spPr>
          <a:xfrm>
            <a:off x="961549" y="3577828"/>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Primary Mechanism</a:t>
            </a:r>
            <a:endParaRPr lang="en-US" sz="1250" dirty="0"/>
          </a:p>
        </p:txBody>
      </p:sp>
      <p:sp>
        <p:nvSpPr>
          <p:cNvPr id="15" name="Text 13"/>
          <p:cNvSpPr/>
          <p:nvPr/>
        </p:nvSpPr>
        <p:spPr>
          <a:xfrm>
            <a:off x="5306973" y="3577828"/>
            <a:ext cx="401657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Access Control Lists (ACLs) or Capability Lists</a:t>
            </a:r>
            <a:endParaRPr lang="en-US" sz="1250" dirty="0"/>
          </a:p>
        </p:txBody>
      </p:sp>
      <p:sp>
        <p:nvSpPr>
          <p:cNvPr id="16" name="Text 14"/>
          <p:cNvSpPr/>
          <p:nvPr/>
        </p:nvSpPr>
        <p:spPr>
          <a:xfrm>
            <a:off x="9648587" y="3577828"/>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Role assignments and permission sets</a:t>
            </a:r>
            <a:endParaRPr lang="en-US" sz="1250" dirty="0"/>
          </a:p>
        </p:txBody>
      </p:sp>
      <p:sp>
        <p:nvSpPr>
          <p:cNvPr id="17" name="Shape 15"/>
          <p:cNvSpPr/>
          <p:nvPr/>
        </p:nvSpPr>
        <p:spPr>
          <a:xfrm>
            <a:off x="801410" y="3934778"/>
            <a:ext cx="13026271" cy="713899"/>
          </a:xfrm>
          <a:prstGeom prst="rect">
            <a:avLst/>
          </a:prstGeom>
          <a:solidFill>
            <a:srgbClr val="000000">
              <a:alpha val="4000"/>
            </a:srgbClr>
          </a:solidFill>
          <a:ln/>
        </p:spPr>
      </p:sp>
      <p:sp>
        <p:nvSpPr>
          <p:cNvPr id="18" name="Text 16"/>
          <p:cNvSpPr/>
          <p:nvPr/>
        </p:nvSpPr>
        <p:spPr>
          <a:xfrm>
            <a:off x="961549" y="4037648"/>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Flexibility</a:t>
            </a:r>
            <a:endParaRPr lang="en-US" sz="1250" dirty="0"/>
          </a:p>
        </p:txBody>
      </p:sp>
      <p:sp>
        <p:nvSpPr>
          <p:cNvPr id="19" name="Text 17"/>
          <p:cNvSpPr/>
          <p:nvPr/>
        </p:nvSpPr>
        <p:spPr>
          <a:xfrm>
            <a:off x="5306973" y="4037648"/>
            <a:ext cx="401657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High (individual user control, but complex)</a:t>
            </a:r>
            <a:endParaRPr lang="en-US" sz="1250" dirty="0"/>
          </a:p>
        </p:txBody>
      </p:sp>
      <p:sp>
        <p:nvSpPr>
          <p:cNvPr id="20" name="Text 18"/>
          <p:cNvSpPr/>
          <p:nvPr/>
        </p:nvSpPr>
        <p:spPr>
          <a:xfrm>
            <a:off x="9648587" y="4037648"/>
            <a:ext cx="4020383" cy="508159"/>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Moderate to High (role abstraction simplifies management)</a:t>
            </a:r>
            <a:endParaRPr lang="en-US" sz="1250" dirty="0"/>
          </a:p>
        </p:txBody>
      </p:sp>
      <p:sp>
        <p:nvSpPr>
          <p:cNvPr id="21" name="Shape 19"/>
          <p:cNvSpPr/>
          <p:nvPr/>
        </p:nvSpPr>
        <p:spPr>
          <a:xfrm>
            <a:off x="801410" y="4648676"/>
            <a:ext cx="13026271" cy="459819"/>
          </a:xfrm>
          <a:prstGeom prst="rect">
            <a:avLst/>
          </a:prstGeom>
          <a:solidFill>
            <a:srgbClr val="FFFFFF">
              <a:alpha val="4000"/>
            </a:srgbClr>
          </a:solidFill>
          <a:ln/>
        </p:spPr>
      </p:sp>
      <p:sp>
        <p:nvSpPr>
          <p:cNvPr id="22" name="Text 20"/>
          <p:cNvSpPr/>
          <p:nvPr/>
        </p:nvSpPr>
        <p:spPr>
          <a:xfrm>
            <a:off x="961549" y="4751546"/>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Scalability</a:t>
            </a:r>
            <a:endParaRPr lang="en-US" sz="1250" dirty="0"/>
          </a:p>
        </p:txBody>
      </p:sp>
      <p:sp>
        <p:nvSpPr>
          <p:cNvPr id="23" name="Text 21"/>
          <p:cNvSpPr/>
          <p:nvPr/>
        </p:nvSpPr>
        <p:spPr>
          <a:xfrm>
            <a:off x="5306973" y="4751546"/>
            <a:ext cx="401657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Poor for large organizations</a:t>
            </a:r>
            <a:endParaRPr lang="en-US" sz="1250" dirty="0"/>
          </a:p>
        </p:txBody>
      </p:sp>
      <p:sp>
        <p:nvSpPr>
          <p:cNvPr id="24" name="Text 22"/>
          <p:cNvSpPr/>
          <p:nvPr/>
        </p:nvSpPr>
        <p:spPr>
          <a:xfrm>
            <a:off x="9648587" y="4751546"/>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Excellent for large organizations</a:t>
            </a:r>
            <a:endParaRPr lang="en-US" sz="1250" dirty="0"/>
          </a:p>
        </p:txBody>
      </p:sp>
      <p:sp>
        <p:nvSpPr>
          <p:cNvPr id="25" name="Shape 23"/>
          <p:cNvSpPr/>
          <p:nvPr/>
        </p:nvSpPr>
        <p:spPr>
          <a:xfrm>
            <a:off x="801410" y="5108496"/>
            <a:ext cx="13026271" cy="459819"/>
          </a:xfrm>
          <a:prstGeom prst="rect">
            <a:avLst/>
          </a:prstGeom>
          <a:solidFill>
            <a:srgbClr val="000000">
              <a:alpha val="4000"/>
            </a:srgbClr>
          </a:solidFill>
          <a:ln/>
        </p:spPr>
      </p:sp>
      <p:sp>
        <p:nvSpPr>
          <p:cNvPr id="26" name="Text 24"/>
          <p:cNvSpPr/>
          <p:nvPr/>
        </p:nvSpPr>
        <p:spPr>
          <a:xfrm>
            <a:off x="961549" y="5211366"/>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Security Principles</a:t>
            </a:r>
            <a:endParaRPr lang="en-US" sz="1250" dirty="0"/>
          </a:p>
        </p:txBody>
      </p:sp>
      <p:sp>
        <p:nvSpPr>
          <p:cNvPr id="27" name="Text 25"/>
          <p:cNvSpPr/>
          <p:nvPr/>
        </p:nvSpPr>
        <p:spPr>
          <a:xfrm>
            <a:off x="5306973" y="5211366"/>
            <a:ext cx="401657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Difficult to enforce least privilege consistently</a:t>
            </a:r>
            <a:endParaRPr lang="en-US" sz="1250" dirty="0"/>
          </a:p>
        </p:txBody>
      </p:sp>
      <p:sp>
        <p:nvSpPr>
          <p:cNvPr id="28" name="Text 26"/>
          <p:cNvSpPr/>
          <p:nvPr/>
        </p:nvSpPr>
        <p:spPr>
          <a:xfrm>
            <a:off x="9648587" y="5211366"/>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Easily enforces least privilege and separation of duties</a:t>
            </a:r>
            <a:endParaRPr lang="en-US" sz="1250" dirty="0"/>
          </a:p>
        </p:txBody>
      </p:sp>
      <p:sp>
        <p:nvSpPr>
          <p:cNvPr id="29" name="Shape 27"/>
          <p:cNvSpPr/>
          <p:nvPr/>
        </p:nvSpPr>
        <p:spPr>
          <a:xfrm>
            <a:off x="801410" y="5568315"/>
            <a:ext cx="13026271" cy="459819"/>
          </a:xfrm>
          <a:prstGeom prst="rect">
            <a:avLst/>
          </a:prstGeom>
          <a:solidFill>
            <a:srgbClr val="FFFFFF">
              <a:alpha val="4000"/>
            </a:srgbClr>
          </a:solidFill>
          <a:ln/>
        </p:spPr>
      </p:sp>
      <p:sp>
        <p:nvSpPr>
          <p:cNvPr id="30" name="Text 28"/>
          <p:cNvSpPr/>
          <p:nvPr/>
        </p:nvSpPr>
        <p:spPr>
          <a:xfrm>
            <a:off x="961549" y="5671185"/>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Policy Enforcement</a:t>
            </a:r>
            <a:endParaRPr lang="en-US" sz="1250" dirty="0"/>
          </a:p>
        </p:txBody>
      </p:sp>
      <p:sp>
        <p:nvSpPr>
          <p:cNvPr id="31" name="Text 29"/>
          <p:cNvSpPr/>
          <p:nvPr/>
        </p:nvSpPr>
        <p:spPr>
          <a:xfrm>
            <a:off x="5306973" y="5671185"/>
            <a:ext cx="401657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Decentralized, relies on resource owners</a:t>
            </a:r>
            <a:endParaRPr lang="en-US" sz="1250" dirty="0"/>
          </a:p>
        </p:txBody>
      </p:sp>
      <p:sp>
        <p:nvSpPr>
          <p:cNvPr id="32" name="Text 30"/>
          <p:cNvSpPr/>
          <p:nvPr/>
        </p:nvSpPr>
        <p:spPr>
          <a:xfrm>
            <a:off x="9648587" y="5671185"/>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Centralized, defined by security policy</a:t>
            </a:r>
            <a:endParaRPr lang="en-US" sz="1250" dirty="0"/>
          </a:p>
        </p:txBody>
      </p:sp>
      <p:sp>
        <p:nvSpPr>
          <p:cNvPr id="33" name="Shape 31"/>
          <p:cNvSpPr/>
          <p:nvPr/>
        </p:nvSpPr>
        <p:spPr>
          <a:xfrm>
            <a:off x="801410" y="6028134"/>
            <a:ext cx="13026271" cy="459819"/>
          </a:xfrm>
          <a:prstGeom prst="rect">
            <a:avLst/>
          </a:prstGeom>
          <a:solidFill>
            <a:srgbClr val="000000">
              <a:alpha val="4000"/>
            </a:srgbClr>
          </a:solidFill>
          <a:ln/>
        </p:spPr>
      </p:sp>
      <p:sp>
        <p:nvSpPr>
          <p:cNvPr id="34" name="Text 32"/>
          <p:cNvSpPr/>
          <p:nvPr/>
        </p:nvSpPr>
        <p:spPr>
          <a:xfrm>
            <a:off x="961549" y="6131004"/>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Typical Environments</a:t>
            </a:r>
            <a:endParaRPr lang="en-US" sz="1250" dirty="0"/>
          </a:p>
        </p:txBody>
      </p:sp>
      <p:sp>
        <p:nvSpPr>
          <p:cNvPr id="35" name="Text 33"/>
          <p:cNvSpPr/>
          <p:nvPr/>
        </p:nvSpPr>
        <p:spPr>
          <a:xfrm>
            <a:off x="5306973" y="6131004"/>
            <a:ext cx="401657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Smaller systems, personal computers, specific file systems</a:t>
            </a:r>
            <a:endParaRPr lang="en-US" sz="1250" dirty="0"/>
          </a:p>
        </p:txBody>
      </p:sp>
      <p:sp>
        <p:nvSpPr>
          <p:cNvPr id="36" name="Text 34"/>
          <p:cNvSpPr/>
          <p:nvPr/>
        </p:nvSpPr>
        <p:spPr>
          <a:xfrm>
            <a:off x="9648587" y="6131004"/>
            <a:ext cx="4020383"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Enterprise systems, cloud platforms, regulated industries</a:t>
            </a:r>
            <a:endParaRPr lang="en-US" sz="1250" dirty="0"/>
          </a:p>
        </p:txBody>
      </p:sp>
      <p:sp>
        <p:nvSpPr>
          <p:cNvPr id="37" name="Text 35"/>
          <p:cNvSpPr/>
          <p:nvPr/>
        </p:nvSpPr>
        <p:spPr>
          <a:xfrm>
            <a:off x="793790" y="6674168"/>
            <a:ext cx="13042821" cy="508159"/>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Lato" pitchFamily="34" charset="0"/>
                <a:ea typeface="Lato" pitchFamily="34" charset="-122"/>
                <a:cs typeface="Lato" pitchFamily="34" charset="-120"/>
              </a:rPr>
              <a:t>Choosing between DAC and RBAC often depends on the organizational scale, complexity of access requirements, and the need for centralized policy enforcement. RBAC is generally preferred in modern enterprise environments due to its superior scalability and ease of management for enforcing robust security policies.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672584"/>
            <a:ext cx="4442698" cy="403146"/>
          </a:xfrm>
          <a:prstGeom prst="rect">
            <a:avLst/>
          </a:prstGeom>
          <a:noFill/>
          <a:ln/>
        </p:spPr>
        <p:txBody>
          <a:bodyPr wrap="none" lIns="0" tIns="0" rIns="0" bIns="0" rtlCol="0" anchor="t"/>
          <a:lstStyle/>
          <a:p>
            <a:pPr marL="0" indent="0" algn="l">
              <a:lnSpc>
                <a:spcPts val="3150"/>
              </a:lnSpc>
              <a:buNone/>
            </a:pPr>
            <a:r>
              <a:rPr lang="en-US" sz="2800" dirty="0">
                <a:solidFill>
                  <a:srgbClr val="312F2B"/>
                </a:solidFill>
                <a:latin typeface="Gelasio" pitchFamily="34" charset="0"/>
                <a:ea typeface="Gelasio" pitchFamily="34" charset="-122"/>
                <a:cs typeface="Gelasio" pitchFamily="34" charset="-120"/>
              </a:rPr>
              <a:t>Hybrid Models and Integration</a:t>
            </a:r>
            <a:endParaRPr lang="en-US" sz="2800" dirty="0"/>
          </a:p>
        </p:txBody>
      </p:sp>
      <p:sp>
        <p:nvSpPr>
          <p:cNvPr id="3" name="Text 1"/>
          <p:cNvSpPr/>
          <p:nvPr/>
        </p:nvSpPr>
        <p:spPr>
          <a:xfrm>
            <a:off x="793790" y="1333738"/>
            <a:ext cx="13042821" cy="412909"/>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Lato" pitchFamily="34" charset="0"/>
                <a:ea typeface="Lato" pitchFamily="34" charset="-122"/>
                <a:cs typeface="Lato" pitchFamily="34" charset="-120"/>
              </a:rPr>
              <a:t>In practice, many robust security architectures combine elements of both Discretionary Access Control (DAC) and Role-Based Access Control (RBAC) to leverage the strengths of each model. These "hybrid models" offer greater flexibility, fine-grained control, and scalability, addressing complex security requirements that neither model can fully achieve on its own.</a:t>
            </a:r>
            <a:endParaRPr lang="en-US" sz="1000" dirty="0"/>
          </a:p>
        </p:txBody>
      </p:sp>
      <p:grpSp>
        <p:nvGrpSpPr>
          <p:cNvPr id="42" name="Group 41">
            <a:extLst>
              <a:ext uri="{FF2B5EF4-FFF2-40B4-BE49-F238E27FC236}">
                <a16:creationId xmlns:a16="http://schemas.microsoft.com/office/drawing/2014/main" id="{C9603313-EE1D-2624-0403-F24614C309A2}"/>
              </a:ext>
            </a:extLst>
          </p:cNvPr>
          <p:cNvGrpSpPr/>
          <p:nvPr/>
        </p:nvGrpSpPr>
        <p:grpSpPr>
          <a:xfrm>
            <a:off x="793790" y="2315348"/>
            <a:ext cx="4240054" cy="1768317"/>
            <a:chOff x="793790" y="1891665"/>
            <a:chExt cx="4240054" cy="1768317"/>
          </a:xfrm>
        </p:grpSpPr>
        <p:sp>
          <p:nvSpPr>
            <p:cNvPr id="4" name="Shape 2"/>
            <p:cNvSpPr/>
            <p:nvPr/>
          </p:nvSpPr>
          <p:spPr>
            <a:xfrm>
              <a:off x="793790" y="1891665"/>
              <a:ext cx="290155" cy="290155"/>
            </a:xfrm>
            <a:prstGeom prst="roundRect">
              <a:avLst>
                <a:gd name="adj" fmla="val 18674"/>
              </a:avLst>
            </a:prstGeom>
            <a:solidFill>
              <a:srgbClr val="E8E8E3"/>
            </a:solidFill>
            <a:ln w="7620">
              <a:solidFill>
                <a:srgbClr val="CECEC9"/>
              </a:solidFill>
              <a:prstDash val="solid"/>
            </a:ln>
          </p:spPr>
        </p:sp>
        <p:sp>
          <p:nvSpPr>
            <p:cNvPr id="5" name="Text 3"/>
            <p:cNvSpPr/>
            <p:nvPr/>
          </p:nvSpPr>
          <p:spPr>
            <a:xfrm>
              <a:off x="842070" y="1915775"/>
              <a:ext cx="193477" cy="241816"/>
            </a:xfrm>
            <a:prstGeom prst="rect">
              <a:avLst/>
            </a:prstGeom>
            <a:noFill/>
            <a:ln/>
          </p:spPr>
          <p:txBody>
            <a:bodyPr wrap="none" lIns="0" tIns="0" rIns="0" bIns="0" rtlCol="0" anchor="t"/>
            <a:lstStyle/>
            <a:p>
              <a:pPr marL="0" indent="0" algn="ctr">
                <a:lnSpc>
                  <a:spcPts val="1500"/>
                </a:lnSpc>
                <a:buNone/>
              </a:pPr>
              <a:r>
                <a:rPr lang="en-US" sz="1500" dirty="0">
                  <a:solidFill>
                    <a:srgbClr val="272525"/>
                  </a:solidFill>
                  <a:latin typeface="Gelasio" pitchFamily="34" charset="0"/>
                  <a:ea typeface="Gelasio" pitchFamily="34" charset="-122"/>
                  <a:cs typeface="Gelasio" pitchFamily="34" charset="-120"/>
                </a:rPr>
                <a:t>1</a:t>
              </a:r>
              <a:endParaRPr lang="en-US" sz="1500" dirty="0"/>
            </a:p>
          </p:txBody>
        </p:sp>
        <p:sp>
          <p:nvSpPr>
            <p:cNvPr id="6" name="Text 4"/>
            <p:cNvSpPr/>
            <p:nvPr/>
          </p:nvSpPr>
          <p:spPr>
            <a:xfrm>
              <a:off x="1212890" y="1935956"/>
              <a:ext cx="2690098" cy="201454"/>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Combining DAC and RBAC Principles</a:t>
              </a:r>
              <a:endParaRPr lang="en-US" sz="1250" dirty="0"/>
            </a:p>
          </p:txBody>
        </p:sp>
        <p:sp>
          <p:nvSpPr>
            <p:cNvPr id="7" name="Text 5"/>
            <p:cNvSpPr/>
            <p:nvPr/>
          </p:nvSpPr>
          <p:spPr>
            <a:xfrm>
              <a:off x="1212890" y="2214801"/>
              <a:ext cx="3820954" cy="1445181"/>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Lato" pitchFamily="34" charset="0"/>
                  <a:ea typeface="Lato" pitchFamily="34" charset="-122"/>
                  <a:cs typeface="Lato" pitchFamily="34" charset="-120"/>
                </a:rPr>
                <a:t>Hybrid models integrate DAC's fine-grained, owner-controlled permissions with RBAC's policy-driven, role-based assignments. This often involves using RBAC for broad organizational access policies and DAC for specific, localized resource control. For example, a user's role might grant access to a project folder (RBAC), but within that folder, the document owner can set specific read/write permissions for individual users or groups (DAC).</a:t>
              </a:r>
              <a:endParaRPr lang="en-US" sz="1000" dirty="0"/>
            </a:p>
          </p:txBody>
        </p:sp>
      </p:grpSp>
      <p:grpSp>
        <p:nvGrpSpPr>
          <p:cNvPr id="41" name="Group 40">
            <a:extLst>
              <a:ext uri="{FF2B5EF4-FFF2-40B4-BE49-F238E27FC236}">
                <a16:creationId xmlns:a16="http://schemas.microsoft.com/office/drawing/2014/main" id="{12068BD7-B17B-905C-93B3-A30C33F1F098}"/>
              </a:ext>
            </a:extLst>
          </p:cNvPr>
          <p:cNvGrpSpPr/>
          <p:nvPr/>
        </p:nvGrpSpPr>
        <p:grpSpPr>
          <a:xfrm>
            <a:off x="5236488" y="2291238"/>
            <a:ext cx="4240173" cy="1974771"/>
            <a:chOff x="5195054" y="1891665"/>
            <a:chExt cx="4240173" cy="1974771"/>
          </a:xfrm>
        </p:grpSpPr>
        <p:sp>
          <p:nvSpPr>
            <p:cNvPr id="8" name="Shape 6"/>
            <p:cNvSpPr/>
            <p:nvPr/>
          </p:nvSpPr>
          <p:spPr>
            <a:xfrm>
              <a:off x="5195054" y="1891665"/>
              <a:ext cx="290155" cy="290155"/>
            </a:xfrm>
            <a:prstGeom prst="roundRect">
              <a:avLst>
                <a:gd name="adj" fmla="val 18674"/>
              </a:avLst>
            </a:prstGeom>
            <a:solidFill>
              <a:srgbClr val="E8E8E3"/>
            </a:solidFill>
            <a:ln w="7620">
              <a:solidFill>
                <a:srgbClr val="CECEC9"/>
              </a:solidFill>
              <a:prstDash val="solid"/>
            </a:ln>
          </p:spPr>
        </p:sp>
        <p:sp>
          <p:nvSpPr>
            <p:cNvPr id="9" name="Text 7"/>
            <p:cNvSpPr/>
            <p:nvPr/>
          </p:nvSpPr>
          <p:spPr>
            <a:xfrm>
              <a:off x="5243334" y="1915775"/>
              <a:ext cx="193477" cy="241816"/>
            </a:xfrm>
            <a:prstGeom prst="rect">
              <a:avLst/>
            </a:prstGeom>
            <a:noFill/>
            <a:ln/>
          </p:spPr>
          <p:txBody>
            <a:bodyPr wrap="none" lIns="0" tIns="0" rIns="0" bIns="0" rtlCol="0" anchor="t"/>
            <a:lstStyle/>
            <a:p>
              <a:pPr marL="0" indent="0" algn="ctr">
                <a:lnSpc>
                  <a:spcPts val="1500"/>
                </a:lnSpc>
                <a:buNone/>
              </a:pPr>
              <a:r>
                <a:rPr lang="en-US" sz="1500" dirty="0">
                  <a:solidFill>
                    <a:srgbClr val="272525"/>
                  </a:solidFill>
                  <a:latin typeface="Gelasio" pitchFamily="34" charset="0"/>
                  <a:ea typeface="Gelasio" pitchFamily="34" charset="-122"/>
                  <a:cs typeface="Gelasio" pitchFamily="34" charset="-120"/>
                </a:rPr>
                <a:t>2</a:t>
              </a:r>
              <a:endParaRPr lang="en-US" sz="1500" dirty="0"/>
            </a:p>
          </p:txBody>
        </p:sp>
        <p:sp>
          <p:nvSpPr>
            <p:cNvPr id="10" name="Text 8"/>
            <p:cNvSpPr/>
            <p:nvPr/>
          </p:nvSpPr>
          <p:spPr>
            <a:xfrm>
              <a:off x="5614154" y="1935956"/>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Example: SELinux</a:t>
              </a:r>
              <a:endParaRPr lang="en-US" sz="1250" dirty="0"/>
            </a:p>
          </p:txBody>
        </p:sp>
        <p:sp>
          <p:nvSpPr>
            <p:cNvPr id="11" name="Text 9"/>
            <p:cNvSpPr/>
            <p:nvPr/>
          </p:nvSpPr>
          <p:spPr>
            <a:xfrm>
              <a:off x="5614154" y="2214801"/>
              <a:ext cx="3821073" cy="1651635"/>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Lato" pitchFamily="34" charset="0"/>
                  <a:ea typeface="Lato" pitchFamily="34" charset="-122"/>
                  <a:cs typeface="Lato" pitchFamily="34" charset="-120"/>
                </a:rPr>
                <a:t>Security-Enhanced Linux (SELinux) is a prominent example of a hybrid access control model. It incorporates a combination of MAC (Mandatory Access Control, which can be seen as a strict, centralized form of access control) alongside traditional Linux DAC. SELinux labels processes and files with security contexts, and a policy dictates how these contexts can interact, providing a powerful layer of enforcement beyond standard user/group permissions.</a:t>
              </a:r>
              <a:endParaRPr lang="en-US" sz="1000" dirty="0"/>
            </a:p>
          </p:txBody>
        </p:sp>
      </p:grpSp>
      <p:sp>
        <p:nvSpPr>
          <p:cNvPr id="12" name="Shape 10"/>
          <p:cNvSpPr/>
          <p:nvPr/>
        </p:nvSpPr>
        <p:spPr>
          <a:xfrm>
            <a:off x="9596438" y="1891665"/>
            <a:ext cx="290155" cy="290155"/>
          </a:xfrm>
          <a:prstGeom prst="roundRect">
            <a:avLst>
              <a:gd name="adj" fmla="val 18674"/>
            </a:avLst>
          </a:prstGeom>
          <a:solidFill>
            <a:srgbClr val="E8E8E3"/>
          </a:solidFill>
          <a:ln w="7620">
            <a:solidFill>
              <a:srgbClr val="CECEC9"/>
            </a:solidFill>
            <a:prstDash val="solid"/>
          </a:ln>
        </p:spPr>
      </p:sp>
      <p:sp>
        <p:nvSpPr>
          <p:cNvPr id="13" name="Text 11"/>
          <p:cNvSpPr/>
          <p:nvPr/>
        </p:nvSpPr>
        <p:spPr>
          <a:xfrm>
            <a:off x="9644717" y="1915775"/>
            <a:ext cx="193477" cy="241816"/>
          </a:xfrm>
          <a:prstGeom prst="rect">
            <a:avLst/>
          </a:prstGeom>
          <a:noFill/>
          <a:ln/>
        </p:spPr>
        <p:txBody>
          <a:bodyPr wrap="none" lIns="0" tIns="0" rIns="0" bIns="0" rtlCol="0" anchor="t"/>
          <a:lstStyle/>
          <a:p>
            <a:pPr marL="0" indent="0" algn="ctr">
              <a:lnSpc>
                <a:spcPts val="1500"/>
              </a:lnSpc>
              <a:buNone/>
            </a:pPr>
            <a:r>
              <a:rPr lang="en-US" sz="1500" dirty="0">
                <a:solidFill>
                  <a:srgbClr val="272525"/>
                </a:solidFill>
                <a:latin typeface="Gelasio" pitchFamily="34" charset="0"/>
                <a:ea typeface="Gelasio" pitchFamily="34" charset="-122"/>
                <a:cs typeface="Gelasio" pitchFamily="34" charset="-120"/>
              </a:rPr>
              <a:t>3</a:t>
            </a:r>
            <a:endParaRPr lang="en-US" sz="1500" dirty="0"/>
          </a:p>
        </p:txBody>
      </p:sp>
      <p:sp>
        <p:nvSpPr>
          <p:cNvPr id="14" name="Text 12"/>
          <p:cNvSpPr/>
          <p:nvPr/>
        </p:nvSpPr>
        <p:spPr>
          <a:xfrm>
            <a:off x="10015538" y="1935956"/>
            <a:ext cx="2427922" cy="201454"/>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Advantages of Hybrid Approaches</a:t>
            </a:r>
            <a:endParaRPr lang="en-US" sz="1250" dirty="0"/>
          </a:p>
        </p:txBody>
      </p:sp>
      <p:sp>
        <p:nvSpPr>
          <p:cNvPr id="15" name="Text 13"/>
          <p:cNvSpPr/>
          <p:nvPr/>
        </p:nvSpPr>
        <p:spPr>
          <a:xfrm>
            <a:off x="10015538" y="2214801"/>
            <a:ext cx="3821073" cy="619363"/>
          </a:xfrm>
          <a:prstGeom prst="rect">
            <a:avLst/>
          </a:prstGeom>
          <a:noFill/>
          <a:ln/>
        </p:spPr>
        <p:txBody>
          <a:bodyPr wrap="square" lIns="0" tIns="0" rIns="0" bIns="0" rtlCol="0" anchor="t"/>
          <a:lstStyle/>
          <a:p>
            <a:pPr marL="342900" indent="-342900" algn="l">
              <a:lnSpc>
                <a:spcPts val="1600"/>
              </a:lnSpc>
              <a:buSzPct val="100000"/>
              <a:buChar char="•"/>
            </a:pPr>
            <a:r>
              <a:rPr lang="en-US" sz="1000" b="1" dirty="0">
                <a:solidFill>
                  <a:srgbClr val="272525"/>
                </a:solidFill>
                <a:latin typeface="Lato" pitchFamily="34" charset="0"/>
                <a:ea typeface="Lato" pitchFamily="34" charset="-122"/>
                <a:cs typeface="Lato" pitchFamily="34" charset="-120"/>
              </a:rPr>
              <a:t>Enhanced Security:</a:t>
            </a:r>
            <a:r>
              <a:rPr lang="en-US" sz="1000" dirty="0">
                <a:solidFill>
                  <a:srgbClr val="272525"/>
                </a:solidFill>
                <a:latin typeface="Lato" pitchFamily="34" charset="0"/>
                <a:ea typeface="Lato" pitchFamily="34" charset="-122"/>
                <a:cs typeface="Lato" pitchFamily="34" charset="-120"/>
              </a:rPr>
              <a:t> By layering different control mechanisms, hybrid models create a defense-in-depth strategy, making it harder for unauthorized access to occur.</a:t>
            </a:r>
            <a:endParaRPr lang="en-US" sz="1000" dirty="0"/>
          </a:p>
        </p:txBody>
      </p:sp>
      <p:sp>
        <p:nvSpPr>
          <p:cNvPr id="16" name="Text 14"/>
          <p:cNvSpPr/>
          <p:nvPr/>
        </p:nvSpPr>
        <p:spPr>
          <a:xfrm>
            <a:off x="10015538" y="2879288"/>
            <a:ext cx="3821073" cy="619363"/>
          </a:xfrm>
          <a:prstGeom prst="rect">
            <a:avLst/>
          </a:prstGeom>
          <a:noFill/>
          <a:ln/>
        </p:spPr>
        <p:txBody>
          <a:bodyPr wrap="square" lIns="0" tIns="0" rIns="0" bIns="0" rtlCol="0" anchor="t"/>
          <a:lstStyle/>
          <a:p>
            <a:pPr marL="342900" indent="-342900" algn="l">
              <a:lnSpc>
                <a:spcPts val="1600"/>
              </a:lnSpc>
              <a:buSzPct val="100000"/>
              <a:buChar char="•"/>
            </a:pPr>
            <a:r>
              <a:rPr lang="en-US" sz="1000" b="1" dirty="0">
                <a:solidFill>
                  <a:srgbClr val="272525"/>
                </a:solidFill>
                <a:latin typeface="Lato" pitchFamily="34" charset="0"/>
                <a:ea typeface="Lato" pitchFamily="34" charset="-122"/>
                <a:cs typeface="Lato" pitchFamily="34" charset="-120"/>
              </a:rPr>
              <a:t>Greater Flexibility:</a:t>
            </a:r>
            <a:r>
              <a:rPr lang="en-US" sz="1000" dirty="0">
                <a:solidFill>
                  <a:srgbClr val="272525"/>
                </a:solidFill>
                <a:latin typeface="Lato" pitchFamily="34" charset="0"/>
                <a:ea typeface="Lato" pitchFamily="34" charset="-122"/>
                <a:cs typeface="Lato" pitchFamily="34" charset="-120"/>
              </a:rPr>
              <a:t> They allow organizations to define high-level policies through RBAC while still enabling granular, resource-specific control where needed via DAC.</a:t>
            </a:r>
            <a:endParaRPr lang="en-US" sz="1000" dirty="0"/>
          </a:p>
        </p:txBody>
      </p:sp>
      <p:sp>
        <p:nvSpPr>
          <p:cNvPr id="17" name="Text 15"/>
          <p:cNvSpPr/>
          <p:nvPr/>
        </p:nvSpPr>
        <p:spPr>
          <a:xfrm>
            <a:off x="10015538" y="3543776"/>
            <a:ext cx="3821073" cy="619363"/>
          </a:xfrm>
          <a:prstGeom prst="rect">
            <a:avLst/>
          </a:prstGeom>
          <a:noFill/>
          <a:ln/>
        </p:spPr>
        <p:txBody>
          <a:bodyPr wrap="square" lIns="0" tIns="0" rIns="0" bIns="0" rtlCol="0" anchor="t"/>
          <a:lstStyle/>
          <a:p>
            <a:pPr marL="342900" indent="-342900" algn="l">
              <a:lnSpc>
                <a:spcPts val="1600"/>
              </a:lnSpc>
              <a:buSzPct val="100000"/>
              <a:buChar char="•"/>
            </a:pPr>
            <a:r>
              <a:rPr lang="en-US" sz="1000" b="1" dirty="0">
                <a:solidFill>
                  <a:srgbClr val="272525"/>
                </a:solidFill>
                <a:latin typeface="Lato" pitchFamily="34" charset="0"/>
                <a:ea typeface="Lato" pitchFamily="34" charset="-122"/>
                <a:cs typeface="Lato" pitchFamily="34" charset="-120"/>
              </a:rPr>
              <a:t>Improved Scalability:</a:t>
            </a:r>
            <a:r>
              <a:rPr lang="en-US" sz="1000" dirty="0">
                <a:solidFill>
                  <a:srgbClr val="272525"/>
                </a:solidFill>
                <a:latin typeface="Lato" pitchFamily="34" charset="0"/>
                <a:ea typeface="Lato" pitchFamily="34" charset="-122"/>
                <a:cs typeface="Lato" pitchFamily="34" charset="-120"/>
              </a:rPr>
              <a:t> RBAC handles the bulk of access management for large user bases, reducing the administrative overhead associated with managing individual DAC entries.</a:t>
            </a:r>
            <a:endParaRPr lang="en-US" sz="1000" dirty="0"/>
          </a:p>
        </p:txBody>
      </p:sp>
      <p:sp>
        <p:nvSpPr>
          <p:cNvPr id="18" name="Text 16"/>
          <p:cNvSpPr/>
          <p:nvPr/>
        </p:nvSpPr>
        <p:spPr>
          <a:xfrm>
            <a:off x="10015538" y="4208264"/>
            <a:ext cx="3821073" cy="825817"/>
          </a:xfrm>
          <a:prstGeom prst="rect">
            <a:avLst/>
          </a:prstGeom>
          <a:noFill/>
          <a:ln/>
        </p:spPr>
        <p:txBody>
          <a:bodyPr wrap="square" lIns="0" tIns="0" rIns="0" bIns="0" rtlCol="0" anchor="t"/>
          <a:lstStyle/>
          <a:p>
            <a:pPr marL="342900" indent="-342900" algn="l">
              <a:lnSpc>
                <a:spcPts val="1600"/>
              </a:lnSpc>
              <a:buSzPct val="100000"/>
              <a:buChar char="•"/>
            </a:pPr>
            <a:r>
              <a:rPr lang="en-US" sz="1000" b="1" dirty="0">
                <a:solidFill>
                  <a:srgbClr val="272525"/>
                </a:solidFill>
                <a:latin typeface="Lato" pitchFamily="34" charset="0"/>
                <a:ea typeface="Lato" pitchFamily="34" charset="-122"/>
                <a:cs typeface="Lato" pitchFamily="34" charset="-120"/>
              </a:rPr>
              <a:t>Compliance Support:</a:t>
            </a:r>
            <a:r>
              <a:rPr lang="en-US" sz="1000" dirty="0">
                <a:solidFill>
                  <a:srgbClr val="272525"/>
                </a:solidFill>
                <a:latin typeface="Lato" pitchFamily="34" charset="0"/>
                <a:ea typeface="Lato" pitchFamily="34" charset="-122"/>
                <a:cs typeface="Lato" pitchFamily="34" charset="-120"/>
              </a:rPr>
              <a:t> Hybrid models can more easily meet stringent regulatory compliance requirements by offering both centralized policy enforcement and granular auditing capabilities.</a:t>
            </a:r>
            <a:endParaRPr lang="en-US" sz="1000" dirty="0"/>
          </a:p>
        </p:txBody>
      </p:sp>
      <p:grpSp>
        <p:nvGrpSpPr>
          <p:cNvPr id="44" name="Group 43">
            <a:extLst>
              <a:ext uri="{FF2B5EF4-FFF2-40B4-BE49-F238E27FC236}">
                <a16:creationId xmlns:a16="http://schemas.microsoft.com/office/drawing/2014/main" id="{8C9E4094-1603-363E-28CE-38D265DBBA40}"/>
              </a:ext>
            </a:extLst>
          </p:cNvPr>
          <p:cNvGrpSpPr/>
          <p:nvPr/>
        </p:nvGrpSpPr>
        <p:grpSpPr>
          <a:xfrm>
            <a:off x="811173" y="4987753"/>
            <a:ext cx="6440805" cy="2110145"/>
            <a:chOff x="793790" y="5292090"/>
            <a:chExt cx="6440805" cy="2110145"/>
          </a:xfrm>
        </p:grpSpPr>
        <p:sp>
          <p:nvSpPr>
            <p:cNvPr id="19" name="Shape 17"/>
            <p:cNvSpPr/>
            <p:nvPr/>
          </p:nvSpPr>
          <p:spPr>
            <a:xfrm>
              <a:off x="793790" y="5292090"/>
              <a:ext cx="290155" cy="290155"/>
            </a:xfrm>
            <a:prstGeom prst="roundRect">
              <a:avLst>
                <a:gd name="adj" fmla="val 18674"/>
              </a:avLst>
            </a:prstGeom>
            <a:solidFill>
              <a:srgbClr val="E8E8E3"/>
            </a:solidFill>
            <a:ln w="7620">
              <a:solidFill>
                <a:srgbClr val="CECEC9"/>
              </a:solidFill>
              <a:prstDash val="solid"/>
            </a:ln>
          </p:spPr>
        </p:sp>
        <p:sp>
          <p:nvSpPr>
            <p:cNvPr id="20" name="Text 18"/>
            <p:cNvSpPr/>
            <p:nvPr/>
          </p:nvSpPr>
          <p:spPr>
            <a:xfrm>
              <a:off x="842070" y="5316200"/>
              <a:ext cx="193477" cy="241816"/>
            </a:xfrm>
            <a:prstGeom prst="rect">
              <a:avLst/>
            </a:prstGeom>
            <a:noFill/>
            <a:ln/>
          </p:spPr>
          <p:txBody>
            <a:bodyPr wrap="none" lIns="0" tIns="0" rIns="0" bIns="0" rtlCol="0" anchor="t"/>
            <a:lstStyle/>
            <a:p>
              <a:pPr marL="0" indent="0" algn="ctr">
                <a:lnSpc>
                  <a:spcPts val="1500"/>
                </a:lnSpc>
                <a:buNone/>
              </a:pPr>
              <a:r>
                <a:rPr lang="en-US" sz="1500" dirty="0">
                  <a:solidFill>
                    <a:srgbClr val="272525"/>
                  </a:solidFill>
                  <a:latin typeface="Gelasio" pitchFamily="34" charset="0"/>
                  <a:ea typeface="Gelasio" pitchFamily="34" charset="-122"/>
                  <a:cs typeface="Gelasio" pitchFamily="34" charset="-120"/>
                </a:rPr>
                <a:t>4</a:t>
              </a:r>
              <a:endParaRPr lang="en-US" sz="1500" dirty="0"/>
            </a:p>
          </p:txBody>
        </p:sp>
        <p:sp>
          <p:nvSpPr>
            <p:cNvPr id="21" name="Text 19"/>
            <p:cNvSpPr/>
            <p:nvPr/>
          </p:nvSpPr>
          <p:spPr>
            <a:xfrm>
              <a:off x="1212890" y="5336381"/>
              <a:ext cx="1900952" cy="201454"/>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Implementation Strategies</a:t>
              </a:r>
              <a:endParaRPr lang="en-US" sz="1250" dirty="0"/>
            </a:p>
          </p:txBody>
        </p:sp>
        <p:sp>
          <p:nvSpPr>
            <p:cNvPr id="22" name="Text 20"/>
            <p:cNvSpPr/>
            <p:nvPr/>
          </p:nvSpPr>
          <p:spPr>
            <a:xfrm>
              <a:off x="1212890" y="5615226"/>
              <a:ext cx="6021705" cy="412909"/>
            </a:xfrm>
            <a:prstGeom prst="rect">
              <a:avLst/>
            </a:prstGeom>
            <a:noFill/>
            <a:ln/>
          </p:spPr>
          <p:txBody>
            <a:bodyPr wrap="square" lIns="0" tIns="0" rIns="0" bIns="0" rtlCol="0" anchor="t"/>
            <a:lstStyle/>
            <a:p>
              <a:pPr marL="342900" indent="-342900" algn="l">
                <a:lnSpc>
                  <a:spcPts val="1600"/>
                </a:lnSpc>
                <a:buSzPct val="100000"/>
                <a:buChar char="•"/>
              </a:pPr>
              <a:r>
                <a:rPr lang="en-US" sz="1000" b="1" dirty="0">
                  <a:solidFill>
                    <a:srgbClr val="272525"/>
                  </a:solidFill>
                  <a:latin typeface="Lato" pitchFamily="34" charset="0"/>
                  <a:ea typeface="Lato" pitchFamily="34" charset="-122"/>
                  <a:cs typeface="Lato" pitchFamily="34" charset="-120"/>
                </a:rPr>
                <a:t>Policy Hierarchy:</a:t>
              </a:r>
              <a:r>
                <a:rPr lang="en-US" sz="1000" dirty="0">
                  <a:solidFill>
                    <a:srgbClr val="272525"/>
                  </a:solidFill>
                  <a:latin typeface="Lato" pitchFamily="34" charset="0"/>
                  <a:ea typeface="Lato" pitchFamily="34" charset="-122"/>
                  <a:cs typeface="Lato" pitchFamily="34" charset="-120"/>
                </a:rPr>
                <a:t> Establish a clear hierarchy where RBAC policies define baseline access, and DAC permissions provide exceptions or additional granularity within those baselines.</a:t>
              </a:r>
              <a:endParaRPr lang="en-US" sz="1000" dirty="0"/>
            </a:p>
          </p:txBody>
        </p:sp>
        <p:sp>
          <p:nvSpPr>
            <p:cNvPr id="23" name="Text 21"/>
            <p:cNvSpPr/>
            <p:nvPr/>
          </p:nvSpPr>
          <p:spPr>
            <a:xfrm>
              <a:off x="1212890" y="6073259"/>
              <a:ext cx="6021705" cy="412909"/>
            </a:xfrm>
            <a:prstGeom prst="rect">
              <a:avLst/>
            </a:prstGeom>
            <a:noFill/>
            <a:ln/>
          </p:spPr>
          <p:txBody>
            <a:bodyPr wrap="square" lIns="0" tIns="0" rIns="0" bIns="0" rtlCol="0" anchor="t"/>
            <a:lstStyle/>
            <a:p>
              <a:pPr marL="342900" indent="-342900" algn="l">
                <a:lnSpc>
                  <a:spcPts val="1600"/>
                </a:lnSpc>
                <a:buSzPct val="100000"/>
                <a:buChar char="•"/>
              </a:pPr>
              <a:r>
                <a:rPr lang="en-US" sz="1000" b="1" dirty="0">
                  <a:solidFill>
                    <a:srgbClr val="272525"/>
                  </a:solidFill>
                  <a:latin typeface="Lato" pitchFamily="34" charset="0"/>
                  <a:ea typeface="Lato" pitchFamily="34" charset="-122"/>
                  <a:cs typeface="Lato" pitchFamily="34" charset="-120"/>
                </a:rPr>
                <a:t>Centralized Management:</a:t>
              </a:r>
              <a:r>
                <a:rPr lang="en-US" sz="1000" dirty="0">
                  <a:solidFill>
                    <a:srgbClr val="272525"/>
                  </a:solidFill>
                  <a:latin typeface="Lato" pitchFamily="34" charset="0"/>
                  <a:ea typeface="Lato" pitchFamily="34" charset="-122"/>
                  <a:cs typeface="Lato" pitchFamily="34" charset="-120"/>
                </a:rPr>
                <a:t> Utilize identity and access management (IAM) systems to centralize role definitions, user assignments, and policy enforcement across both models.</a:t>
              </a:r>
              <a:endParaRPr lang="en-US" sz="1000" dirty="0"/>
            </a:p>
          </p:txBody>
        </p:sp>
        <p:sp>
          <p:nvSpPr>
            <p:cNvPr id="24" name="Text 22"/>
            <p:cNvSpPr/>
            <p:nvPr/>
          </p:nvSpPr>
          <p:spPr>
            <a:xfrm>
              <a:off x="1212890" y="6531293"/>
              <a:ext cx="6021705" cy="412909"/>
            </a:xfrm>
            <a:prstGeom prst="rect">
              <a:avLst/>
            </a:prstGeom>
            <a:noFill/>
            <a:ln/>
          </p:spPr>
          <p:txBody>
            <a:bodyPr wrap="square" lIns="0" tIns="0" rIns="0" bIns="0" rtlCol="0" anchor="t"/>
            <a:lstStyle/>
            <a:p>
              <a:pPr marL="342900" indent="-342900" algn="l">
                <a:lnSpc>
                  <a:spcPts val="1600"/>
                </a:lnSpc>
                <a:buSzPct val="100000"/>
                <a:buChar char="•"/>
              </a:pPr>
              <a:r>
                <a:rPr lang="en-US" sz="1000" b="1" dirty="0">
                  <a:solidFill>
                    <a:srgbClr val="272525"/>
                  </a:solidFill>
                  <a:latin typeface="Lato" pitchFamily="34" charset="0"/>
                  <a:ea typeface="Lato" pitchFamily="34" charset="-122"/>
                  <a:cs typeface="Lato" pitchFamily="34" charset="-120"/>
                </a:rPr>
                <a:t>Audit and Review:</a:t>
              </a:r>
              <a:r>
                <a:rPr lang="en-US" sz="1000" dirty="0">
                  <a:solidFill>
                    <a:srgbClr val="272525"/>
                  </a:solidFill>
                  <a:latin typeface="Lato" pitchFamily="34" charset="0"/>
                  <a:ea typeface="Lato" pitchFamily="34" charset="-122"/>
                  <a:cs typeface="Lato" pitchFamily="34" charset="-120"/>
                </a:rPr>
                <a:t> Regularly audit access permissions and role definitions to identify and rectify any inconsistencies or overly permissive settings.</a:t>
              </a:r>
              <a:endParaRPr lang="en-US" sz="1000" dirty="0"/>
            </a:p>
          </p:txBody>
        </p:sp>
        <p:sp>
          <p:nvSpPr>
            <p:cNvPr id="25" name="Text 23"/>
            <p:cNvSpPr/>
            <p:nvPr/>
          </p:nvSpPr>
          <p:spPr>
            <a:xfrm>
              <a:off x="1212890" y="6989326"/>
              <a:ext cx="6021705" cy="412909"/>
            </a:xfrm>
            <a:prstGeom prst="rect">
              <a:avLst/>
            </a:prstGeom>
            <a:noFill/>
            <a:ln/>
          </p:spPr>
          <p:txBody>
            <a:bodyPr wrap="square" lIns="0" tIns="0" rIns="0" bIns="0" rtlCol="0" anchor="t"/>
            <a:lstStyle/>
            <a:p>
              <a:pPr marL="342900" indent="-342900" algn="l">
                <a:lnSpc>
                  <a:spcPts val="1600"/>
                </a:lnSpc>
                <a:buSzPct val="100000"/>
                <a:buChar char="•"/>
              </a:pPr>
              <a:r>
                <a:rPr lang="en-US" sz="1000" b="1" dirty="0">
                  <a:solidFill>
                    <a:srgbClr val="272525"/>
                  </a:solidFill>
                  <a:latin typeface="Lato" pitchFamily="34" charset="0"/>
                  <a:ea typeface="Lato" pitchFamily="34" charset="-122"/>
                  <a:cs typeface="Lato" pitchFamily="34" charset="-120"/>
                </a:rPr>
                <a:t>User Education:</a:t>
              </a:r>
              <a:r>
                <a:rPr lang="en-US" sz="1000" dirty="0">
                  <a:solidFill>
                    <a:srgbClr val="272525"/>
                  </a:solidFill>
                  <a:latin typeface="Lato" pitchFamily="34" charset="0"/>
                  <a:ea typeface="Lato" pitchFamily="34" charset="-122"/>
                  <a:cs typeface="Lato" pitchFamily="34" charset="-120"/>
                </a:rPr>
                <a:t> Train resource owners on their responsibilities for managing DAC permissions to ensure they understand security best practices.</a:t>
              </a:r>
              <a:endParaRPr lang="en-US" sz="1000" dirty="0"/>
            </a:p>
          </p:txBody>
        </p:sp>
      </p:grpSp>
      <p:grpSp>
        <p:nvGrpSpPr>
          <p:cNvPr id="43" name="Group 42">
            <a:extLst>
              <a:ext uri="{FF2B5EF4-FFF2-40B4-BE49-F238E27FC236}">
                <a16:creationId xmlns:a16="http://schemas.microsoft.com/office/drawing/2014/main" id="{50109A00-86F5-99DF-7C1A-897D63126129}"/>
              </a:ext>
            </a:extLst>
          </p:cNvPr>
          <p:cNvGrpSpPr/>
          <p:nvPr/>
        </p:nvGrpSpPr>
        <p:grpSpPr>
          <a:xfrm>
            <a:off x="7268171" y="4987753"/>
            <a:ext cx="6440805" cy="2264926"/>
            <a:chOff x="7395805" y="5292090"/>
            <a:chExt cx="6440805" cy="2264926"/>
          </a:xfrm>
        </p:grpSpPr>
        <p:sp>
          <p:nvSpPr>
            <p:cNvPr id="26" name="Shape 24"/>
            <p:cNvSpPr/>
            <p:nvPr/>
          </p:nvSpPr>
          <p:spPr>
            <a:xfrm>
              <a:off x="7395805" y="5292090"/>
              <a:ext cx="290155" cy="290155"/>
            </a:xfrm>
            <a:prstGeom prst="roundRect">
              <a:avLst>
                <a:gd name="adj" fmla="val 18674"/>
              </a:avLst>
            </a:prstGeom>
            <a:solidFill>
              <a:srgbClr val="E8E8E3"/>
            </a:solidFill>
            <a:ln w="7620">
              <a:solidFill>
                <a:srgbClr val="CECEC9"/>
              </a:solidFill>
              <a:prstDash val="solid"/>
            </a:ln>
          </p:spPr>
        </p:sp>
        <p:sp>
          <p:nvSpPr>
            <p:cNvPr id="27" name="Text 25"/>
            <p:cNvSpPr/>
            <p:nvPr/>
          </p:nvSpPr>
          <p:spPr>
            <a:xfrm>
              <a:off x="7444085" y="5316200"/>
              <a:ext cx="193477" cy="241816"/>
            </a:xfrm>
            <a:prstGeom prst="rect">
              <a:avLst/>
            </a:prstGeom>
            <a:noFill/>
            <a:ln/>
          </p:spPr>
          <p:txBody>
            <a:bodyPr wrap="none" lIns="0" tIns="0" rIns="0" bIns="0" rtlCol="0" anchor="t"/>
            <a:lstStyle/>
            <a:p>
              <a:pPr marL="0" indent="0" algn="ctr">
                <a:lnSpc>
                  <a:spcPts val="1500"/>
                </a:lnSpc>
                <a:buNone/>
              </a:pPr>
              <a:r>
                <a:rPr lang="en-US" sz="1500" dirty="0">
                  <a:solidFill>
                    <a:srgbClr val="272525"/>
                  </a:solidFill>
                  <a:latin typeface="Gelasio" pitchFamily="34" charset="0"/>
                  <a:ea typeface="Gelasio" pitchFamily="34" charset="-122"/>
                  <a:cs typeface="Gelasio" pitchFamily="34" charset="-120"/>
                </a:rPr>
                <a:t>5</a:t>
              </a:r>
              <a:endParaRPr lang="en-US" sz="1500" dirty="0"/>
            </a:p>
          </p:txBody>
        </p:sp>
        <p:sp>
          <p:nvSpPr>
            <p:cNvPr id="28" name="Text 26"/>
            <p:cNvSpPr/>
            <p:nvPr/>
          </p:nvSpPr>
          <p:spPr>
            <a:xfrm>
              <a:off x="7814905" y="5336381"/>
              <a:ext cx="2073950" cy="201454"/>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Layered Security Approaches</a:t>
              </a:r>
              <a:endParaRPr lang="en-US" sz="1250" dirty="0"/>
            </a:p>
          </p:txBody>
        </p:sp>
        <p:sp>
          <p:nvSpPr>
            <p:cNvPr id="29" name="Text 27"/>
            <p:cNvSpPr/>
            <p:nvPr/>
          </p:nvSpPr>
          <p:spPr>
            <a:xfrm>
              <a:off x="7814905" y="5615226"/>
              <a:ext cx="6021705" cy="412909"/>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Lato" pitchFamily="34" charset="0"/>
                  <a:ea typeface="Lato" pitchFamily="34" charset="-122"/>
                  <a:cs typeface="Lato" pitchFamily="34" charset="-120"/>
                </a:rPr>
                <a:t>Hybrid models are foundational to a layered security approach, where multiple security controls are stacked to protect resources. Beyond DAC and RBAC, this might include:</a:t>
              </a:r>
              <a:endParaRPr lang="en-US" sz="1000" dirty="0"/>
            </a:p>
          </p:txBody>
        </p:sp>
        <p:sp>
          <p:nvSpPr>
            <p:cNvPr id="30" name="Text 28"/>
            <p:cNvSpPr/>
            <p:nvPr/>
          </p:nvSpPr>
          <p:spPr>
            <a:xfrm>
              <a:off x="7814905" y="6105525"/>
              <a:ext cx="6021705" cy="206454"/>
            </a:xfrm>
            <a:prstGeom prst="rect">
              <a:avLst/>
            </a:prstGeom>
            <a:noFill/>
            <a:ln/>
          </p:spPr>
          <p:txBody>
            <a:bodyPr wrap="none" lIns="0" tIns="0" rIns="0" bIns="0" rtlCol="0" anchor="t"/>
            <a:lstStyle/>
            <a:p>
              <a:pPr marL="342900" indent="-342900" algn="l">
                <a:lnSpc>
                  <a:spcPts val="1600"/>
                </a:lnSpc>
                <a:buSzPct val="100000"/>
                <a:buChar char="•"/>
              </a:pPr>
              <a:r>
                <a:rPr lang="en-US" sz="1000" b="1" dirty="0">
                  <a:solidFill>
                    <a:srgbClr val="272525"/>
                  </a:solidFill>
                  <a:latin typeface="Lato" pitchFamily="34" charset="0"/>
                  <a:ea typeface="Lato" pitchFamily="34" charset="-122"/>
                  <a:cs typeface="Lato" pitchFamily="34" charset="-120"/>
                </a:rPr>
                <a:t>Network Segmentation:</a:t>
              </a:r>
              <a:r>
                <a:rPr lang="en-US" sz="1000" dirty="0">
                  <a:solidFill>
                    <a:srgbClr val="272525"/>
                  </a:solidFill>
                  <a:latin typeface="Lato" pitchFamily="34" charset="0"/>
                  <a:ea typeface="Lato" pitchFamily="34" charset="-122"/>
                  <a:cs typeface="Lato" pitchFamily="34" charset="-120"/>
                </a:rPr>
                <a:t> Limiting network access based on zones or VLANs.</a:t>
              </a:r>
              <a:endParaRPr lang="en-US" sz="1000" dirty="0"/>
            </a:p>
          </p:txBody>
        </p:sp>
        <p:sp>
          <p:nvSpPr>
            <p:cNvPr id="31" name="Text 29"/>
            <p:cNvSpPr/>
            <p:nvPr/>
          </p:nvSpPr>
          <p:spPr>
            <a:xfrm>
              <a:off x="7814905" y="6357104"/>
              <a:ext cx="6021705" cy="206454"/>
            </a:xfrm>
            <a:prstGeom prst="rect">
              <a:avLst/>
            </a:prstGeom>
            <a:noFill/>
            <a:ln/>
          </p:spPr>
          <p:txBody>
            <a:bodyPr wrap="none" lIns="0" tIns="0" rIns="0" bIns="0" rtlCol="0" anchor="t"/>
            <a:lstStyle/>
            <a:p>
              <a:pPr marL="342900" indent="-342900" algn="l">
                <a:lnSpc>
                  <a:spcPts val="1600"/>
                </a:lnSpc>
                <a:buSzPct val="100000"/>
                <a:buChar char="•"/>
              </a:pPr>
              <a:r>
                <a:rPr lang="en-US" sz="1000" b="1" dirty="0">
                  <a:solidFill>
                    <a:srgbClr val="272525"/>
                  </a:solidFill>
                  <a:latin typeface="Lato" pitchFamily="34" charset="0"/>
                  <a:ea typeface="Lato" pitchFamily="34" charset="-122"/>
                  <a:cs typeface="Lato" pitchFamily="34" charset="-120"/>
                </a:rPr>
                <a:t>Multi-Factor Authentication (MFA):</a:t>
              </a:r>
              <a:r>
                <a:rPr lang="en-US" sz="1000" dirty="0">
                  <a:solidFill>
                    <a:srgbClr val="272525"/>
                  </a:solidFill>
                  <a:latin typeface="Lato" pitchFamily="34" charset="0"/>
                  <a:ea typeface="Lato" pitchFamily="34" charset="-122"/>
                  <a:cs typeface="Lato" pitchFamily="34" charset="-120"/>
                </a:rPr>
                <a:t> Adding extra verification steps for user logins.</a:t>
              </a:r>
              <a:endParaRPr lang="en-US" sz="1000" dirty="0"/>
            </a:p>
          </p:txBody>
        </p:sp>
        <p:sp>
          <p:nvSpPr>
            <p:cNvPr id="32" name="Text 30"/>
            <p:cNvSpPr/>
            <p:nvPr/>
          </p:nvSpPr>
          <p:spPr>
            <a:xfrm>
              <a:off x="7814905" y="6608683"/>
              <a:ext cx="6021705" cy="206454"/>
            </a:xfrm>
            <a:prstGeom prst="rect">
              <a:avLst/>
            </a:prstGeom>
            <a:noFill/>
            <a:ln/>
          </p:spPr>
          <p:txBody>
            <a:bodyPr wrap="none" lIns="0" tIns="0" rIns="0" bIns="0" rtlCol="0" anchor="t"/>
            <a:lstStyle/>
            <a:p>
              <a:pPr marL="342900" indent="-342900" algn="l">
                <a:lnSpc>
                  <a:spcPts val="1600"/>
                </a:lnSpc>
                <a:buSzPct val="100000"/>
                <a:buChar char="•"/>
              </a:pPr>
              <a:r>
                <a:rPr lang="en-US" sz="1000" b="1" dirty="0">
                  <a:solidFill>
                    <a:srgbClr val="272525"/>
                  </a:solidFill>
                  <a:latin typeface="Lato" pitchFamily="34" charset="0"/>
                  <a:ea typeface="Lato" pitchFamily="34" charset="-122"/>
                  <a:cs typeface="Lato" pitchFamily="34" charset="-120"/>
                </a:rPr>
                <a:t>Encryption:</a:t>
              </a:r>
              <a:r>
                <a:rPr lang="en-US" sz="1000" dirty="0">
                  <a:solidFill>
                    <a:srgbClr val="272525"/>
                  </a:solidFill>
                  <a:latin typeface="Lato" pitchFamily="34" charset="0"/>
                  <a:ea typeface="Lato" pitchFamily="34" charset="-122"/>
                  <a:cs typeface="Lato" pitchFamily="34" charset="-120"/>
                </a:rPr>
                <a:t> Protecting data at rest and in transit.</a:t>
              </a:r>
              <a:endParaRPr lang="en-US" sz="1000" dirty="0"/>
            </a:p>
          </p:txBody>
        </p:sp>
        <p:sp>
          <p:nvSpPr>
            <p:cNvPr id="33" name="Text 31"/>
            <p:cNvSpPr/>
            <p:nvPr/>
          </p:nvSpPr>
          <p:spPr>
            <a:xfrm>
              <a:off x="7814905" y="6860262"/>
              <a:ext cx="6021705" cy="206454"/>
            </a:xfrm>
            <a:prstGeom prst="rect">
              <a:avLst/>
            </a:prstGeom>
            <a:noFill/>
            <a:ln/>
          </p:spPr>
          <p:txBody>
            <a:bodyPr wrap="none" lIns="0" tIns="0" rIns="0" bIns="0" rtlCol="0" anchor="t"/>
            <a:lstStyle/>
            <a:p>
              <a:pPr marL="342900" indent="-342900" algn="l">
                <a:lnSpc>
                  <a:spcPts val="1600"/>
                </a:lnSpc>
                <a:buSzPct val="100000"/>
                <a:buChar char="•"/>
              </a:pPr>
              <a:r>
                <a:rPr lang="en-US" sz="1000" b="1" dirty="0">
                  <a:solidFill>
                    <a:srgbClr val="272525"/>
                  </a:solidFill>
                  <a:latin typeface="Lato" pitchFamily="34" charset="0"/>
                  <a:ea typeface="Lato" pitchFamily="34" charset="-122"/>
                  <a:cs typeface="Lato" pitchFamily="34" charset="-120"/>
                </a:rPr>
                <a:t>Intrusion Detection/Prevention Systems (IDPS):</a:t>
              </a:r>
              <a:r>
                <a:rPr lang="en-US" sz="1000" dirty="0">
                  <a:solidFill>
                    <a:srgbClr val="272525"/>
                  </a:solidFill>
                  <a:latin typeface="Lato" pitchFamily="34" charset="0"/>
                  <a:ea typeface="Lato" pitchFamily="34" charset="-122"/>
                  <a:cs typeface="Lato" pitchFamily="34" charset="-120"/>
                </a:rPr>
                <a:t> Monitoring for and blocking malicious activities.</a:t>
              </a:r>
              <a:endParaRPr lang="en-US" sz="1000" dirty="0"/>
            </a:p>
          </p:txBody>
        </p:sp>
        <p:sp>
          <p:nvSpPr>
            <p:cNvPr id="34" name="Text 32"/>
            <p:cNvSpPr/>
            <p:nvPr/>
          </p:nvSpPr>
          <p:spPr>
            <a:xfrm>
              <a:off x="7814905" y="7144107"/>
              <a:ext cx="6021705" cy="412909"/>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Lato" pitchFamily="34" charset="0"/>
                  <a:ea typeface="Lato" pitchFamily="34" charset="-122"/>
                  <a:cs typeface="Lato" pitchFamily="34" charset="-120"/>
                </a:rPr>
                <a:t>Each layer adds an additional barrier, reducing the risk of a single point of failure compromising the entire system.</a:t>
              </a:r>
              <a:endParaRPr lang="en-US" sz="10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785991"/>
            <a:ext cx="6931104" cy="434102"/>
          </a:xfrm>
          <a:prstGeom prst="rect">
            <a:avLst/>
          </a:prstGeom>
          <a:noFill/>
          <a:ln/>
        </p:spPr>
        <p:txBody>
          <a:bodyPr wrap="none" lIns="0" tIns="0" rIns="0" bIns="0" rtlCol="0" anchor="t"/>
          <a:lstStyle/>
          <a:p>
            <a:pPr marL="0" indent="0" algn="l">
              <a:lnSpc>
                <a:spcPts val="3400"/>
              </a:lnSpc>
              <a:buNone/>
            </a:pPr>
            <a:r>
              <a:rPr lang="en-US" sz="2700" dirty="0">
                <a:solidFill>
                  <a:srgbClr val="312F2B"/>
                </a:solidFill>
                <a:latin typeface="Gelasio" pitchFamily="34" charset="0"/>
                <a:ea typeface="Gelasio" pitchFamily="34" charset="-122"/>
                <a:cs typeface="Gelasio" pitchFamily="34" charset="-120"/>
              </a:rPr>
              <a:t>Challenges and Limitations in Access Control</a:t>
            </a:r>
            <a:endParaRPr lang="en-US" sz="2700" dirty="0"/>
          </a:p>
        </p:txBody>
      </p:sp>
      <p:sp>
        <p:nvSpPr>
          <p:cNvPr id="3" name="Text 1"/>
          <p:cNvSpPr/>
          <p:nvPr/>
        </p:nvSpPr>
        <p:spPr>
          <a:xfrm>
            <a:off x="801409" y="1699140"/>
            <a:ext cx="13042821" cy="578168"/>
          </a:xfrm>
          <a:prstGeom prst="rect">
            <a:avLst/>
          </a:prstGeom>
          <a:noFill/>
          <a:ln/>
        </p:spPr>
        <p:txBody>
          <a:bodyPr wrap="none" lIns="0" tIns="0" rIns="0" bIns="0" rtlCol="0" anchor="t"/>
          <a:lstStyle/>
          <a:p>
            <a:pPr marL="0" indent="0" algn="l">
              <a:lnSpc>
                <a:spcPts val="1750"/>
              </a:lnSpc>
              <a:buNone/>
            </a:pPr>
            <a:r>
              <a:rPr lang="en-US" sz="1200" dirty="0">
                <a:solidFill>
                  <a:srgbClr val="272525"/>
                </a:solidFill>
                <a:latin typeface="Lato" pitchFamily="34" charset="0"/>
                <a:ea typeface="Lato" pitchFamily="34" charset="-122"/>
                <a:cs typeface="Lato" pitchFamily="34" charset="-120"/>
              </a:rPr>
              <a:t>While DAC and RBAC offer robust security frameworks, both models present distinct challenges and limitations that organizations must address for effective access management.</a:t>
            </a:r>
            <a:endParaRPr lang="en-US" sz="1200" dirty="0"/>
          </a:p>
        </p:txBody>
      </p:sp>
      <p:sp>
        <p:nvSpPr>
          <p:cNvPr id="4" name="Text 2"/>
          <p:cNvSpPr/>
          <p:nvPr/>
        </p:nvSpPr>
        <p:spPr>
          <a:xfrm>
            <a:off x="793790" y="2325886"/>
            <a:ext cx="3619500" cy="217051"/>
          </a:xfrm>
          <a:prstGeom prst="rect">
            <a:avLst/>
          </a:prstGeom>
          <a:noFill/>
          <a:ln/>
        </p:spPr>
        <p:txBody>
          <a:bodyPr wrap="none" lIns="0" tIns="0" rIns="0" bIns="0" rtlCol="0" anchor="t"/>
          <a:lstStyle/>
          <a:p>
            <a:pPr marL="0" indent="0" algn="l">
              <a:lnSpc>
                <a:spcPts val="1700"/>
              </a:lnSpc>
              <a:buNone/>
            </a:pPr>
            <a:r>
              <a:rPr lang="en-US" dirty="0">
                <a:solidFill>
                  <a:srgbClr val="312F2B"/>
                </a:solidFill>
                <a:latin typeface="Gelasio" pitchFamily="34" charset="0"/>
                <a:ea typeface="Gelasio" pitchFamily="34" charset="-122"/>
                <a:cs typeface="Gelasio" pitchFamily="34" charset="-120"/>
              </a:rPr>
              <a:t>Discretionary Access Control (DAC) Challenges</a:t>
            </a:r>
            <a:endParaRPr lang="en-US" dirty="0"/>
          </a:p>
        </p:txBody>
      </p:sp>
      <p:sp>
        <p:nvSpPr>
          <p:cNvPr id="5" name="Text 3"/>
          <p:cNvSpPr/>
          <p:nvPr/>
        </p:nvSpPr>
        <p:spPr>
          <a:xfrm>
            <a:off x="793790" y="2681764"/>
            <a:ext cx="6351984" cy="444579"/>
          </a:xfrm>
          <a:prstGeom prst="rect">
            <a:avLst/>
          </a:prstGeom>
          <a:noFill/>
          <a:ln/>
        </p:spPr>
        <p:txBody>
          <a:bodyPr wrap="square" lIns="0" tIns="0" rIns="0" bIns="0" rtlCol="0" anchor="t"/>
          <a:lstStyle/>
          <a:p>
            <a:pPr marL="342900" indent="-342900" algn="l">
              <a:lnSpc>
                <a:spcPts val="1750"/>
              </a:lnSpc>
              <a:buSzPct val="100000"/>
              <a:buChar char="•"/>
            </a:pPr>
            <a:r>
              <a:rPr lang="en-US" sz="1200" b="1" dirty="0">
                <a:solidFill>
                  <a:srgbClr val="272525"/>
                </a:solidFill>
                <a:latin typeface="Lato" pitchFamily="34" charset="0"/>
                <a:ea typeface="Lato" pitchFamily="34" charset="-122"/>
                <a:cs typeface="Lato" pitchFamily="34" charset="-120"/>
              </a:rPr>
              <a:t>Trojan Horses:</a:t>
            </a:r>
            <a:r>
              <a:rPr lang="en-US" sz="1200" dirty="0">
                <a:solidFill>
                  <a:srgbClr val="272525"/>
                </a:solidFill>
                <a:latin typeface="Lato" pitchFamily="34" charset="0"/>
                <a:ea typeface="Lato" pitchFamily="34" charset="-122"/>
                <a:cs typeface="Lato" pitchFamily="34" charset="-120"/>
              </a:rPr>
              <a:t> Users with extensive DAC permissions can inadvertently or maliciously grant unauthorized access through misconfigured applications or files.</a:t>
            </a:r>
            <a:endParaRPr lang="en-US" sz="1200" dirty="0"/>
          </a:p>
        </p:txBody>
      </p:sp>
      <p:sp>
        <p:nvSpPr>
          <p:cNvPr id="6" name="Text 4"/>
          <p:cNvSpPr/>
          <p:nvPr/>
        </p:nvSpPr>
        <p:spPr>
          <a:xfrm>
            <a:off x="793790" y="3174921"/>
            <a:ext cx="6351984" cy="444579"/>
          </a:xfrm>
          <a:prstGeom prst="rect">
            <a:avLst/>
          </a:prstGeom>
          <a:noFill/>
          <a:ln/>
        </p:spPr>
        <p:txBody>
          <a:bodyPr wrap="square" lIns="0" tIns="0" rIns="0" bIns="0" rtlCol="0" anchor="t"/>
          <a:lstStyle/>
          <a:p>
            <a:pPr marL="342900" indent="-342900" algn="l">
              <a:lnSpc>
                <a:spcPts val="1750"/>
              </a:lnSpc>
              <a:buSzPct val="100000"/>
              <a:buChar char="•"/>
            </a:pPr>
            <a:r>
              <a:rPr lang="en-US" sz="1200" b="1" dirty="0">
                <a:solidFill>
                  <a:srgbClr val="272525"/>
                </a:solidFill>
                <a:latin typeface="Lato" pitchFamily="34" charset="0"/>
                <a:ea typeface="Lato" pitchFamily="34" charset="-122"/>
                <a:cs typeface="Lato" pitchFamily="34" charset="-120"/>
              </a:rPr>
              <a:t>Lack of Central Control:</a:t>
            </a:r>
            <a:r>
              <a:rPr lang="en-US" sz="1200" dirty="0">
                <a:solidFill>
                  <a:srgbClr val="272525"/>
                </a:solidFill>
                <a:latin typeface="Lato" pitchFamily="34" charset="0"/>
                <a:ea typeface="Lato" pitchFamily="34" charset="-122"/>
                <a:cs typeface="Lato" pitchFamily="34" charset="-120"/>
              </a:rPr>
              <a:t> Permissions are managed by individual resource owners, leading to inconsistencies and making it difficult to enforce organization-wide security policies.</a:t>
            </a:r>
            <a:endParaRPr lang="en-US" sz="1200" dirty="0"/>
          </a:p>
        </p:txBody>
      </p:sp>
      <p:sp>
        <p:nvSpPr>
          <p:cNvPr id="7" name="Text 5"/>
          <p:cNvSpPr/>
          <p:nvPr/>
        </p:nvSpPr>
        <p:spPr>
          <a:xfrm>
            <a:off x="793790" y="3668078"/>
            <a:ext cx="6351984" cy="444579"/>
          </a:xfrm>
          <a:prstGeom prst="rect">
            <a:avLst/>
          </a:prstGeom>
          <a:noFill/>
          <a:ln/>
        </p:spPr>
        <p:txBody>
          <a:bodyPr wrap="square" lIns="0" tIns="0" rIns="0" bIns="0" rtlCol="0" anchor="t"/>
          <a:lstStyle/>
          <a:p>
            <a:pPr marL="342900" indent="-342900" algn="l">
              <a:lnSpc>
                <a:spcPts val="1750"/>
              </a:lnSpc>
              <a:buSzPct val="100000"/>
              <a:buChar char="•"/>
            </a:pPr>
            <a:r>
              <a:rPr lang="en-US" sz="1200" b="1" dirty="0">
                <a:solidFill>
                  <a:srgbClr val="272525"/>
                </a:solidFill>
                <a:latin typeface="Lato" pitchFamily="34" charset="0"/>
                <a:ea typeface="Lato" pitchFamily="34" charset="-122"/>
                <a:cs typeface="Lato" pitchFamily="34" charset="-120"/>
              </a:rPr>
              <a:t>Administrative Overhead:</a:t>
            </a:r>
            <a:r>
              <a:rPr lang="en-US" sz="1200" dirty="0">
                <a:solidFill>
                  <a:srgbClr val="272525"/>
                </a:solidFill>
                <a:latin typeface="Lato" pitchFamily="34" charset="0"/>
                <a:ea typeface="Lato" pitchFamily="34" charset="-122"/>
                <a:cs typeface="Lato" pitchFamily="34" charset="-120"/>
              </a:rPr>
              <a:t> Managing granular permissions for every user on every resource can become complex and time-consuming, especially in large environments.</a:t>
            </a:r>
            <a:endParaRPr lang="en-US" sz="1200" dirty="0"/>
          </a:p>
        </p:txBody>
      </p:sp>
      <p:sp>
        <p:nvSpPr>
          <p:cNvPr id="8" name="Text 6"/>
          <p:cNvSpPr/>
          <p:nvPr/>
        </p:nvSpPr>
        <p:spPr>
          <a:xfrm>
            <a:off x="7492246" y="2325886"/>
            <a:ext cx="3557588" cy="217051"/>
          </a:xfrm>
          <a:prstGeom prst="rect">
            <a:avLst/>
          </a:prstGeom>
          <a:noFill/>
          <a:ln/>
        </p:spPr>
        <p:txBody>
          <a:bodyPr wrap="none" lIns="0" tIns="0" rIns="0" bIns="0" rtlCol="0" anchor="t"/>
          <a:lstStyle/>
          <a:p>
            <a:pPr marL="0" indent="0" algn="l">
              <a:lnSpc>
                <a:spcPts val="1700"/>
              </a:lnSpc>
              <a:buNone/>
            </a:pPr>
            <a:r>
              <a:rPr lang="en-US" dirty="0">
                <a:solidFill>
                  <a:srgbClr val="312F2B"/>
                </a:solidFill>
                <a:latin typeface="Gelasio" pitchFamily="34" charset="0"/>
                <a:ea typeface="Gelasio" pitchFamily="34" charset="-122"/>
                <a:cs typeface="Gelasio" pitchFamily="34" charset="-120"/>
              </a:rPr>
              <a:t>Role-Based Access Control (RBAC) Challenges</a:t>
            </a:r>
            <a:endParaRPr lang="en-US" dirty="0"/>
          </a:p>
        </p:txBody>
      </p:sp>
      <p:sp>
        <p:nvSpPr>
          <p:cNvPr id="9" name="Text 7"/>
          <p:cNvSpPr/>
          <p:nvPr/>
        </p:nvSpPr>
        <p:spPr>
          <a:xfrm>
            <a:off x="7492246" y="2681764"/>
            <a:ext cx="6351984" cy="444579"/>
          </a:xfrm>
          <a:prstGeom prst="rect">
            <a:avLst/>
          </a:prstGeom>
          <a:noFill/>
          <a:ln/>
        </p:spPr>
        <p:txBody>
          <a:bodyPr wrap="square" lIns="0" tIns="0" rIns="0" bIns="0" rtlCol="0" anchor="t"/>
          <a:lstStyle/>
          <a:p>
            <a:pPr marL="342900" indent="-342900" algn="l">
              <a:lnSpc>
                <a:spcPts val="1750"/>
              </a:lnSpc>
              <a:buSzPct val="100000"/>
              <a:buChar char="•"/>
            </a:pPr>
            <a:r>
              <a:rPr lang="en-US" sz="1200" b="1" dirty="0">
                <a:solidFill>
                  <a:srgbClr val="272525"/>
                </a:solidFill>
                <a:latin typeface="Lato" pitchFamily="34" charset="0"/>
                <a:ea typeface="Lato" pitchFamily="34" charset="-122"/>
                <a:cs typeface="Lato" pitchFamily="34" charset="-120"/>
              </a:rPr>
              <a:t>Role Explosion:</a:t>
            </a:r>
            <a:r>
              <a:rPr lang="en-US" sz="1200" dirty="0">
                <a:solidFill>
                  <a:srgbClr val="272525"/>
                </a:solidFill>
                <a:latin typeface="Lato" pitchFamily="34" charset="0"/>
                <a:ea typeface="Lato" pitchFamily="34" charset="-122"/>
                <a:cs typeface="Lato" pitchFamily="34" charset="-120"/>
              </a:rPr>
              <a:t> Creating too many roles to accommodate specific access needs can lead to an unmanageable system, defeating RBAC's simplification goal.</a:t>
            </a:r>
            <a:endParaRPr lang="en-US" sz="1200" dirty="0"/>
          </a:p>
        </p:txBody>
      </p:sp>
      <p:sp>
        <p:nvSpPr>
          <p:cNvPr id="10" name="Text 8"/>
          <p:cNvSpPr/>
          <p:nvPr/>
        </p:nvSpPr>
        <p:spPr>
          <a:xfrm>
            <a:off x="7492246" y="3174921"/>
            <a:ext cx="6351984" cy="444579"/>
          </a:xfrm>
          <a:prstGeom prst="rect">
            <a:avLst/>
          </a:prstGeom>
          <a:noFill/>
          <a:ln/>
        </p:spPr>
        <p:txBody>
          <a:bodyPr wrap="square" lIns="0" tIns="0" rIns="0" bIns="0" rtlCol="0" anchor="t"/>
          <a:lstStyle/>
          <a:p>
            <a:pPr marL="342900" indent="-342900" algn="l">
              <a:lnSpc>
                <a:spcPts val="1750"/>
              </a:lnSpc>
              <a:buSzPct val="100000"/>
              <a:buChar char="•"/>
            </a:pPr>
            <a:r>
              <a:rPr lang="en-US" sz="1200" b="1" dirty="0">
                <a:solidFill>
                  <a:srgbClr val="272525"/>
                </a:solidFill>
                <a:latin typeface="Lato" pitchFamily="34" charset="0"/>
                <a:ea typeface="Lato" pitchFamily="34" charset="-122"/>
                <a:cs typeface="Lato" pitchFamily="34" charset="-120"/>
              </a:rPr>
              <a:t>Toxic Combinations:</a:t>
            </a:r>
            <a:r>
              <a:rPr lang="en-US" sz="1200" dirty="0">
                <a:solidFill>
                  <a:srgbClr val="272525"/>
                </a:solidFill>
                <a:latin typeface="Lato" pitchFamily="34" charset="0"/>
                <a:ea typeface="Lato" pitchFamily="34" charset="-122"/>
                <a:cs typeface="Lato" pitchFamily="34" charset="-120"/>
              </a:rPr>
              <a:t> Improperly defined roles or assignments can inadvertently grant users conflicting permissions, leading to separation of duties (SoD) violations.</a:t>
            </a:r>
            <a:endParaRPr lang="en-US" sz="1200" dirty="0"/>
          </a:p>
        </p:txBody>
      </p:sp>
      <p:sp>
        <p:nvSpPr>
          <p:cNvPr id="11" name="Text 9"/>
          <p:cNvSpPr/>
          <p:nvPr/>
        </p:nvSpPr>
        <p:spPr>
          <a:xfrm>
            <a:off x="7492246" y="3668078"/>
            <a:ext cx="6351984" cy="444579"/>
          </a:xfrm>
          <a:prstGeom prst="rect">
            <a:avLst/>
          </a:prstGeom>
          <a:noFill/>
          <a:ln/>
        </p:spPr>
        <p:txBody>
          <a:bodyPr wrap="square" lIns="0" tIns="0" rIns="0" bIns="0" rtlCol="0" anchor="t"/>
          <a:lstStyle/>
          <a:p>
            <a:pPr marL="342900" indent="-342900" algn="l">
              <a:lnSpc>
                <a:spcPts val="1750"/>
              </a:lnSpc>
              <a:buSzPct val="100000"/>
              <a:buChar char="•"/>
            </a:pPr>
            <a:r>
              <a:rPr lang="en-US" sz="1200" b="1" dirty="0">
                <a:solidFill>
                  <a:srgbClr val="272525"/>
                </a:solidFill>
                <a:latin typeface="Lato" pitchFamily="34" charset="0"/>
                <a:ea typeface="Lato" pitchFamily="34" charset="-122"/>
                <a:cs typeface="Lato" pitchFamily="34" charset="-120"/>
              </a:rPr>
              <a:t>Static Nature:</a:t>
            </a:r>
            <a:r>
              <a:rPr lang="en-US" sz="1200" dirty="0">
                <a:solidFill>
                  <a:srgbClr val="272525"/>
                </a:solidFill>
                <a:latin typeface="Lato" pitchFamily="34" charset="0"/>
                <a:ea typeface="Lato" pitchFamily="34" charset="-122"/>
                <a:cs typeface="Lato" pitchFamily="34" charset="-120"/>
              </a:rPr>
              <a:t> Roles can be rigid and struggle to adapt to dynamic business changes, requiring frequent re-evaluation and updates, or leading to over-privileging if not maintained.</a:t>
            </a:r>
            <a:endParaRPr lang="en-US" sz="1200" dirty="0"/>
          </a:p>
        </p:txBody>
      </p:sp>
      <p:grpSp>
        <p:nvGrpSpPr>
          <p:cNvPr id="26" name="Group 25">
            <a:extLst>
              <a:ext uri="{FF2B5EF4-FFF2-40B4-BE49-F238E27FC236}">
                <a16:creationId xmlns:a16="http://schemas.microsoft.com/office/drawing/2014/main" id="{F2471F85-68C1-4FEE-7532-8CE0D4BA2E77}"/>
              </a:ext>
            </a:extLst>
          </p:cNvPr>
          <p:cNvGrpSpPr/>
          <p:nvPr/>
        </p:nvGrpSpPr>
        <p:grpSpPr>
          <a:xfrm>
            <a:off x="793790" y="4695944"/>
            <a:ext cx="13042821" cy="1482447"/>
            <a:chOff x="793790" y="4695944"/>
            <a:chExt cx="13042821" cy="1482447"/>
          </a:xfrm>
        </p:grpSpPr>
        <p:sp>
          <p:nvSpPr>
            <p:cNvPr id="13" name="Shape 11"/>
            <p:cNvSpPr/>
            <p:nvPr/>
          </p:nvSpPr>
          <p:spPr>
            <a:xfrm>
              <a:off x="793790" y="4695944"/>
              <a:ext cx="4255056" cy="1482447"/>
            </a:xfrm>
            <a:prstGeom prst="roundRect">
              <a:avLst>
                <a:gd name="adj" fmla="val 22492"/>
              </a:avLst>
            </a:prstGeom>
            <a:solidFill>
              <a:srgbClr val="E8E8E3"/>
            </a:solidFill>
            <a:ln w="7620">
              <a:solidFill>
                <a:srgbClr val="CECEC9"/>
              </a:solidFill>
              <a:prstDash val="solid"/>
            </a:ln>
          </p:spPr>
        </p:sp>
        <p:sp>
          <p:nvSpPr>
            <p:cNvPr id="14" name="Text 12"/>
            <p:cNvSpPr/>
            <p:nvPr/>
          </p:nvSpPr>
          <p:spPr>
            <a:xfrm>
              <a:off x="1896666" y="4842391"/>
              <a:ext cx="2049185" cy="217051"/>
            </a:xfrm>
            <a:prstGeom prst="rect">
              <a:avLst/>
            </a:prstGeom>
            <a:noFill/>
            <a:ln/>
          </p:spPr>
          <p:txBody>
            <a:bodyPr wrap="none" lIns="0" tIns="0" rIns="0" bIns="0" rtlCol="0" anchor="t"/>
            <a:lstStyle/>
            <a:p>
              <a:pPr marL="0" indent="0" algn="ctr">
                <a:lnSpc>
                  <a:spcPts val="1700"/>
                </a:lnSpc>
                <a:buNone/>
              </a:pPr>
              <a:r>
                <a:rPr lang="en-US" sz="1350" dirty="0">
                  <a:solidFill>
                    <a:srgbClr val="272525"/>
                  </a:solidFill>
                  <a:latin typeface="Gelasio" pitchFamily="34" charset="0"/>
                  <a:ea typeface="Gelasio" pitchFamily="34" charset="-122"/>
                  <a:cs typeface="Gelasio" pitchFamily="34" charset="-120"/>
                </a:rPr>
                <a:t>Strategic Role Engineering</a:t>
              </a:r>
              <a:endParaRPr lang="en-US" sz="1350" dirty="0"/>
            </a:p>
          </p:txBody>
        </p:sp>
        <p:sp>
          <p:nvSpPr>
            <p:cNvPr id="15" name="Text 13"/>
            <p:cNvSpPr/>
            <p:nvPr/>
          </p:nvSpPr>
          <p:spPr>
            <a:xfrm>
              <a:off x="940237" y="5142786"/>
              <a:ext cx="3962162" cy="889159"/>
            </a:xfrm>
            <a:prstGeom prst="rect">
              <a:avLst/>
            </a:prstGeom>
            <a:noFill/>
            <a:ln/>
          </p:spPr>
          <p:txBody>
            <a:bodyPr wrap="square" lIns="0" tIns="0" rIns="0" bIns="0" rtlCol="0" anchor="t"/>
            <a:lstStyle/>
            <a:p>
              <a:pPr marL="0" indent="0" algn="ctr">
                <a:lnSpc>
                  <a:spcPts val="1750"/>
                </a:lnSpc>
                <a:buNone/>
              </a:pPr>
              <a:r>
                <a:rPr lang="en-US" sz="1050" dirty="0">
                  <a:solidFill>
                    <a:srgbClr val="272525"/>
                  </a:solidFill>
                  <a:latin typeface="Lato" pitchFamily="34" charset="0"/>
                  <a:ea typeface="Lato" pitchFamily="34" charset="-122"/>
                  <a:cs typeface="Lato" pitchFamily="34" charset="-120"/>
                </a:rPr>
                <a:t>For RBAC, focus on minimizing role explosion through careful role definition, hierarchical roles, and thorough analysis of business functions. Implement Separation of Duties (SoD) to prevent toxic combinations.</a:t>
              </a:r>
              <a:endParaRPr lang="en-US" sz="1050" dirty="0"/>
            </a:p>
          </p:txBody>
        </p:sp>
        <p:sp>
          <p:nvSpPr>
            <p:cNvPr id="16" name="Shape 14"/>
            <p:cNvSpPr/>
            <p:nvPr/>
          </p:nvSpPr>
          <p:spPr>
            <a:xfrm>
              <a:off x="5187672" y="4695944"/>
              <a:ext cx="4255056" cy="1482447"/>
            </a:xfrm>
            <a:prstGeom prst="roundRect">
              <a:avLst>
                <a:gd name="adj" fmla="val 22492"/>
              </a:avLst>
            </a:prstGeom>
            <a:solidFill>
              <a:srgbClr val="E8E8E3"/>
            </a:solidFill>
            <a:ln w="7620">
              <a:solidFill>
                <a:srgbClr val="CECEC9"/>
              </a:solidFill>
              <a:prstDash val="solid"/>
            </a:ln>
          </p:spPr>
        </p:sp>
        <p:sp>
          <p:nvSpPr>
            <p:cNvPr id="17" name="Text 15"/>
            <p:cNvSpPr/>
            <p:nvPr/>
          </p:nvSpPr>
          <p:spPr>
            <a:xfrm>
              <a:off x="6102787" y="4842391"/>
              <a:ext cx="2424827" cy="217051"/>
            </a:xfrm>
            <a:prstGeom prst="rect">
              <a:avLst/>
            </a:prstGeom>
            <a:noFill/>
            <a:ln/>
          </p:spPr>
          <p:txBody>
            <a:bodyPr wrap="none" lIns="0" tIns="0" rIns="0" bIns="0" rtlCol="0" anchor="t"/>
            <a:lstStyle/>
            <a:p>
              <a:pPr marL="0" indent="0" algn="ctr">
                <a:lnSpc>
                  <a:spcPts val="1700"/>
                </a:lnSpc>
                <a:buNone/>
              </a:pPr>
              <a:r>
                <a:rPr lang="en-US" sz="1350" dirty="0">
                  <a:solidFill>
                    <a:srgbClr val="272525"/>
                  </a:solidFill>
                  <a:latin typeface="Gelasio" pitchFamily="34" charset="0"/>
                  <a:ea typeface="Gelasio" pitchFamily="34" charset="-122"/>
                  <a:cs typeface="Gelasio" pitchFamily="34" charset="-120"/>
                </a:rPr>
                <a:t>Centralized Policy Enforcement</a:t>
              </a:r>
              <a:endParaRPr lang="en-US" sz="1350" dirty="0"/>
            </a:p>
          </p:txBody>
        </p:sp>
        <p:sp>
          <p:nvSpPr>
            <p:cNvPr id="18" name="Text 16"/>
            <p:cNvSpPr/>
            <p:nvPr/>
          </p:nvSpPr>
          <p:spPr>
            <a:xfrm>
              <a:off x="5334119" y="5142786"/>
              <a:ext cx="3962162" cy="889159"/>
            </a:xfrm>
            <a:prstGeom prst="rect">
              <a:avLst/>
            </a:prstGeom>
            <a:noFill/>
            <a:ln/>
          </p:spPr>
          <p:txBody>
            <a:bodyPr wrap="square" lIns="0" tIns="0" rIns="0" bIns="0" rtlCol="0" anchor="t"/>
            <a:lstStyle/>
            <a:p>
              <a:pPr marL="0" indent="0" algn="ctr">
                <a:lnSpc>
                  <a:spcPts val="1750"/>
                </a:lnSpc>
                <a:buNone/>
              </a:pPr>
              <a:r>
                <a:rPr lang="en-US" sz="1050" dirty="0">
                  <a:solidFill>
                    <a:srgbClr val="272525"/>
                  </a:solidFill>
                  <a:latin typeface="Lato" pitchFamily="34" charset="0"/>
                  <a:ea typeface="Lato" pitchFamily="34" charset="-122"/>
                  <a:cs typeface="Lato" pitchFamily="34" charset="-120"/>
                </a:rPr>
                <a:t>For DAC, utilize policy engines or hybrid models (like MAC/DAC combinations) to impose overarching security rules that override or complement discretionary permissions, preventing unauthorized sharing.</a:t>
              </a:r>
              <a:endParaRPr lang="en-US" sz="1050" dirty="0"/>
            </a:p>
          </p:txBody>
        </p:sp>
        <p:sp>
          <p:nvSpPr>
            <p:cNvPr id="19" name="Shape 17"/>
            <p:cNvSpPr/>
            <p:nvPr/>
          </p:nvSpPr>
          <p:spPr>
            <a:xfrm>
              <a:off x="9581555" y="4695944"/>
              <a:ext cx="4255056" cy="1482447"/>
            </a:xfrm>
            <a:prstGeom prst="roundRect">
              <a:avLst>
                <a:gd name="adj" fmla="val 22492"/>
              </a:avLst>
            </a:prstGeom>
            <a:solidFill>
              <a:srgbClr val="E8E8E3"/>
            </a:solidFill>
            <a:ln w="7620">
              <a:solidFill>
                <a:srgbClr val="CECEC9"/>
              </a:solidFill>
              <a:prstDash val="solid"/>
            </a:ln>
          </p:spPr>
        </p:sp>
        <p:sp>
          <p:nvSpPr>
            <p:cNvPr id="20" name="Text 18"/>
            <p:cNvSpPr/>
            <p:nvPr/>
          </p:nvSpPr>
          <p:spPr>
            <a:xfrm>
              <a:off x="10564058" y="4842391"/>
              <a:ext cx="2290048" cy="217051"/>
            </a:xfrm>
            <a:prstGeom prst="rect">
              <a:avLst/>
            </a:prstGeom>
            <a:noFill/>
            <a:ln/>
          </p:spPr>
          <p:txBody>
            <a:bodyPr wrap="none" lIns="0" tIns="0" rIns="0" bIns="0" rtlCol="0" anchor="t"/>
            <a:lstStyle/>
            <a:p>
              <a:pPr marL="0" indent="0" algn="ctr">
                <a:lnSpc>
                  <a:spcPts val="1700"/>
                </a:lnSpc>
                <a:buNone/>
              </a:pPr>
              <a:r>
                <a:rPr lang="en-US" sz="1350" dirty="0">
                  <a:solidFill>
                    <a:srgbClr val="272525"/>
                  </a:solidFill>
                  <a:latin typeface="Gelasio" pitchFamily="34" charset="0"/>
                  <a:ea typeface="Gelasio" pitchFamily="34" charset="-122"/>
                  <a:cs typeface="Gelasio" pitchFamily="34" charset="-120"/>
                </a:rPr>
                <a:t>Dynamic Access Management</a:t>
              </a:r>
              <a:endParaRPr lang="en-US" sz="1350" dirty="0"/>
            </a:p>
          </p:txBody>
        </p:sp>
        <p:sp>
          <p:nvSpPr>
            <p:cNvPr id="21" name="Text 19"/>
            <p:cNvSpPr/>
            <p:nvPr/>
          </p:nvSpPr>
          <p:spPr>
            <a:xfrm>
              <a:off x="9728002" y="5142786"/>
              <a:ext cx="3962162" cy="889159"/>
            </a:xfrm>
            <a:prstGeom prst="rect">
              <a:avLst/>
            </a:prstGeom>
            <a:noFill/>
            <a:ln/>
          </p:spPr>
          <p:txBody>
            <a:bodyPr wrap="square" lIns="0" tIns="0" rIns="0" bIns="0" rtlCol="0" anchor="t"/>
            <a:lstStyle/>
            <a:p>
              <a:pPr marL="0" indent="0" algn="ctr">
                <a:lnSpc>
                  <a:spcPts val="1750"/>
                </a:lnSpc>
                <a:buNone/>
              </a:pPr>
              <a:r>
                <a:rPr lang="en-US" sz="1050" dirty="0">
                  <a:solidFill>
                    <a:srgbClr val="272525"/>
                  </a:solidFill>
                  <a:latin typeface="Lato" pitchFamily="34" charset="0"/>
                  <a:ea typeface="Lato" pitchFamily="34" charset="-122"/>
                  <a:cs typeface="Lato" pitchFamily="34" charset="-120"/>
                </a:rPr>
                <a:t>Mitigate RBAC's static nature by incorporating attribute-based access control (ABAC) or just-in-time access, allowing permissions to be granted based on real-time context and conditions.</a:t>
              </a:r>
              <a:endParaRPr lang="en-US" sz="1050" dirty="0"/>
            </a:p>
          </p:txBody>
        </p:sp>
      </p:grpSp>
      <p:grpSp>
        <p:nvGrpSpPr>
          <p:cNvPr id="25" name="Group 24">
            <a:extLst>
              <a:ext uri="{FF2B5EF4-FFF2-40B4-BE49-F238E27FC236}">
                <a16:creationId xmlns:a16="http://schemas.microsoft.com/office/drawing/2014/main" id="{9369E528-520B-C78A-CFC3-C9CAD8961466}"/>
              </a:ext>
            </a:extLst>
          </p:cNvPr>
          <p:cNvGrpSpPr/>
          <p:nvPr/>
        </p:nvGrpSpPr>
        <p:grpSpPr>
          <a:xfrm>
            <a:off x="793790" y="6530460"/>
            <a:ext cx="13042821" cy="815578"/>
            <a:chOff x="793790" y="6317218"/>
            <a:chExt cx="13042821" cy="815578"/>
          </a:xfrm>
        </p:grpSpPr>
        <p:sp>
          <p:nvSpPr>
            <p:cNvPr id="22" name="Shape 20"/>
            <p:cNvSpPr/>
            <p:nvPr/>
          </p:nvSpPr>
          <p:spPr>
            <a:xfrm>
              <a:off x="793790" y="6317218"/>
              <a:ext cx="13042821" cy="815578"/>
            </a:xfrm>
            <a:prstGeom prst="roundRect">
              <a:avLst>
                <a:gd name="adj" fmla="val 40884"/>
              </a:avLst>
            </a:prstGeom>
            <a:solidFill>
              <a:srgbClr val="E8E8E3"/>
            </a:solidFill>
            <a:ln w="7620">
              <a:solidFill>
                <a:srgbClr val="CECEC9"/>
              </a:solidFill>
              <a:prstDash val="solid"/>
            </a:ln>
          </p:spPr>
        </p:sp>
        <p:sp>
          <p:nvSpPr>
            <p:cNvPr id="23" name="Text 21"/>
            <p:cNvSpPr/>
            <p:nvPr/>
          </p:nvSpPr>
          <p:spPr>
            <a:xfrm>
              <a:off x="6162199" y="6463665"/>
              <a:ext cx="2306003" cy="217051"/>
            </a:xfrm>
            <a:prstGeom prst="rect">
              <a:avLst/>
            </a:prstGeom>
            <a:noFill/>
            <a:ln/>
          </p:spPr>
          <p:txBody>
            <a:bodyPr wrap="none" lIns="0" tIns="0" rIns="0" bIns="0" rtlCol="0" anchor="t"/>
            <a:lstStyle/>
            <a:p>
              <a:pPr marL="0" indent="0" algn="ctr">
                <a:lnSpc>
                  <a:spcPts val="1700"/>
                </a:lnSpc>
                <a:buNone/>
              </a:pPr>
              <a:r>
                <a:rPr lang="en-US" sz="1350" dirty="0">
                  <a:solidFill>
                    <a:srgbClr val="272525"/>
                  </a:solidFill>
                  <a:latin typeface="Gelasio" pitchFamily="34" charset="0"/>
                  <a:ea typeface="Gelasio" pitchFamily="34" charset="-122"/>
                  <a:cs typeface="Gelasio" pitchFamily="34" charset="-120"/>
                </a:rPr>
                <a:t>Regular Auditing &amp; Education</a:t>
              </a:r>
              <a:endParaRPr lang="en-US" sz="1350" dirty="0"/>
            </a:p>
          </p:txBody>
        </p:sp>
        <p:sp>
          <p:nvSpPr>
            <p:cNvPr id="24" name="Text 22"/>
            <p:cNvSpPr/>
            <p:nvPr/>
          </p:nvSpPr>
          <p:spPr>
            <a:xfrm>
              <a:off x="940237" y="6764060"/>
              <a:ext cx="12749927" cy="222290"/>
            </a:xfrm>
            <a:prstGeom prst="rect">
              <a:avLst/>
            </a:prstGeom>
            <a:noFill/>
            <a:ln/>
          </p:spPr>
          <p:txBody>
            <a:bodyPr wrap="none" lIns="0" tIns="0" rIns="0" bIns="0" rtlCol="0" anchor="t"/>
            <a:lstStyle/>
            <a:p>
              <a:pPr marL="0" indent="0" algn="ctr">
                <a:lnSpc>
                  <a:spcPts val="1750"/>
                </a:lnSpc>
                <a:buNone/>
              </a:pPr>
              <a:r>
                <a:rPr lang="en-US" sz="1050" dirty="0">
                  <a:solidFill>
                    <a:srgbClr val="272525"/>
                  </a:solidFill>
                  <a:latin typeface="Lato" pitchFamily="34" charset="0"/>
                  <a:ea typeface="Lato" pitchFamily="34" charset="-122"/>
                  <a:cs typeface="Lato" pitchFamily="34" charset="-120"/>
                </a:rPr>
                <a:t>Combat DAC administrative overhead and Trojan horse risks through automated auditing tools to detect misconfigurations, combined with regular user training on secure permission management practices.</a:t>
              </a:r>
              <a:endParaRPr lang="en-US" sz="105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577215"/>
            <a:ext cx="10258068" cy="527090"/>
          </a:xfrm>
          <a:prstGeom prst="rect">
            <a:avLst/>
          </a:prstGeom>
          <a:noFill/>
          <a:ln/>
        </p:spPr>
        <p:txBody>
          <a:bodyPr wrap="none" lIns="0" tIns="0" rIns="0" bIns="0" rtlCol="0" anchor="t"/>
          <a:lstStyle/>
          <a:p>
            <a:pPr marL="0" indent="0" algn="l">
              <a:lnSpc>
                <a:spcPts val="4150"/>
              </a:lnSpc>
              <a:buNone/>
            </a:pPr>
            <a:r>
              <a:rPr lang="en-US" sz="3300" dirty="0">
                <a:solidFill>
                  <a:srgbClr val="312F2B"/>
                </a:solidFill>
                <a:latin typeface="Gelasio" pitchFamily="34" charset="0"/>
                <a:ea typeface="Gelasio" pitchFamily="34" charset="-122"/>
                <a:cs typeface="Gelasio" pitchFamily="34" charset="-120"/>
              </a:rPr>
              <a:t>Future Trends: Attribute-Based Access Control (ABAC)</a:t>
            </a:r>
            <a:endParaRPr lang="en-US" sz="3300" dirty="0"/>
          </a:p>
        </p:txBody>
      </p:sp>
      <p:sp>
        <p:nvSpPr>
          <p:cNvPr id="3" name="Text 1"/>
          <p:cNvSpPr/>
          <p:nvPr/>
        </p:nvSpPr>
        <p:spPr>
          <a:xfrm>
            <a:off x="793790" y="1441609"/>
            <a:ext cx="13042821" cy="539829"/>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Attribute-Based Access Control (ABAC) represents a powerful evolution in access management, moving beyond static roles to grant permissions based on dynamic, real-time conditions.</a:t>
            </a:r>
            <a:endParaRPr lang="en-US" sz="1300" dirty="0"/>
          </a:p>
        </p:txBody>
      </p:sp>
      <p:sp>
        <p:nvSpPr>
          <p:cNvPr id="4" name="Shape 2"/>
          <p:cNvSpPr/>
          <p:nvPr/>
        </p:nvSpPr>
        <p:spPr>
          <a:xfrm>
            <a:off x="793790" y="2171224"/>
            <a:ext cx="4235172" cy="2097167"/>
          </a:xfrm>
          <a:prstGeom prst="roundRect">
            <a:avLst>
              <a:gd name="adj" fmla="val 3379"/>
            </a:avLst>
          </a:prstGeom>
          <a:solidFill>
            <a:srgbClr val="FFFFFF">
              <a:alpha val="95000"/>
            </a:srgbClr>
          </a:solidFill>
          <a:ln w="22860">
            <a:solidFill>
              <a:srgbClr val="CECEC9"/>
            </a:solidFill>
            <a:prstDash val="solid"/>
          </a:ln>
        </p:spPr>
      </p:sp>
      <p:sp>
        <p:nvSpPr>
          <p:cNvPr id="5" name="Text 3"/>
          <p:cNvSpPr/>
          <p:nvPr/>
        </p:nvSpPr>
        <p:spPr>
          <a:xfrm>
            <a:off x="1857018" y="2362676"/>
            <a:ext cx="2108716" cy="263485"/>
          </a:xfrm>
          <a:prstGeom prst="rect">
            <a:avLst/>
          </a:prstGeom>
          <a:noFill/>
          <a:ln/>
        </p:spPr>
        <p:txBody>
          <a:bodyPr wrap="none" lIns="0" tIns="0" rIns="0" bIns="0" rtlCol="0" anchor="t"/>
          <a:lstStyle/>
          <a:p>
            <a:pPr marL="0" indent="0" algn="ctr">
              <a:lnSpc>
                <a:spcPts val="2050"/>
              </a:lnSpc>
              <a:buNone/>
            </a:pPr>
            <a:r>
              <a:rPr lang="en-US" sz="1650" dirty="0">
                <a:solidFill>
                  <a:srgbClr val="272525"/>
                </a:solidFill>
                <a:latin typeface="Gelasio" pitchFamily="34" charset="0"/>
                <a:ea typeface="Gelasio" pitchFamily="34" charset="-122"/>
                <a:cs typeface="Gelasio" pitchFamily="34" charset="-120"/>
              </a:rPr>
              <a:t>ABAC Definition</a:t>
            </a:r>
            <a:endParaRPr lang="en-US" sz="1650" dirty="0"/>
          </a:p>
        </p:txBody>
      </p:sp>
      <p:sp>
        <p:nvSpPr>
          <p:cNvPr id="6" name="Text 4"/>
          <p:cNvSpPr/>
          <p:nvPr/>
        </p:nvSpPr>
        <p:spPr>
          <a:xfrm>
            <a:off x="985242" y="2727365"/>
            <a:ext cx="3852267" cy="1079659"/>
          </a:xfrm>
          <a:prstGeom prst="rect">
            <a:avLst/>
          </a:prstGeom>
          <a:noFill/>
          <a:ln/>
        </p:spPr>
        <p:txBody>
          <a:bodyPr wrap="square" lIns="0" tIns="0" rIns="0" bIns="0" rtlCol="0" anchor="t"/>
          <a:lstStyle/>
          <a:p>
            <a:pPr marL="0" indent="0" algn="ctr">
              <a:lnSpc>
                <a:spcPts val="2100"/>
              </a:lnSpc>
              <a:buNone/>
            </a:pPr>
            <a:r>
              <a:rPr lang="en-US" sz="1300" dirty="0">
                <a:solidFill>
                  <a:srgbClr val="272525"/>
                </a:solidFill>
                <a:latin typeface="Lato" pitchFamily="34" charset="0"/>
                <a:ea typeface="Lato" pitchFamily="34" charset="-122"/>
                <a:cs typeface="Lato" pitchFamily="34" charset="-120"/>
              </a:rPr>
              <a:t>ABAC grants access based on a combination of user, resource, action, and environmental attributes rather than predefined roles, offering highly flexible and fine-grained control.</a:t>
            </a:r>
            <a:endParaRPr lang="en-US" sz="1300" dirty="0"/>
          </a:p>
        </p:txBody>
      </p:sp>
      <p:sp>
        <p:nvSpPr>
          <p:cNvPr id="7" name="Shape 5"/>
          <p:cNvSpPr/>
          <p:nvPr/>
        </p:nvSpPr>
        <p:spPr>
          <a:xfrm>
            <a:off x="5197554" y="2171224"/>
            <a:ext cx="4235172" cy="2097167"/>
          </a:xfrm>
          <a:prstGeom prst="roundRect">
            <a:avLst>
              <a:gd name="adj" fmla="val 3379"/>
            </a:avLst>
          </a:prstGeom>
          <a:solidFill>
            <a:srgbClr val="FFFFFF">
              <a:alpha val="95000"/>
            </a:srgbClr>
          </a:solidFill>
          <a:ln w="22860">
            <a:solidFill>
              <a:srgbClr val="CECEC9"/>
            </a:solidFill>
            <a:prstDash val="solid"/>
          </a:ln>
        </p:spPr>
      </p:sp>
      <p:sp>
        <p:nvSpPr>
          <p:cNvPr id="8" name="Text 6"/>
          <p:cNvSpPr/>
          <p:nvPr/>
        </p:nvSpPr>
        <p:spPr>
          <a:xfrm>
            <a:off x="6152912" y="2362676"/>
            <a:ext cx="2324338" cy="263485"/>
          </a:xfrm>
          <a:prstGeom prst="rect">
            <a:avLst/>
          </a:prstGeom>
          <a:noFill/>
          <a:ln/>
        </p:spPr>
        <p:txBody>
          <a:bodyPr wrap="none" lIns="0" tIns="0" rIns="0" bIns="0" rtlCol="0" anchor="t"/>
          <a:lstStyle/>
          <a:p>
            <a:pPr marL="0" indent="0" algn="ctr">
              <a:lnSpc>
                <a:spcPts val="2050"/>
              </a:lnSpc>
              <a:buNone/>
            </a:pPr>
            <a:r>
              <a:rPr lang="en-US" sz="1650" dirty="0">
                <a:solidFill>
                  <a:srgbClr val="272525"/>
                </a:solidFill>
                <a:latin typeface="Gelasio" pitchFamily="34" charset="0"/>
                <a:ea typeface="Gelasio" pitchFamily="34" charset="-122"/>
                <a:cs typeface="Gelasio" pitchFamily="34" charset="-120"/>
              </a:rPr>
              <a:t>Extending Beyond RBAC</a:t>
            </a:r>
            <a:endParaRPr lang="en-US" sz="1650" dirty="0"/>
          </a:p>
        </p:txBody>
      </p:sp>
      <p:sp>
        <p:nvSpPr>
          <p:cNvPr id="9" name="Text 7"/>
          <p:cNvSpPr/>
          <p:nvPr/>
        </p:nvSpPr>
        <p:spPr>
          <a:xfrm>
            <a:off x="5389007" y="2727365"/>
            <a:ext cx="3852267" cy="1079659"/>
          </a:xfrm>
          <a:prstGeom prst="rect">
            <a:avLst/>
          </a:prstGeom>
          <a:noFill/>
          <a:ln/>
        </p:spPr>
        <p:txBody>
          <a:bodyPr wrap="square" lIns="0" tIns="0" rIns="0" bIns="0" rtlCol="0" anchor="t"/>
          <a:lstStyle/>
          <a:p>
            <a:pPr marL="0" indent="0" algn="ctr">
              <a:lnSpc>
                <a:spcPts val="2100"/>
              </a:lnSpc>
              <a:buNone/>
            </a:pPr>
            <a:r>
              <a:rPr lang="en-US" sz="1300" dirty="0">
                <a:solidFill>
                  <a:srgbClr val="272525"/>
                </a:solidFill>
                <a:latin typeface="Lato" pitchFamily="34" charset="0"/>
                <a:ea typeface="Lato" pitchFamily="34" charset="-122"/>
                <a:cs typeface="Lato" pitchFamily="34" charset="-120"/>
              </a:rPr>
              <a:t>Unlike RBAC's static roles, ABAC provides dynamic access decisions, adapting to real-time context and significantly reducing the risk of "role explosion" by eliminating the need for numerous specific roles.</a:t>
            </a:r>
            <a:endParaRPr lang="en-US" sz="1300" dirty="0"/>
          </a:p>
        </p:txBody>
      </p:sp>
      <p:sp>
        <p:nvSpPr>
          <p:cNvPr id="10" name="Shape 8"/>
          <p:cNvSpPr/>
          <p:nvPr/>
        </p:nvSpPr>
        <p:spPr>
          <a:xfrm>
            <a:off x="9601319" y="2171224"/>
            <a:ext cx="4235291" cy="2097167"/>
          </a:xfrm>
          <a:prstGeom prst="roundRect">
            <a:avLst>
              <a:gd name="adj" fmla="val 3379"/>
            </a:avLst>
          </a:prstGeom>
          <a:solidFill>
            <a:srgbClr val="FFFFFF">
              <a:alpha val="95000"/>
            </a:srgbClr>
          </a:solidFill>
          <a:ln w="22860">
            <a:solidFill>
              <a:srgbClr val="CECEC9"/>
            </a:solidFill>
            <a:prstDash val="solid"/>
          </a:ln>
        </p:spPr>
      </p:sp>
      <p:sp>
        <p:nvSpPr>
          <p:cNvPr id="11" name="Text 9"/>
          <p:cNvSpPr/>
          <p:nvPr/>
        </p:nvSpPr>
        <p:spPr>
          <a:xfrm>
            <a:off x="10664547" y="2362676"/>
            <a:ext cx="2108716" cy="263485"/>
          </a:xfrm>
          <a:prstGeom prst="rect">
            <a:avLst/>
          </a:prstGeom>
          <a:noFill/>
          <a:ln/>
        </p:spPr>
        <p:txBody>
          <a:bodyPr wrap="none" lIns="0" tIns="0" rIns="0" bIns="0" rtlCol="0" anchor="t"/>
          <a:lstStyle/>
          <a:p>
            <a:pPr marL="0" indent="0" algn="ctr">
              <a:lnSpc>
                <a:spcPts val="2050"/>
              </a:lnSpc>
              <a:buNone/>
            </a:pPr>
            <a:r>
              <a:rPr lang="en-US" sz="1650" dirty="0">
                <a:solidFill>
                  <a:srgbClr val="272525"/>
                </a:solidFill>
                <a:latin typeface="Gelasio" pitchFamily="34" charset="0"/>
                <a:ea typeface="Gelasio" pitchFamily="34" charset="-122"/>
                <a:cs typeface="Gelasio" pitchFamily="34" charset="-120"/>
              </a:rPr>
              <a:t>Role in Zero Trust</a:t>
            </a:r>
            <a:endParaRPr lang="en-US" sz="1650" dirty="0"/>
          </a:p>
        </p:txBody>
      </p:sp>
      <p:sp>
        <p:nvSpPr>
          <p:cNvPr id="12" name="Text 10"/>
          <p:cNvSpPr/>
          <p:nvPr/>
        </p:nvSpPr>
        <p:spPr>
          <a:xfrm>
            <a:off x="9792772" y="2727365"/>
            <a:ext cx="3852386" cy="1349573"/>
          </a:xfrm>
          <a:prstGeom prst="rect">
            <a:avLst/>
          </a:prstGeom>
          <a:noFill/>
          <a:ln/>
        </p:spPr>
        <p:txBody>
          <a:bodyPr wrap="square" lIns="0" tIns="0" rIns="0" bIns="0" rtlCol="0" anchor="t"/>
          <a:lstStyle/>
          <a:p>
            <a:pPr marL="0" indent="0" algn="ctr">
              <a:lnSpc>
                <a:spcPts val="2100"/>
              </a:lnSpc>
              <a:buNone/>
            </a:pPr>
            <a:r>
              <a:rPr lang="en-US" sz="1300" dirty="0">
                <a:solidFill>
                  <a:srgbClr val="272525"/>
                </a:solidFill>
                <a:latin typeface="Lato" pitchFamily="34" charset="0"/>
                <a:ea typeface="Lato" pitchFamily="34" charset="-122"/>
                <a:cs typeface="Lato" pitchFamily="34" charset="-120"/>
              </a:rPr>
              <a:t>ABAC is a foundational component of Zero Trust architectures, continuously verifying access requests against policies based on current attributes to enforce the principle of "never trust, always verify."</a:t>
            </a:r>
            <a:endParaRPr lang="en-US" sz="1300" dirty="0"/>
          </a:p>
        </p:txBody>
      </p:sp>
      <p:sp>
        <p:nvSpPr>
          <p:cNvPr id="13" name="Text 11"/>
          <p:cNvSpPr/>
          <p:nvPr/>
        </p:nvSpPr>
        <p:spPr>
          <a:xfrm>
            <a:off x="793790" y="4521398"/>
            <a:ext cx="3640931" cy="316230"/>
          </a:xfrm>
          <a:prstGeom prst="rect">
            <a:avLst/>
          </a:prstGeom>
          <a:noFill/>
          <a:ln/>
        </p:spPr>
        <p:txBody>
          <a:bodyPr wrap="none" lIns="0" tIns="0" rIns="0" bIns="0" rtlCol="0" anchor="t"/>
          <a:lstStyle/>
          <a:p>
            <a:pPr marL="0" indent="0" algn="l">
              <a:lnSpc>
                <a:spcPts val="2450"/>
              </a:lnSpc>
              <a:buNone/>
            </a:pPr>
            <a:r>
              <a:rPr lang="en-US" sz="1950" dirty="0">
                <a:solidFill>
                  <a:srgbClr val="312F2B"/>
                </a:solidFill>
                <a:latin typeface="Gelasio" pitchFamily="34" charset="0"/>
                <a:ea typeface="Gelasio" pitchFamily="34" charset="-122"/>
                <a:cs typeface="Gelasio" pitchFamily="34" charset="-120"/>
              </a:rPr>
              <a:t>Key Attributes for ABAC Policies</a:t>
            </a:r>
            <a:endParaRPr lang="en-US" sz="1950" dirty="0"/>
          </a:p>
        </p:txBody>
      </p:sp>
      <p:sp>
        <p:nvSpPr>
          <p:cNvPr id="14" name="Text 12"/>
          <p:cNvSpPr/>
          <p:nvPr/>
        </p:nvSpPr>
        <p:spPr>
          <a:xfrm>
            <a:off x="793790" y="5259229"/>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312F2B"/>
                </a:solidFill>
                <a:latin typeface="Gelasio" pitchFamily="34" charset="0"/>
                <a:ea typeface="Gelasio" pitchFamily="34" charset="-122"/>
                <a:cs typeface="Gelasio" pitchFamily="34" charset="-120"/>
              </a:rPr>
              <a:t>Subject Attributes</a:t>
            </a:r>
            <a:endParaRPr lang="en-US" sz="1650" dirty="0"/>
          </a:p>
        </p:txBody>
      </p:sp>
      <p:sp>
        <p:nvSpPr>
          <p:cNvPr id="15" name="Text 13"/>
          <p:cNvSpPr/>
          <p:nvPr/>
        </p:nvSpPr>
        <p:spPr>
          <a:xfrm>
            <a:off x="793790" y="5691307"/>
            <a:ext cx="2952036" cy="1079659"/>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Characteristics of the user or entity requesting access (e.g., user ID, department, security clearance, job role).</a:t>
            </a:r>
            <a:endParaRPr lang="en-US" sz="1300" dirty="0"/>
          </a:p>
        </p:txBody>
      </p:sp>
      <p:sp>
        <p:nvSpPr>
          <p:cNvPr id="16" name="Text 14"/>
          <p:cNvSpPr/>
          <p:nvPr/>
        </p:nvSpPr>
        <p:spPr>
          <a:xfrm>
            <a:off x="4164925" y="5259229"/>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312F2B"/>
                </a:solidFill>
                <a:latin typeface="Gelasio" pitchFamily="34" charset="0"/>
                <a:ea typeface="Gelasio" pitchFamily="34" charset="-122"/>
                <a:cs typeface="Gelasio" pitchFamily="34" charset="-120"/>
              </a:rPr>
              <a:t>Object Attributes</a:t>
            </a:r>
            <a:endParaRPr lang="en-US" sz="1650" dirty="0"/>
          </a:p>
        </p:txBody>
      </p:sp>
      <p:sp>
        <p:nvSpPr>
          <p:cNvPr id="17" name="Text 15"/>
          <p:cNvSpPr/>
          <p:nvPr/>
        </p:nvSpPr>
        <p:spPr>
          <a:xfrm>
            <a:off x="4164925" y="5691307"/>
            <a:ext cx="2952036" cy="1079659"/>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Properties of the resource being accessed (e.g., file sensitivity, data classification, project associated with, resource location).</a:t>
            </a:r>
            <a:endParaRPr lang="en-US" sz="1300" dirty="0"/>
          </a:p>
        </p:txBody>
      </p:sp>
      <p:sp>
        <p:nvSpPr>
          <p:cNvPr id="18" name="Text 16"/>
          <p:cNvSpPr/>
          <p:nvPr/>
        </p:nvSpPr>
        <p:spPr>
          <a:xfrm>
            <a:off x="7536061" y="5259229"/>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312F2B"/>
                </a:solidFill>
                <a:latin typeface="Gelasio" pitchFamily="34" charset="0"/>
                <a:ea typeface="Gelasio" pitchFamily="34" charset="-122"/>
                <a:cs typeface="Gelasio" pitchFamily="34" charset="-120"/>
              </a:rPr>
              <a:t>Action Attributes</a:t>
            </a:r>
            <a:endParaRPr lang="en-US" sz="1650" dirty="0"/>
          </a:p>
        </p:txBody>
      </p:sp>
      <p:sp>
        <p:nvSpPr>
          <p:cNvPr id="19" name="Text 17"/>
          <p:cNvSpPr/>
          <p:nvPr/>
        </p:nvSpPr>
        <p:spPr>
          <a:xfrm>
            <a:off x="7536061" y="5691307"/>
            <a:ext cx="2952036" cy="809744"/>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The specific operation the subject is attempting to perform (e.g., read, write, modify, delete, view, approve).</a:t>
            </a:r>
            <a:endParaRPr lang="en-US" sz="1300" dirty="0"/>
          </a:p>
        </p:txBody>
      </p:sp>
      <p:sp>
        <p:nvSpPr>
          <p:cNvPr id="20" name="Text 18"/>
          <p:cNvSpPr/>
          <p:nvPr/>
        </p:nvSpPr>
        <p:spPr>
          <a:xfrm>
            <a:off x="10907197" y="5259229"/>
            <a:ext cx="2228612" cy="263485"/>
          </a:xfrm>
          <a:prstGeom prst="rect">
            <a:avLst/>
          </a:prstGeom>
          <a:noFill/>
          <a:ln/>
        </p:spPr>
        <p:txBody>
          <a:bodyPr wrap="none" lIns="0" tIns="0" rIns="0" bIns="0" rtlCol="0" anchor="t"/>
          <a:lstStyle/>
          <a:p>
            <a:pPr marL="0" indent="0" algn="l">
              <a:lnSpc>
                <a:spcPts val="2050"/>
              </a:lnSpc>
              <a:buNone/>
            </a:pPr>
            <a:r>
              <a:rPr lang="en-US" sz="1650" dirty="0">
                <a:solidFill>
                  <a:srgbClr val="312F2B"/>
                </a:solidFill>
                <a:latin typeface="Gelasio" pitchFamily="34" charset="0"/>
                <a:ea typeface="Gelasio" pitchFamily="34" charset="-122"/>
                <a:cs typeface="Gelasio" pitchFamily="34" charset="-120"/>
              </a:rPr>
              <a:t>Environment Attributes</a:t>
            </a:r>
            <a:endParaRPr lang="en-US" sz="1650" dirty="0"/>
          </a:p>
        </p:txBody>
      </p:sp>
      <p:sp>
        <p:nvSpPr>
          <p:cNvPr id="21" name="Text 19"/>
          <p:cNvSpPr/>
          <p:nvPr/>
        </p:nvSpPr>
        <p:spPr>
          <a:xfrm>
            <a:off x="10907197" y="5691307"/>
            <a:ext cx="2952036" cy="1079659"/>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Contextual factors surrounding the access request (e.g., time of day, IP address, device security posture, network location).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85098" y="541020"/>
            <a:ext cx="5224462" cy="521256"/>
          </a:xfrm>
          <a:prstGeom prst="rect">
            <a:avLst/>
          </a:prstGeom>
          <a:noFill/>
          <a:ln/>
        </p:spPr>
        <p:txBody>
          <a:bodyPr wrap="none" lIns="0" tIns="0" rIns="0" bIns="0" rtlCol="0" anchor="t"/>
          <a:lstStyle/>
          <a:p>
            <a:pPr marL="0" indent="0" algn="l">
              <a:lnSpc>
                <a:spcPts val="4100"/>
              </a:lnSpc>
              <a:buNone/>
            </a:pPr>
            <a:r>
              <a:rPr lang="en-US" sz="3250" dirty="0">
                <a:solidFill>
                  <a:srgbClr val="312F2B"/>
                </a:solidFill>
                <a:latin typeface="Gelasio" pitchFamily="34" charset="0"/>
                <a:ea typeface="Gelasio" pitchFamily="34" charset="-122"/>
                <a:cs typeface="Gelasio" pitchFamily="34" charset="-120"/>
              </a:rPr>
              <a:t>Security Policy Enforcement</a:t>
            </a:r>
            <a:endParaRPr lang="en-US" sz="3250" dirty="0"/>
          </a:p>
        </p:txBody>
      </p:sp>
      <p:sp>
        <p:nvSpPr>
          <p:cNvPr id="3" name="Text 1"/>
          <p:cNvSpPr/>
          <p:nvPr/>
        </p:nvSpPr>
        <p:spPr>
          <a:xfrm>
            <a:off x="785098" y="1395889"/>
            <a:ext cx="13060204" cy="533638"/>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Security policy enforcement is the critical process of ensuring that defined access rules are consistently applied across an organization's systems and data. It translates policies into actionable controls, preventing unauthorized access and maintaining data integrity.</a:t>
            </a:r>
            <a:endParaRPr lang="en-US" sz="1300" dirty="0"/>
          </a:p>
        </p:txBody>
      </p:sp>
      <p:sp>
        <p:nvSpPr>
          <p:cNvPr id="4" name="Shape 2"/>
          <p:cNvSpPr/>
          <p:nvPr/>
        </p:nvSpPr>
        <p:spPr>
          <a:xfrm>
            <a:off x="785098" y="2117169"/>
            <a:ext cx="6446639" cy="1510070"/>
          </a:xfrm>
          <a:prstGeom prst="roundRect">
            <a:avLst>
              <a:gd name="adj" fmla="val 4641"/>
            </a:avLst>
          </a:prstGeom>
          <a:solidFill>
            <a:srgbClr val="E8E8E3"/>
          </a:solidFill>
          <a:ln w="7620">
            <a:solidFill>
              <a:srgbClr val="CECEC9"/>
            </a:solidFill>
            <a:prstDash val="solid"/>
          </a:ln>
        </p:spPr>
      </p:sp>
      <p:sp>
        <p:nvSpPr>
          <p:cNvPr id="5" name="Text 3"/>
          <p:cNvSpPr/>
          <p:nvPr/>
        </p:nvSpPr>
        <p:spPr>
          <a:xfrm>
            <a:off x="959525" y="2291596"/>
            <a:ext cx="2085499" cy="260747"/>
          </a:xfrm>
          <a:prstGeom prst="rect">
            <a:avLst/>
          </a:prstGeom>
          <a:noFill/>
          <a:ln/>
        </p:spPr>
        <p:txBody>
          <a:bodyPr wrap="none" lIns="0" tIns="0" rIns="0" bIns="0" rtlCol="0" anchor="t"/>
          <a:lstStyle/>
          <a:p>
            <a:pPr marL="0" indent="0" algn="l">
              <a:lnSpc>
                <a:spcPts val="2050"/>
              </a:lnSpc>
              <a:buNone/>
            </a:pPr>
            <a:r>
              <a:rPr lang="en-US" sz="1600" dirty="0">
                <a:solidFill>
                  <a:srgbClr val="272525"/>
                </a:solidFill>
                <a:latin typeface="Gelasio" pitchFamily="34" charset="0"/>
                <a:ea typeface="Gelasio" pitchFamily="34" charset="-122"/>
                <a:cs typeface="Gelasio" pitchFamily="34" charset="-120"/>
              </a:rPr>
              <a:t>DAC Enforcement</a:t>
            </a:r>
            <a:endParaRPr lang="en-US" sz="1600" dirty="0"/>
          </a:p>
        </p:txBody>
      </p:sp>
      <p:sp>
        <p:nvSpPr>
          <p:cNvPr id="6" name="Text 4"/>
          <p:cNvSpPr/>
          <p:nvPr/>
        </p:nvSpPr>
        <p:spPr>
          <a:xfrm>
            <a:off x="959525" y="2652355"/>
            <a:ext cx="6097786" cy="800457"/>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Enforcement is decentralized, relying on individual resource owners to set permissions. This can lead to varied, complex access rules and potential inconsistencies across the organization.</a:t>
            </a:r>
            <a:endParaRPr lang="en-US" sz="1300" dirty="0"/>
          </a:p>
        </p:txBody>
      </p:sp>
      <p:sp>
        <p:nvSpPr>
          <p:cNvPr id="7" name="Shape 5"/>
          <p:cNvSpPr/>
          <p:nvPr/>
        </p:nvSpPr>
        <p:spPr>
          <a:xfrm>
            <a:off x="7398544" y="2117169"/>
            <a:ext cx="6446758" cy="1510070"/>
          </a:xfrm>
          <a:prstGeom prst="roundRect">
            <a:avLst>
              <a:gd name="adj" fmla="val 4641"/>
            </a:avLst>
          </a:prstGeom>
          <a:solidFill>
            <a:srgbClr val="E8E8E3"/>
          </a:solidFill>
          <a:ln w="7620">
            <a:solidFill>
              <a:srgbClr val="CECEC9"/>
            </a:solidFill>
            <a:prstDash val="solid"/>
          </a:ln>
        </p:spPr>
      </p:sp>
      <p:sp>
        <p:nvSpPr>
          <p:cNvPr id="8" name="Text 6"/>
          <p:cNvSpPr/>
          <p:nvPr/>
        </p:nvSpPr>
        <p:spPr>
          <a:xfrm>
            <a:off x="7572970" y="2291596"/>
            <a:ext cx="2085499" cy="260747"/>
          </a:xfrm>
          <a:prstGeom prst="rect">
            <a:avLst/>
          </a:prstGeom>
          <a:noFill/>
          <a:ln/>
        </p:spPr>
        <p:txBody>
          <a:bodyPr wrap="none" lIns="0" tIns="0" rIns="0" bIns="0" rtlCol="0" anchor="t"/>
          <a:lstStyle/>
          <a:p>
            <a:pPr marL="0" indent="0" algn="l">
              <a:lnSpc>
                <a:spcPts val="2050"/>
              </a:lnSpc>
              <a:buNone/>
            </a:pPr>
            <a:r>
              <a:rPr lang="en-US" sz="1600" dirty="0">
                <a:solidFill>
                  <a:srgbClr val="272525"/>
                </a:solidFill>
                <a:latin typeface="Gelasio" pitchFamily="34" charset="0"/>
                <a:ea typeface="Gelasio" pitchFamily="34" charset="-122"/>
                <a:cs typeface="Gelasio" pitchFamily="34" charset="-120"/>
              </a:rPr>
              <a:t>RBAC Enforcement</a:t>
            </a:r>
            <a:endParaRPr lang="en-US" sz="1600" dirty="0"/>
          </a:p>
        </p:txBody>
      </p:sp>
      <p:sp>
        <p:nvSpPr>
          <p:cNvPr id="9" name="Text 7"/>
          <p:cNvSpPr/>
          <p:nvPr/>
        </p:nvSpPr>
        <p:spPr>
          <a:xfrm>
            <a:off x="7572970" y="2652355"/>
            <a:ext cx="6097905" cy="800457"/>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Enforcement is centralized through predefined roles and their associated permissions. This simplifies management and ensures consistent application of access rules based on job functions.</a:t>
            </a:r>
            <a:endParaRPr lang="en-US" sz="1300" dirty="0"/>
          </a:p>
        </p:txBody>
      </p:sp>
      <p:sp>
        <p:nvSpPr>
          <p:cNvPr id="10" name="Text 8"/>
          <p:cNvSpPr/>
          <p:nvPr/>
        </p:nvSpPr>
        <p:spPr>
          <a:xfrm>
            <a:off x="785098" y="3877508"/>
            <a:ext cx="3951803" cy="312777"/>
          </a:xfrm>
          <a:prstGeom prst="rect">
            <a:avLst/>
          </a:prstGeom>
          <a:noFill/>
          <a:ln/>
        </p:spPr>
        <p:txBody>
          <a:bodyPr wrap="none" lIns="0" tIns="0" rIns="0" bIns="0" rtlCol="0" anchor="t"/>
          <a:lstStyle/>
          <a:p>
            <a:pPr marL="0" indent="0" algn="l">
              <a:lnSpc>
                <a:spcPts val="2450"/>
              </a:lnSpc>
              <a:buNone/>
            </a:pPr>
            <a:r>
              <a:rPr lang="en-US" sz="1950" dirty="0">
                <a:solidFill>
                  <a:srgbClr val="312F2B"/>
                </a:solidFill>
                <a:latin typeface="Gelasio" pitchFamily="34" charset="0"/>
                <a:ea typeface="Gelasio" pitchFamily="34" charset="-122"/>
                <a:cs typeface="Gelasio" pitchFamily="34" charset="-120"/>
              </a:rPr>
              <a:t>Key Aspects of Robust Enforcement</a:t>
            </a:r>
            <a:endParaRPr lang="en-US" sz="1950" dirty="0"/>
          </a:p>
        </p:txBody>
      </p:sp>
      <p:sp>
        <p:nvSpPr>
          <p:cNvPr id="11" name="Shape 9"/>
          <p:cNvSpPr/>
          <p:nvPr/>
        </p:nvSpPr>
        <p:spPr>
          <a:xfrm>
            <a:off x="785098" y="4440555"/>
            <a:ext cx="6446639" cy="1540550"/>
          </a:xfrm>
          <a:prstGeom prst="roundRect">
            <a:avLst>
              <a:gd name="adj" fmla="val 7123"/>
            </a:avLst>
          </a:prstGeom>
          <a:solidFill>
            <a:srgbClr val="FFFFFF">
              <a:alpha val="95000"/>
            </a:srgbClr>
          </a:solidFill>
          <a:ln w="22860">
            <a:solidFill>
              <a:srgbClr val="CECEC9"/>
            </a:solidFill>
            <a:prstDash val="solid"/>
          </a:ln>
        </p:spPr>
      </p:sp>
      <p:sp>
        <p:nvSpPr>
          <p:cNvPr id="12" name="Shape 10"/>
          <p:cNvSpPr/>
          <p:nvPr/>
        </p:nvSpPr>
        <p:spPr>
          <a:xfrm>
            <a:off x="762238" y="4440555"/>
            <a:ext cx="91440" cy="1540550"/>
          </a:xfrm>
          <a:prstGeom prst="roundRect">
            <a:avLst>
              <a:gd name="adj" fmla="val 76637"/>
            </a:avLst>
          </a:prstGeom>
          <a:solidFill>
            <a:srgbClr val="E5E5E0"/>
          </a:solidFill>
          <a:ln/>
        </p:spPr>
      </p:sp>
      <p:sp>
        <p:nvSpPr>
          <p:cNvPr id="13" name="Text 11"/>
          <p:cNvSpPr/>
          <p:nvPr/>
        </p:nvSpPr>
        <p:spPr>
          <a:xfrm>
            <a:off x="1043345" y="4630222"/>
            <a:ext cx="2085499" cy="260747"/>
          </a:xfrm>
          <a:prstGeom prst="rect">
            <a:avLst/>
          </a:prstGeom>
          <a:noFill/>
          <a:ln/>
        </p:spPr>
        <p:txBody>
          <a:bodyPr wrap="none" lIns="0" tIns="0" rIns="0" bIns="0" rtlCol="0" anchor="t"/>
          <a:lstStyle/>
          <a:p>
            <a:pPr marL="0" indent="0" algn="l">
              <a:lnSpc>
                <a:spcPts val="2050"/>
              </a:lnSpc>
              <a:buNone/>
            </a:pPr>
            <a:r>
              <a:rPr lang="en-US" sz="1600" dirty="0">
                <a:solidFill>
                  <a:srgbClr val="272525"/>
                </a:solidFill>
                <a:latin typeface="Gelasio" pitchFamily="34" charset="0"/>
                <a:ea typeface="Gelasio" pitchFamily="34" charset="-122"/>
                <a:cs typeface="Gelasio" pitchFamily="34" charset="-120"/>
              </a:rPr>
              <a:t>Policy Consistency</a:t>
            </a:r>
            <a:endParaRPr lang="en-US" sz="1600" dirty="0"/>
          </a:p>
        </p:txBody>
      </p:sp>
      <p:sp>
        <p:nvSpPr>
          <p:cNvPr id="14" name="Text 12"/>
          <p:cNvSpPr/>
          <p:nvPr/>
        </p:nvSpPr>
        <p:spPr>
          <a:xfrm>
            <a:off x="1043345" y="4990981"/>
            <a:ext cx="5998726" cy="800457"/>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Ensuring uniform application of rules across diverse systems and applications is crucial. Inconsistent enforcement can create security gaps and operational inefficiencies.</a:t>
            </a:r>
            <a:endParaRPr lang="en-US" sz="1300" dirty="0"/>
          </a:p>
        </p:txBody>
      </p:sp>
      <p:sp>
        <p:nvSpPr>
          <p:cNvPr id="15" name="Shape 13"/>
          <p:cNvSpPr/>
          <p:nvPr/>
        </p:nvSpPr>
        <p:spPr>
          <a:xfrm>
            <a:off x="7398544" y="4440555"/>
            <a:ext cx="6446758" cy="1540550"/>
          </a:xfrm>
          <a:prstGeom prst="roundRect">
            <a:avLst>
              <a:gd name="adj" fmla="val 7123"/>
            </a:avLst>
          </a:prstGeom>
          <a:solidFill>
            <a:srgbClr val="FFFFFF">
              <a:alpha val="95000"/>
            </a:srgbClr>
          </a:solidFill>
          <a:ln w="22860">
            <a:solidFill>
              <a:srgbClr val="CECEC9"/>
            </a:solidFill>
            <a:prstDash val="solid"/>
          </a:ln>
        </p:spPr>
      </p:sp>
      <p:sp>
        <p:nvSpPr>
          <p:cNvPr id="16" name="Shape 14"/>
          <p:cNvSpPr/>
          <p:nvPr/>
        </p:nvSpPr>
        <p:spPr>
          <a:xfrm>
            <a:off x="7375684" y="4440555"/>
            <a:ext cx="91440" cy="1540550"/>
          </a:xfrm>
          <a:prstGeom prst="roundRect">
            <a:avLst>
              <a:gd name="adj" fmla="val 76637"/>
            </a:avLst>
          </a:prstGeom>
          <a:solidFill>
            <a:srgbClr val="E5E5E0"/>
          </a:solidFill>
          <a:ln/>
        </p:spPr>
      </p:sp>
      <p:sp>
        <p:nvSpPr>
          <p:cNvPr id="17" name="Text 15"/>
          <p:cNvSpPr/>
          <p:nvPr/>
        </p:nvSpPr>
        <p:spPr>
          <a:xfrm>
            <a:off x="7656790" y="4630222"/>
            <a:ext cx="2085499" cy="260747"/>
          </a:xfrm>
          <a:prstGeom prst="rect">
            <a:avLst/>
          </a:prstGeom>
          <a:noFill/>
          <a:ln/>
        </p:spPr>
        <p:txBody>
          <a:bodyPr wrap="none" lIns="0" tIns="0" rIns="0" bIns="0" rtlCol="0" anchor="t"/>
          <a:lstStyle/>
          <a:p>
            <a:pPr marL="0" indent="0" algn="l">
              <a:lnSpc>
                <a:spcPts val="2050"/>
              </a:lnSpc>
              <a:buNone/>
            </a:pPr>
            <a:r>
              <a:rPr lang="en-US" sz="1600" dirty="0">
                <a:solidFill>
                  <a:srgbClr val="272525"/>
                </a:solidFill>
                <a:latin typeface="Gelasio" pitchFamily="34" charset="0"/>
                <a:ea typeface="Gelasio" pitchFamily="34" charset="-122"/>
                <a:cs typeface="Gelasio" pitchFamily="34" charset="-120"/>
              </a:rPr>
              <a:t>Audit Trails &amp; Logging</a:t>
            </a:r>
            <a:endParaRPr lang="en-US" sz="1600" dirty="0"/>
          </a:p>
        </p:txBody>
      </p:sp>
      <p:sp>
        <p:nvSpPr>
          <p:cNvPr id="18" name="Text 16"/>
          <p:cNvSpPr/>
          <p:nvPr/>
        </p:nvSpPr>
        <p:spPr>
          <a:xfrm>
            <a:off x="7656790" y="4990981"/>
            <a:ext cx="5998845" cy="800457"/>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Comprehensive logging and monitoring of access attempts and policy decisions are essential for accountability, incident response, and forensic analysis to detect and investigate breaches.</a:t>
            </a:r>
            <a:endParaRPr lang="en-US" sz="1300" dirty="0"/>
          </a:p>
        </p:txBody>
      </p:sp>
      <p:sp>
        <p:nvSpPr>
          <p:cNvPr id="19" name="Shape 17"/>
          <p:cNvSpPr/>
          <p:nvPr/>
        </p:nvSpPr>
        <p:spPr>
          <a:xfrm>
            <a:off x="785098" y="6147911"/>
            <a:ext cx="6446639" cy="1540550"/>
          </a:xfrm>
          <a:prstGeom prst="roundRect">
            <a:avLst>
              <a:gd name="adj" fmla="val 7123"/>
            </a:avLst>
          </a:prstGeom>
          <a:solidFill>
            <a:srgbClr val="FFFFFF">
              <a:alpha val="95000"/>
            </a:srgbClr>
          </a:solidFill>
          <a:ln w="22860">
            <a:solidFill>
              <a:srgbClr val="CECEC9"/>
            </a:solidFill>
            <a:prstDash val="solid"/>
          </a:ln>
        </p:spPr>
      </p:sp>
      <p:sp>
        <p:nvSpPr>
          <p:cNvPr id="20" name="Shape 18"/>
          <p:cNvSpPr/>
          <p:nvPr/>
        </p:nvSpPr>
        <p:spPr>
          <a:xfrm>
            <a:off x="762238" y="6147911"/>
            <a:ext cx="91440" cy="1540550"/>
          </a:xfrm>
          <a:prstGeom prst="roundRect">
            <a:avLst>
              <a:gd name="adj" fmla="val 76637"/>
            </a:avLst>
          </a:prstGeom>
          <a:solidFill>
            <a:srgbClr val="E5E5E0"/>
          </a:solidFill>
          <a:ln/>
        </p:spPr>
      </p:sp>
      <p:sp>
        <p:nvSpPr>
          <p:cNvPr id="21" name="Text 19"/>
          <p:cNvSpPr/>
          <p:nvPr/>
        </p:nvSpPr>
        <p:spPr>
          <a:xfrm>
            <a:off x="1043345" y="6337578"/>
            <a:ext cx="2444234" cy="260747"/>
          </a:xfrm>
          <a:prstGeom prst="rect">
            <a:avLst/>
          </a:prstGeom>
          <a:noFill/>
          <a:ln/>
        </p:spPr>
        <p:txBody>
          <a:bodyPr wrap="none" lIns="0" tIns="0" rIns="0" bIns="0" rtlCol="0" anchor="t"/>
          <a:lstStyle/>
          <a:p>
            <a:pPr marL="0" indent="0" algn="l">
              <a:lnSpc>
                <a:spcPts val="2050"/>
              </a:lnSpc>
              <a:buNone/>
            </a:pPr>
            <a:r>
              <a:rPr lang="en-US" sz="1600" dirty="0">
                <a:solidFill>
                  <a:srgbClr val="272525"/>
                </a:solidFill>
                <a:latin typeface="Gelasio" pitchFamily="34" charset="0"/>
                <a:ea typeface="Gelasio" pitchFamily="34" charset="-122"/>
                <a:cs typeface="Gelasio" pitchFamily="34" charset="-120"/>
              </a:rPr>
              <a:t>Compliance Requirements</a:t>
            </a:r>
            <a:endParaRPr lang="en-US" sz="1600" dirty="0"/>
          </a:p>
        </p:txBody>
      </p:sp>
      <p:sp>
        <p:nvSpPr>
          <p:cNvPr id="22" name="Text 20"/>
          <p:cNvSpPr/>
          <p:nvPr/>
        </p:nvSpPr>
        <p:spPr>
          <a:xfrm>
            <a:off x="1043345" y="6698337"/>
            <a:ext cx="5998726" cy="800457"/>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Enforcement mechanisms must align with regulatory frameworks such as </a:t>
            </a:r>
            <a:r>
              <a:rPr lang="en-US" sz="1300" b="1" dirty="0">
                <a:solidFill>
                  <a:srgbClr val="272525"/>
                </a:solidFill>
                <a:latin typeface="Lato" pitchFamily="34" charset="0"/>
                <a:ea typeface="Lato" pitchFamily="34" charset="-122"/>
                <a:cs typeface="Lato" pitchFamily="34" charset="-120"/>
              </a:rPr>
              <a:t>HIPAA</a:t>
            </a:r>
            <a:r>
              <a:rPr lang="en-US" sz="1300" dirty="0">
                <a:solidFill>
                  <a:srgbClr val="272525"/>
                </a:solidFill>
                <a:latin typeface="Lato" pitchFamily="34" charset="0"/>
                <a:ea typeface="Lato" pitchFamily="34" charset="-122"/>
                <a:cs typeface="Lato" pitchFamily="34" charset="-120"/>
              </a:rPr>
              <a:t> (for healthcare data privacy) and </a:t>
            </a:r>
            <a:r>
              <a:rPr lang="en-US" sz="1300" b="1" dirty="0">
                <a:solidFill>
                  <a:srgbClr val="272525"/>
                </a:solidFill>
                <a:latin typeface="Lato" pitchFamily="34" charset="0"/>
                <a:ea typeface="Lato" pitchFamily="34" charset="-122"/>
                <a:cs typeface="Lato" pitchFamily="34" charset="-120"/>
              </a:rPr>
              <a:t>SOX</a:t>
            </a:r>
            <a:r>
              <a:rPr lang="en-US" sz="1300" dirty="0">
                <a:solidFill>
                  <a:srgbClr val="272525"/>
                </a:solidFill>
                <a:latin typeface="Lato" pitchFamily="34" charset="0"/>
                <a:ea typeface="Lato" pitchFamily="34" charset="-122"/>
                <a:cs typeface="Lato" pitchFamily="34" charset="-120"/>
              </a:rPr>
              <a:t> (for financial reporting integrity), which mandate specific controls and auditing.</a:t>
            </a:r>
            <a:endParaRPr lang="en-US" sz="1300" dirty="0"/>
          </a:p>
        </p:txBody>
      </p:sp>
      <p:sp>
        <p:nvSpPr>
          <p:cNvPr id="23" name="Shape 21"/>
          <p:cNvSpPr/>
          <p:nvPr/>
        </p:nvSpPr>
        <p:spPr>
          <a:xfrm>
            <a:off x="7398544" y="6147911"/>
            <a:ext cx="6446758" cy="1540550"/>
          </a:xfrm>
          <a:prstGeom prst="roundRect">
            <a:avLst>
              <a:gd name="adj" fmla="val 7123"/>
            </a:avLst>
          </a:prstGeom>
          <a:solidFill>
            <a:srgbClr val="FFFFFF">
              <a:alpha val="95000"/>
            </a:srgbClr>
          </a:solidFill>
          <a:ln w="22860">
            <a:solidFill>
              <a:srgbClr val="CECEC9"/>
            </a:solidFill>
            <a:prstDash val="solid"/>
          </a:ln>
        </p:spPr>
      </p:sp>
      <p:sp>
        <p:nvSpPr>
          <p:cNvPr id="24" name="Shape 22"/>
          <p:cNvSpPr/>
          <p:nvPr/>
        </p:nvSpPr>
        <p:spPr>
          <a:xfrm>
            <a:off x="7375684" y="6147911"/>
            <a:ext cx="91440" cy="1540550"/>
          </a:xfrm>
          <a:prstGeom prst="roundRect">
            <a:avLst>
              <a:gd name="adj" fmla="val 76637"/>
            </a:avLst>
          </a:prstGeom>
          <a:solidFill>
            <a:srgbClr val="E5E5E0"/>
          </a:solidFill>
          <a:ln/>
        </p:spPr>
      </p:sp>
      <p:sp>
        <p:nvSpPr>
          <p:cNvPr id="25" name="Text 23"/>
          <p:cNvSpPr/>
          <p:nvPr/>
        </p:nvSpPr>
        <p:spPr>
          <a:xfrm>
            <a:off x="7656790" y="6337578"/>
            <a:ext cx="2324219" cy="260747"/>
          </a:xfrm>
          <a:prstGeom prst="rect">
            <a:avLst/>
          </a:prstGeom>
          <a:noFill/>
          <a:ln/>
        </p:spPr>
        <p:txBody>
          <a:bodyPr wrap="none" lIns="0" tIns="0" rIns="0" bIns="0" rtlCol="0" anchor="t"/>
          <a:lstStyle/>
          <a:p>
            <a:pPr marL="0" indent="0" algn="l">
              <a:lnSpc>
                <a:spcPts val="2050"/>
              </a:lnSpc>
              <a:buNone/>
            </a:pPr>
            <a:r>
              <a:rPr lang="en-US" sz="1600" dirty="0">
                <a:solidFill>
                  <a:srgbClr val="272525"/>
                </a:solidFill>
                <a:latin typeface="Gelasio" pitchFamily="34" charset="0"/>
                <a:ea typeface="Gelasio" pitchFamily="34" charset="-122"/>
                <a:cs typeface="Gelasio" pitchFamily="34" charset="-120"/>
              </a:rPr>
              <a:t>Administrative Oversight</a:t>
            </a:r>
            <a:endParaRPr lang="en-US" sz="1600" dirty="0"/>
          </a:p>
        </p:txBody>
      </p:sp>
      <p:sp>
        <p:nvSpPr>
          <p:cNvPr id="26" name="Text 24"/>
          <p:cNvSpPr/>
          <p:nvPr/>
        </p:nvSpPr>
        <p:spPr>
          <a:xfrm>
            <a:off x="7656790" y="6698337"/>
            <a:ext cx="5998845" cy="800457"/>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Lato" pitchFamily="34" charset="0"/>
                <a:ea typeface="Lato" pitchFamily="34" charset="-122"/>
                <a:cs typeface="Lato" pitchFamily="34" charset="-120"/>
              </a:rPr>
              <a:t>Robust processes for defining, reviewing, updating, and revoking policies are necessary to adapt to evolving organizational needs, threat landscapes, and ensure continuous effectiveness.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830342"/>
            <a:ext cx="6992183" cy="620078"/>
          </a:xfrm>
          <a:prstGeom prst="rect">
            <a:avLst/>
          </a:prstGeom>
          <a:noFill/>
          <a:ln/>
        </p:spPr>
        <p:txBody>
          <a:bodyPr wrap="none" lIns="0" tIns="0" rIns="0" bIns="0" rtlCol="0" anchor="t"/>
          <a:lstStyle/>
          <a:p>
            <a:pPr marL="0" indent="0" algn="l">
              <a:lnSpc>
                <a:spcPts val="4850"/>
              </a:lnSpc>
              <a:buNone/>
            </a:pPr>
            <a:r>
              <a:rPr lang="en-US" sz="3900" dirty="0">
                <a:solidFill>
                  <a:srgbClr val="312F2B"/>
                </a:solidFill>
                <a:latin typeface="Gelasio" pitchFamily="34" charset="0"/>
                <a:ea typeface="Gelasio" pitchFamily="34" charset="-122"/>
                <a:cs typeface="Gelasio" pitchFamily="34" charset="-120"/>
              </a:rPr>
              <a:t>Implementation Considerations</a:t>
            </a:r>
            <a:endParaRPr lang="en-US" sz="3900" dirty="0"/>
          </a:p>
        </p:txBody>
      </p:sp>
      <p:sp>
        <p:nvSpPr>
          <p:cNvPr id="3" name="Shape 1"/>
          <p:cNvSpPr/>
          <p:nvPr/>
        </p:nvSpPr>
        <p:spPr>
          <a:xfrm>
            <a:off x="793790" y="1847255"/>
            <a:ext cx="6422231" cy="1824276"/>
          </a:xfrm>
          <a:prstGeom prst="roundRect">
            <a:avLst>
              <a:gd name="adj" fmla="val 4569"/>
            </a:avLst>
          </a:prstGeom>
          <a:solidFill>
            <a:srgbClr val="FFFFFF">
              <a:alpha val="95000"/>
            </a:srgbClr>
          </a:solidFill>
          <a:ln w="22860">
            <a:solidFill>
              <a:srgbClr val="CECEC9"/>
            </a:solidFill>
            <a:prstDash val="solid"/>
          </a:ln>
        </p:spPr>
      </p:sp>
      <p:sp>
        <p:nvSpPr>
          <p:cNvPr id="4" name="Text 2"/>
          <p:cNvSpPr/>
          <p:nvPr/>
        </p:nvSpPr>
        <p:spPr>
          <a:xfrm>
            <a:off x="1015008" y="2068473"/>
            <a:ext cx="2673548"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Choosing DAC vs. RBAC</a:t>
            </a:r>
            <a:endParaRPr lang="en-US" sz="1950" dirty="0"/>
          </a:p>
        </p:txBody>
      </p:sp>
      <p:sp>
        <p:nvSpPr>
          <p:cNvPr id="5" name="Text 3"/>
          <p:cNvSpPr/>
          <p:nvPr/>
        </p:nvSpPr>
        <p:spPr>
          <a:xfrm>
            <a:off x="1015008" y="2497693"/>
            <a:ext cx="597979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Evaluate the specific needs for access granularity, administrative overhead, and the complexity of user roles. DAC offers flexibility for individual owners, while RBAC provides structured control.</a:t>
            </a:r>
            <a:endParaRPr lang="en-US" sz="1550" dirty="0"/>
          </a:p>
        </p:txBody>
      </p:sp>
      <p:sp>
        <p:nvSpPr>
          <p:cNvPr id="6" name="Shape 4"/>
          <p:cNvSpPr/>
          <p:nvPr/>
        </p:nvSpPr>
        <p:spPr>
          <a:xfrm>
            <a:off x="7414379" y="1847255"/>
            <a:ext cx="6422231" cy="1824276"/>
          </a:xfrm>
          <a:prstGeom prst="roundRect">
            <a:avLst>
              <a:gd name="adj" fmla="val 4569"/>
            </a:avLst>
          </a:prstGeom>
          <a:solidFill>
            <a:srgbClr val="FFFFFF">
              <a:alpha val="95000"/>
            </a:srgbClr>
          </a:solidFill>
          <a:ln w="22860">
            <a:solidFill>
              <a:srgbClr val="CECEC9"/>
            </a:solidFill>
            <a:prstDash val="solid"/>
          </a:ln>
        </p:spPr>
      </p:sp>
      <p:sp>
        <p:nvSpPr>
          <p:cNvPr id="7" name="Text 5"/>
          <p:cNvSpPr/>
          <p:nvPr/>
        </p:nvSpPr>
        <p:spPr>
          <a:xfrm>
            <a:off x="7635597" y="206847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Organizational Scale</a:t>
            </a:r>
            <a:endParaRPr lang="en-US" sz="1950" dirty="0"/>
          </a:p>
        </p:txBody>
      </p:sp>
      <p:sp>
        <p:nvSpPr>
          <p:cNvPr id="8" name="Text 6"/>
          <p:cNvSpPr/>
          <p:nvPr/>
        </p:nvSpPr>
        <p:spPr>
          <a:xfrm>
            <a:off x="7635597" y="2497693"/>
            <a:ext cx="597979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Smaller organizations might find DAC simpler initially. Larger enterprises, with diverse departments and roles, benefit significantly from RBAC's scalability and simplified management of permissions.</a:t>
            </a:r>
            <a:endParaRPr lang="en-US" sz="1550" dirty="0"/>
          </a:p>
        </p:txBody>
      </p:sp>
      <p:sp>
        <p:nvSpPr>
          <p:cNvPr id="9" name="Shape 7"/>
          <p:cNvSpPr/>
          <p:nvPr/>
        </p:nvSpPr>
        <p:spPr>
          <a:xfrm>
            <a:off x="793790" y="3869888"/>
            <a:ext cx="6422231" cy="1824276"/>
          </a:xfrm>
          <a:prstGeom prst="roundRect">
            <a:avLst>
              <a:gd name="adj" fmla="val 4569"/>
            </a:avLst>
          </a:prstGeom>
          <a:solidFill>
            <a:srgbClr val="FFFFFF">
              <a:alpha val="95000"/>
            </a:srgbClr>
          </a:solidFill>
          <a:ln w="22860">
            <a:solidFill>
              <a:srgbClr val="CECEC9"/>
            </a:solidFill>
            <a:prstDash val="solid"/>
          </a:ln>
        </p:spPr>
      </p:sp>
      <p:sp>
        <p:nvSpPr>
          <p:cNvPr id="10" name="Text 8"/>
          <p:cNvSpPr/>
          <p:nvPr/>
        </p:nvSpPr>
        <p:spPr>
          <a:xfrm>
            <a:off x="1015008" y="4091107"/>
            <a:ext cx="3232309"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Security &amp; Compliance Needs</a:t>
            </a:r>
            <a:endParaRPr lang="en-US" sz="1950" dirty="0"/>
          </a:p>
        </p:txBody>
      </p:sp>
      <p:sp>
        <p:nvSpPr>
          <p:cNvPr id="11" name="Text 9"/>
          <p:cNvSpPr/>
          <p:nvPr/>
        </p:nvSpPr>
        <p:spPr>
          <a:xfrm>
            <a:off x="1015008" y="4520327"/>
            <a:ext cx="597979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Assess strict security mandates and regulatory compliance (e.g., GDPR, HIPAA). RBAC can help enforce least privilege and simplify auditing required by these frameworks more systematically.</a:t>
            </a:r>
            <a:endParaRPr lang="en-US" sz="1550" dirty="0"/>
          </a:p>
        </p:txBody>
      </p:sp>
      <p:sp>
        <p:nvSpPr>
          <p:cNvPr id="12" name="Shape 10"/>
          <p:cNvSpPr/>
          <p:nvPr/>
        </p:nvSpPr>
        <p:spPr>
          <a:xfrm>
            <a:off x="7414379" y="3869888"/>
            <a:ext cx="6422231" cy="1824276"/>
          </a:xfrm>
          <a:prstGeom prst="roundRect">
            <a:avLst>
              <a:gd name="adj" fmla="val 4569"/>
            </a:avLst>
          </a:prstGeom>
          <a:solidFill>
            <a:srgbClr val="FFFFFF">
              <a:alpha val="95000"/>
            </a:srgbClr>
          </a:solidFill>
          <a:ln w="22860">
            <a:solidFill>
              <a:srgbClr val="CECEC9"/>
            </a:solidFill>
            <a:prstDash val="solid"/>
          </a:ln>
        </p:spPr>
      </p:sp>
      <p:sp>
        <p:nvSpPr>
          <p:cNvPr id="13" name="Text 11"/>
          <p:cNvSpPr/>
          <p:nvPr/>
        </p:nvSpPr>
        <p:spPr>
          <a:xfrm>
            <a:off x="7635597" y="409110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Resource Allocation</a:t>
            </a:r>
            <a:endParaRPr lang="en-US" sz="1950" dirty="0"/>
          </a:p>
        </p:txBody>
      </p:sp>
      <p:sp>
        <p:nvSpPr>
          <p:cNvPr id="14" name="Text 12"/>
          <p:cNvSpPr/>
          <p:nvPr/>
        </p:nvSpPr>
        <p:spPr>
          <a:xfrm>
            <a:off x="7635597" y="4520327"/>
            <a:ext cx="597979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Consider the initial setup costs, ongoing maintenance, and training requirements. While RBAC may have a higher upfront investment, it often leads to long-term operational efficiency and reduced risk.</a:t>
            </a:r>
            <a:endParaRPr lang="en-US" sz="1550" dirty="0"/>
          </a:p>
        </p:txBody>
      </p:sp>
      <p:sp>
        <p:nvSpPr>
          <p:cNvPr id="15" name="Shape 13"/>
          <p:cNvSpPr/>
          <p:nvPr/>
        </p:nvSpPr>
        <p:spPr>
          <a:xfrm>
            <a:off x="793790" y="5892522"/>
            <a:ext cx="13042821" cy="1506736"/>
          </a:xfrm>
          <a:prstGeom prst="roundRect">
            <a:avLst>
              <a:gd name="adj" fmla="val 5532"/>
            </a:avLst>
          </a:prstGeom>
          <a:solidFill>
            <a:srgbClr val="FFFFFF">
              <a:alpha val="95000"/>
            </a:srgbClr>
          </a:solidFill>
          <a:ln w="22860">
            <a:solidFill>
              <a:srgbClr val="CECEC9"/>
            </a:solidFill>
            <a:prstDash val="solid"/>
          </a:ln>
        </p:spPr>
      </p:sp>
      <p:sp>
        <p:nvSpPr>
          <p:cNvPr id="16" name="Text 14"/>
          <p:cNvSpPr/>
          <p:nvPr/>
        </p:nvSpPr>
        <p:spPr>
          <a:xfrm>
            <a:off x="1015008" y="611374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Transition Planning</a:t>
            </a:r>
            <a:endParaRPr lang="en-US" sz="1950" dirty="0"/>
          </a:p>
        </p:txBody>
      </p:sp>
      <p:sp>
        <p:nvSpPr>
          <p:cNvPr id="17" name="Text 15"/>
          <p:cNvSpPr/>
          <p:nvPr/>
        </p:nvSpPr>
        <p:spPr>
          <a:xfrm>
            <a:off x="1015008" y="6542961"/>
            <a:ext cx="12600384"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If migrating from one model to another, plan a phased approach or consider a hybrid model. This minimizes disruption and allows for gradual adaptation and refinement of new access control policies.</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851535"/>
            <a:ext cx="8856345" cy="620078"/>
          </a:xfrm>
          <a:prstGeom prst="rect">
            <a:avLst/>
          </a:prstGeom>
          <a:noFill/>
          <a:ln/>
        </p:spPr>
        <p:txBody>
          <a:bodyPr wrap="none" lIns="0" tIns="0" rIns="0" bIns="0" rtlCol="0" anchor="t"/>
          <a:lstStyle/>
          <a:p>
            <a:pPr marL="0" indent="0" algn="l">
              <a:lnSpc>
                <a:spcPts val="4850"/>
              </a:lnSpc>
              <a:buNone/>
            </a:pPr>
            <a:r>
              <a:rPr lang="en-US" sz="3900" dirty="0">
                <a:solidFill>
                  <a:srgbClr val="312F2B"/>
                </a:solidFill>
                <a:latin typeface="Gelasio" pitchFamily="34" charset="0"/>
                <a:ea typeface="Gelasio" pitchFamily="34" charset="-122"/>
                <a:cs typeface="Gelasio" pitchFamily="34" charset="-120"/>
              </a:rPr>
              <a:t>Access Control Matrix vs Role Hierarchy</a:t>
            </a:r>
            <a:endParaRPr lang="en-US" sz="3900" dirty="0"/>
          </a:p>
        </p:txBody>
      </p:sp>
      <p:sp>
        <p:nvSpPr>
          <p:cNvPr id="3" name="Text 1"/>
          <p:cNvSpPr/>
          <p:nvPr/>
        </p:nvSpPr>
        <p:spPr>
          <a:xfrm>
            <a:off x="793790" y="1967627"/>
            <a:ext cx="3174087" cy="310158"/>
          </a:xfrm>
          <a:prstGeom prst="rect">
            <a:avLst/>
          </a:prstGeom>
          <a:noFill/>
          <a:ln/>
        </p:spPr>
        <p:txBody>
          <a:bodyPr wrap="none" lIns="0" tIns="0" rIns="0" bIns="0" rtlCol="0" anchor="t"/>
          <a:lstStyle/>
          <a:p>
            <a:pPr marL="0" indent="0" algn="l">
              <a:lnSpc>
                <a:spcPts val="2400"/>
              </a:lnSpc>
              <a:buNone/>
            </a:pPr>
            <a:r>
              <a:rPr lang="en-US" sz="1950" dirty="0">
                <a:solidFill>
                  <a:srgbClr val="312F2B"/>
                </a:solidFill>
                <a:latin typeface="Gelasio" pitchFamily="34" charset="0"/>
                <a:ea typeface="Gelasio" pitchFamily="34" charset="-122"/>
                <a:cs typeface="Gelasio" pitchFamily="34" charset="-120"/>
              </a:rPr>
              <a:t>Access Control Matrix (DAC)</a:t>
            </a:r>
            <a:endParaRPr lang="en-US" sz="1950" dirty="0"/>
          </a:p>
        </p:txBody>
      </p:sp>
      <p:sp>
        <p:nvSpPr>
          <p:cNvPr id="4" name="Text 2"/>
          <p:cNvSpPr/>
          <p:nvPr/>
        </p:nvSpPr>
        <p:spPr>
          <a:xfrm>
            <a:off x="793790" y="2476143"/>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The Access Control Matrix (ACM) is a foundational model for Discretionary Access Control (DAC).</a:t>
            </a:r>
            <a:endParaRPr lang="en-US" sz="1550" dirty="0"/>
          </a:p>
        </p:txBody>
      </p:sp>
      <p:sp>
        <p:nvSpPr>
          <p:cNvPr id="5" name="Text 3"/>
          <p:cNvSpPr/>
          <p:nvPr/>
        </p:nvSpPr>
        <p:spPr>
          <a:xfrm>
            <a:off x="793790" y="3289816"/>
            <a:ext cx="6279356" cy="95261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Mathematical Foundations:</a:t>
            </a:r>
            <a:r>
              <a:rPr lang="en-US" sz="1550" dirty="0">
                <a:solidFill>
                  <a:srgbClr val="272525"/>
                </a:solidFill>
                <a:latin typeface="Lato" pitchFamily="34" charset="0"/>
                <a:ea typeface="Lato" pitchFamily="34" charset="-122"/>
                <a:cs typeface="Lato" pitchFamily="34" charset="-120"/>
              </a:rPr>
              <a:t> Based on set theory, representing subjects, objects, and operations. Each cell (subject, object) specifies permitted operations.</a:t>
            </a:r>
            <a:endParaRPr lang="en-US" sz="1550" dirty="0"/>
          </a:p>
        </p:txBody>
      </p:sp>
      <p:sp>
        <p:nvSpPr>
          <p:cNvPr id="6" name="Text 4"/>
          <p:cNvSpPr/>
          <p:nvPr/>
        </p:nvSpPr>
        <p:spPr>
          <a:xfrm>
            <a:off x="793790" y="4311848"/>
            <a:ext cx="6279356" cy="95261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Matrix Representation:</a:t>
            </a:r>
            <a:r>
              <a:rPr lang="en-US" sz="1550" dirty="0">
                <a:solidFill>
                  <a:srgbClr val="272525"/>
                </a:solidFill>
                <a:latin typeface="Lato" pitchFamily="34" charset="0"/>
                <a:ea typeface="Lato" pitchFamily="34" charset="-122"/>
                <a:cs typeface="Lato" pitchFamily="34" charset="-120"/>
              </a:rPr>
              <a:t> Conceptually, rows are subjects (users/processes), columns are objects (files/resources), and cells contain specific permissions (read, write, execute).</a:t>
            </a:r>
            <a:endParaRPr lang="en-US" sz="1550" dirty="0"/>
          </a:p>
        </p:txBody>
      </p:sp>
      <p:sp>
        <p:nvSpPr>
          <p:cNvPr id="7" name="Text 5"/>
          <p:cNvSpPr/>
          <p:nvPr/>
        </p:nvSpPr>
        <p:spPr>
          <a:xfrm>
            <a:off x="793790" y="5333881"/>
            <a:ext cx="6279356" cy="95261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Inheritance Mechanisms:</a:t>
            </a:r>
            <a:r>
              <a:rPr lang="en-US" sz="1550" dirty="0">
                <a:solidFill>
                  <a:srgbClr val="272525"/>
                </a:solidFill>
                <a:latin typeface="Lato" pitchFamily="34" charset="0"/>
                <a:ea typeface="Lato" pitchFamily="34" charset="-122"/>
                <a:cs typeface="Lato" pitchFamily="34" charset="-120"/>
              </a:rPr>
              <a:t> Primarily direct assignment; inheritance is not a core feature but can be simulated through ACLs on hierarchical file systems.</a:t>
            </a:r>
            <a:endParaRPr lang="en-US" sz="1550" dirty="0"/>
          </a:p>
        </p:txBody>
      </p:sp>
      <p:sp>
        <p:nvSpPr>
          <p:cNvPr id="8" name="Text 6"/>
          <p:cNvSpPr/>
          <p:nvPr/>
        </p:nvSpPr>
        <p:spPr>
          <a:xfrm>
            <a:off x="793790" y="6355913"/>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Formal Verification:</a:t>
            </a:r>
            <a:r>
              <a:rPr lang="en-US" sz="1550" dirty="0">
                <a:solidFill>
                  <a:srgbClr val="272525"/>
                </a:solidFill>
                <a:latin typeface="Lato" pitchFamily="34" charset="0"/>
                <a:ea typeface="Lato" pitchFamily="34" charset="-122"/>
                <a:cs typeface="Lato" pitchFamily="34" charset="-120"/>
              </a:rPr>
              <a:t> Focuses on analyzing individual access rights, reachability, and safety properties using state-transition systems.</a:t>
            </a:r>
            <a:endParaRPr lang="en-US" sz="1550" dirty="0"/>
          </a:p>
        </p:txBody>
      </p:sp>
      <p:sp>
        <p:nvSpPr>
          <p:cNvPr id="9" name="Text 7"/>
          <p:cNvSpPr/>
          <p:nvPr/>
        </p:nvSpPr>
        <p:spPr>
          <a:xfrm>
            <a:off x="7564874" y="1967627"/>
            <a:ext cx="2567940" cy="310158"/>
          </a:xfrm>
          <a:prstGeom prst="rect">
            <a:avLst/>
          </a:prstGeom>
          <a:noFill/>
          <a:ln/>
        </p:spPr>
        <p:txBody>
          <a:bodyPr wrap="none" lIns="0" tIns="0" rIns="0" bIns="0" rtlCol="0" anchor="t"/>
          <a:lstStyle/>
          <a:p>
            <a:pPr marL="0" indent="0" algn="l">
              <a:lnSpc>
                <a:spcPts val="2400"/>
              </a:lnSpc>
              <a:buNone/>
            </a:pPr>
            <a:r>
              <a:rPr lang="en-US" sz="1950" dirty="0">
                <a:solidFill>
                  <a:srgbClr val="312F2B"/>
                </a:solidFill>
                <a:latin typeface="Gelasio" pitchFamily="34" charset="0"/>
                <a:ea typeface="Gelasio" pitchFamily="34" charset="-122"/>
                <a:cs typeface="Gelasio" pitchFamily="34" charset="-120"/>
              </a:rPr>
              <a:t>Role Hierarchy (RBAC)</a:t>
            </a:r>
            <a:endParaRPr lang="en-US" sz="1950" dirty="0"/>
          </a:p>
        </p:txBody>
      </p:sp>
      <p:sp>
        <p:nvSpPr>
          <p:cNvPr id="10" name="Text 8"/>
          <p:cNvSpPr/>
          <p:nvPr/>
        </p:nvSpPr>
        <p:spPr>
          <a:xfrm>
            <a:off x="7564874" y="2476143"/>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Role Hierarchy is a key component within Role-Based Access Control (RBAC) models.</a:t>
            </a:r>
            <a:endParaRPr lang="en-US" sz="1550" dirty="0"/>
          </a:p>
        </p:txBody>
      </p:sp>
      <p:sp>
        <p:nvSpPr>
          <p:cNvPr id="11" name="Text 9"/>
          <p:cNvSpPr/>
          <p:nvPr/>
        </p:nvSpPr>
        <p:spPr>
          <a:xfrm>
            <a:off x="7564874" y="3289816"/>
            <a:ext cx="6279356" cy="95261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Mathematical Foundations:</a:t>
            </a:r>
            <a:r>
              <a:rPr lang="en-US" sz="1550" dirty="0">
                <a:solidFill>
                  <a:srgbClr val="272525"/>
                </a:solidFill>
                <a:latin typeface="Lato" pitchFamily="34" charset="0"/>
                <a:ea typeface="Lato" pitchFamily="34" charset="-122"/>
                <a:cs typeface="Lato" pitchFamily="34" charset="-120"/>
              </a:rPr>
              <a:t> Leverages graph theory to model relationships between roles, permissions, and users. Roles are nodes in a directed acyclic graph.</a:t>
            </a:r>
            <a:endParaRPr lang="en-US" sz="1550" dirty="0"/>
          </a:p>
        </p:txBody>
      </p:sp>
      <p:sp>
        <p:nvSpPr>
          <p:cNvPr id="12" name="Text 10"/>
          <p:cNvSpPr/>
          <p:nvPr/>
        </p:nvSpPr>
        <p:spPr>
          <a:xfrm>
            <a:off x="7564874" y="4311848"/>
            <a:ext cx="6279356" cy="95261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Hierarchy Structures:</a:t>
            </a:r>
            <a:r>
              <a:rPr lang="en-US" sz="1550" dirty="0">
                <a:solidFill>
                  <a:srgbClr val="272525"/>
                </a:solidFill>
                <a:latin typeface="Lato" pitchFamily="34" charset="0"/>
                <a:ea typeface="Lato" pitchFamily="34" charset="-122"/>
                <a:cs typeface="Lato" pitchFamily="34" charset="-120"/>
              </a:rPr>
              <a:t> Roles are organized in a hierarchy (e.g., senior roles inherit permissions of junior roles). Users are assigned to roles, and roles to permissions.</a:t>
            </a:r>
            <a:endParaRPr lang="en-US" sz="1550" dirty="0"/>
          </a:p>
        </p:txBody>
      </p:sp>
      <p:sp>
        <p:nvSpPr>
          <p:cNvPr id="13" name="Text 11"/>
          <p:cNvSpPr/>
          <p:nvPr/>
        </p:nvSpPr>
        <p:spPr>
          <a:xfrm>
            <a:off x="7564874" y="5333881"/>
            <a:ext cx="6279356" cy="95261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Inheritance Mechanisms:</a:t>
            </a:r>
            <a:r>
              <a:rPr lang="en-US" sz="1550" dirty="0">
                <a:solidFill>
                  <a:srgbClr val="272525"/>
                </a:solidFill>
                <a:latin typeface="Lato" pitchFamily="34" charset="0"/>
                <a:ea typeface="Lato" pitchFamily="34" charset="-122"/>
                <a:cs typeface="Lato" pitchFamily="34" charset="-120"/>
              </a:rPr>
              <a:t> Permissions are inherited downwards. A senior role implicitly possesses all permissions of its junior (child) roles, simplifying management.</a:t>
            </a:r>
            <a:endParaRPr lang="en-US" sz="1550" dirty="0"/>
          </a:p>
        </p:txBody>
      </p:sp>
      <p:sp>
        <p:nvSpPr>
          <p:cNvPr id="14" name="Text 12"/>
          <p:cNvSpPr/>
          <p:nvPr/>
        </p:nvSpPr>
        <p:spPr>
          <a:xfrm>
            <a:off x="7564874" y="6355913"/>
            <a:ext cx="6279356" cy="95261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Formal Verification:</a:t>
            </a:r>
            <a:r>
              <a:rPr lang="en-US" sz="1550" dirty="0">
                <a:solidFill>
                  <a:srgbClr val="272525"/>
                </a:solidFill>
                <a:latin typeface="Lato" pitchFamily="34" charset="0"/>
                <a:ea typeface="Lato" pitchFamily="34" charset="-122"/>
                <a:cs typeface="Lato" pitchFamily="34" charset="-120"/>
              </a:rPr>
              <a:t> Addresses properties like role separation of duties, least privilege, and absence of privilege escalation, often using logical deduction or model checking.</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820936"/>
            <a:ext cx="6958489" cy="558165"/>
          </a:xfrm>
          <a:prstGeom prst="rect">
            <a:avLst/>
          </a:prstGeom>
          <a:noFill/>
          <a:ln/>
        </p:spPr>
        <p:txBody>
          <a:bodyPr wrap="none" lIns="0" tIns="0" rIns="0" bIns="0" rtlCol="0" anchor="t"/>
          <a:lstStyle/>
          <a:p>
            <a:pPr marL="0" indent="0" algn="l">
              <a:lnSpc>
                <a:spcPts val="4350"/>
              </a:lnSpc>
              <a:buNone/>
            </a:pPr>
            <a:r>
              <a:rPr lang="en-US" sz="3500" dirty="0">
                <a:solidFill>
                  <a:srgbClr val="312F2B"/>
                </a:solidFill>
                <a:latin typeface="Gelasio" pitchFamily="34" charset="0"/>
                <a:ea typeface="Gelasio" pitchFamily="34" charset="-122"/>
                <a:cs typeface="Gelasio" pitchFamily="34" charset="-120"/>
              </a:rPr>
              <a:t>Separation of Duty and Constraints</a:t>
            </a:r>
            <a:endParaRPr lang="en-US" sz="3500" dirty="0"/>
          </a:p>
        </p:txBody>
      </p:sp>
      <p:sp>
        <p:nvSpPr>
          <p:cNvPr id="3" name="Text 1"/>
          <p:cNvSpPr/>
          <p:nvPr/>
        </p:nvSpPr>
        <p:spPr>
          <a:xfrm>
            <a:off x="793790" y="1736288"/>
            <a:ext cx="13042821" cy="571500"/>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Lato" pitchFamily="34" charset="0"/>
                <a:ea typeface="Lato" pitchFamily="34" charset="-122"/>
                <a:cs typeface="Lato" pitchFamily="34" charset="-120"/>
              </a:rPr>
              <a:t>Separation of Duty (SoD) is a critical security principle designed to prevent fraud, error, and unauthorized actions by requiring multiple individuals to complete sensitive tasks. This slide explores its core concepts and various implementations.</a:t>
            </a:r>
            <a:endParaRPr lang="en-US" sz="1400" dirty="0"/>
          </a:p>
        </p:txBody>
      </p:sp>
      <p:sp>
        <p:nvSpPr>
          <p:cNvPr id="4" name="Shape 2"/>
          <p:cNvSpPr/>
          <p:nvPr/>
        </p:nvSpPr>
        <p:spPr>
          <a:xfrm>
            <a:off x="793790" y="2508647"/>
            <a:ext cx="4228505" cy="2217777"/>
          </a:xfrm>
          <a:prstGeom prst="roundRect">
            <a:avLst>
              <a:gd name="adj" fmla="val 4948"/>
            </a:avLst>
          </a:prstGeom>
          <a:solidFill>
            <a:srgbClr val="FFFFFF">
              <a:alpha val="95000"/>
            </a:srgbClr>
          </a:solidFill>
          <a:ln w="22860">
            <a:solidFill>
              <a:srgbClr val="CECEC9"/>
            </a:solidFill>
            <a:prstDash val="solid"/>
          </a:ln>
        </p:spPr>
      </p:sp>
      <p:sp>
        <p:nvSpPr>
          <p:cNvPr id="5" name="Shape 3"/>
          <p:cNvSpPr/>
          <p:nvPr/>
        </p:nvSpPr>
        <p:spPr>
          <a:xfrm>
            <a:off x="770930" y="2508647"/>
            <a:ext cx="91440" cy="2217777"/>
          </a:xfrm>
          <a:prstGeom prst="roundRect">
            <a:avLst>
              <a:gd name="adj" fmla="val 82047"/>
            </a:avLst>
          </a:prstGeom>
          <a:solidFill>
            <a:srgbClr val="E5E5E0"/>
          </a:solidFill>
          <a:ln/>
        </p:spPr>
      </p:sp>
      <p:sp>
        <p:nvSpPr>
          <p:cNvPr id="6" name="Text 4"/>
          <p:cNvSpPr/>
          <p:nvPr/>
        </p:nvSpPr>
        <p:spPr>
          <a:xfrm>
            <a:off x="1677948" y="2710101"/>
            <a:ext cx="2528768" cy="278963"/>
          </a:xfrm>
          <a:prstGeom prst="rect">
            <a:avLst/>
          </a:prstGeom>
          <a:noFill/>
          <a:ln/>
        </p:spPr>
        <p:txBody>
          <a:bodyPr wrap="none" lIns="0" tIns="0" rIns="0" bIns="0" rtlCol="0" anchor="t"/>
          <a:lstStyle/>
          <a:p>
            <a:pPr marL="0" indent="0" algn="ctr">
              <a:lnSpc>
                <a:spcPts val="2150"/>
              </a:lnSpc>
              <a:buNone/>
            </a:pPr>
            <a:r>
              <a:rPr lang="en-US" sz="1750" dirty="0">
                <a:solidFill>
                  <a:srgbClr val="272525"/>
                </a:solidFill>
                <a:latin typeface="Gelasio" pitchFamily="34" charset="0"/>
                <a:ea typeface="Gelasio" pitchFamily="34" charset="-122"/>
                <a:cs typeface="Gelasio" pitchFamily="34" charset="-120"/>
              </a:rPr>
              <a:t>SoD Principles &amp; Purpose</a:t>
            </a:r>
            <a:endParaRPr lang="en-US" sz="1750" dirty="0"/>
          </a:p>
        </p:txBody>
      </p:sp>
      <p:sp>
        <p:nvSpPr>
          <p:cNvPr id="7" name="Text 5"/>
          <p:cNvSpPr/>
          <p:nvPr/>
        </p:nvSpPr>
        <p:spPr>
          <a:xfrm>
            <a:off x="1063823" y="3096220"/>
            <a:ext cx="3757017" cy="1143000"/>
          </a:xfrm>
          <a:prstGeom prst="rect">
            <a:avLst/>
          </a:prstGeom>
          <a:noFill/>
          <a:ln/>
        </p:spPr>
        <p:txBody>
          <a:bodyPr wrap="square" lIns="0" tIns="0" rIns="0" bIns="0" rtlCol="0" anchor="t"/>
          <a:lstStyle/>
          <a:p>
            <a:pPr marL="0" indent="0" algn="ctr">
              <a:lnSpc>
                <a:spcPts val="2250"/>
              </a:lnSpc>
              <a:buNone/>
            </a:pPr>
            <a:r>
              <a:rPr lang="en-US" sz="1400" dirty="0">
                <a:solidFill>
                  <a:srgbClr val="272525"/>
                </a:solidFill>
                <a:latin typeface="Lato" pitchFamily="34" charset="0"/>
                <a:ea typeface="Lato" pitchFamily="34" charset="-122"/>
                <a:cs typeface="Lato" pitchFamily="34" charset="-120"/>
              </a:rPr>
              <a:t>Ensures no single person can control an entire critical process, reducing the risk of internal fraud, sabotage, and error. It mandates that tasks be divided among multiple individuals.</a:t>
            </a:r>
            <a:endParaRPr lang="en-US" sz="1400" dirty="0"/>
          </a:p>
        </p:txBody>
      </p:sp>
      <p:sp>
        <p:nvSpPr>
          <p:cNvPr id="8" name="Shape 6"/>
          <p:cNvSpPr/>
          <p:nvPr/>
        </p:nvSpPr>
        <p:spPr>
          <a:xfrm>
            <a:off x="5200888" y="2508647"/>
            <a:ext cx="4228505" cy="2217777"/>
          </a:xfrm>
          <a:prstGeom prst="roundRect">
            <a:avLst>
              <a:gd name="adj" fmla="val 4948"/>
            </a:avLst>
          </a:prstGeom>
          <a:solidFill>
            <a:srgbClr val="FFFFFF">
              <a:alpha val="95000"/>
            </a:srgbClr>
          </a:solidFill>
          <a:ln w="22860">
            <a:solidFill>
              <a:srgbClr val="CECEC9"/>
            </a:solidFill>
            <a:prstDash val="solid"/>
          </a:ln>
        </p:spPr>
      </p:sp>
      <p:sp>
        <p:nvSpPr>
          <p:cNvPr id="9" name="Shape 7"/>
          <p:cNvSpPr/>
          <p:nvPr/>
        </p:nvSpPr>
        <p:spPr>
          <a:xfrm>
            <a:off x="5178028" y="2508647"/>
            <a:ext cx="91440" cy="2217777"/>
          </a:xfrm>
          <a:prstGeom prst="roundRect">
            <a:avLst>
              <a:gd name="adj" fmla="val 82047"/>
            </a:avLst>
          </a:prstGeom>
          <a:solidFill>
            <a:srgbClr val="E5E5E0"/>
          </a:solidFill>
          <a:ln/>
        </p:spPr>
      </p:sp>
      <p:sp>
        <p:nvSpPr>
          <p:cNvPr id="10" name="Text 8"/>
          <p:cNvSpPr/>
          <p:nvPr/>
        </p:nvSpPr>
        <p:spPr>
          <a:xfrm>
            <a:off x="5877163" y="2710101"/>
            <a:ext cx="2944535" cy="278963"/>
          </a:xfrm>
          <a:prstGeom prst="rect">
            <a:avLst/>
          </a:prstGeom>
          <a:noFill/>
          <a:ln/>
        </p:spPr>
        <p:txBody>
          <a:bodyPr wrap="none" lIns="0" tIns="0" rIns="0" bIns="0" rtlCol="0" anchor="t"/>
          <a:lstStyle/>
          <a:p>
            <a:pPr marL="0" indent="0" algn="ctr">
              <a:lnSpc>
                <a:spcPts val="2150"/>
              </a:lnSpc>
              <a:buNone/>
            </a:pPr>
            <a:r>
              <a:rPr lang="en-US" sz="1750" dirty="0">
                <a:solidFill>
                  <a:srgbClr val="272525"/>
                </a:solidFill>
                <a:latin typeface="Gelasio" pitchFamily="34" charset="0"/>
                <a:ea typeface="Gelasio" pitchFamily="34" charset="-122"/>
                <a:cs typeface="Gelasio" pitchFamily="34" charset="-120"/>
              </a:rPr>
              <a:t>Static vs. Dynamic Separation</a:t>
            </a:r>
            <a:endParaRPr lang="en-US" sz="1750" dirty="0"/>
          </a:p>
        </p:txBody>
      </p:sp>
      <p:sp>
        <p:nvSpPr>
          <p:cNvPr id="11" name="Text 9"/>
          <p:cNvSpPr/>
          <p:nvPr/>
        </p:nvSpPr>
        <p:spPr>
          <a:xfrm>
            <a:off x="5470922" y="3096220"/>
            <a:ext cx="3757017" cy="1428750"/>
          </a:xfrm>
          <a:prstGeom prst="rect">
            <a:avLst/>
          </a:prstGeom>
          <a:noFill/>
          <a:ln/>
        </p:spPr>
        <p:txBody>
          <a:bodyPr wrap="square" lIns="0" tIns="0" rIns="0" bIns="0" rtlCol="0" anchor="t"/>
          <a:lstStyle/>
          <a:p>
            <a:pPr marL="0" indent="0" algn="ctr">
              <a:lnSpc>
                <a:spcPts val="2250"/>
              </a:lnSpc>
              <a:buNone/>
            </a:pPr>
            <a:r>
              <a:rPr lang="en-US" sz="1400" b="1" dirty="0">
                <a:solidFill>
                  <a:srgbClr val="272525"/>
                </a:solidFill>
                <a:latin typeface="Lato" pitchFamily="34" charset="0"/>
                <a:ea typeface="Lato" pitchFamily="34" charset="-122"/>
                <a:cs typeface="Lato" pitchFamily="34" charset="-120"/>
              </a:rPr>
              <a:t>Static SoD</a:t>
            </a:r>
            <a:r>
              <a:rPr lang="en-US" sz="1400" dirty="0">
                <a:solidFill>
                  <a:srgbClr val="272525"/>
                </a:solidFill>
                <a:latin typeface="Lato" pitchFamily="34" charset="0"/>
                <a:ea typeface="Lato" pitchFamily="34" charset="-122"/>
                <a:cs typeface="Lato" pitchFamily="34" charset="-120"/>
              </a:rPr>
              <a:t> restricts role assignments (e.g., a user cannot hold both "Initiator" and "Approver" roles). </a:t>
            </a:r>
            <a:r>
              <a:rPr lang="en-US" sz="1400" b="1" dirty="0">
                <a:solidFill>
                  <a:srgbClr val="272525"/>
                </a:solidFill>
                <a:latin typeface="Lato" pitchFamily="34" charset="0"/>
                <a:ea typeface="Lato" pitchFamily="34" charset="-122"/>
                <a:cs typeface="Lato" pitchFamily="34" charset="-120"/>
              </a:rPr>
              <a:t>Dynamic SoD</a:t>
            </a:r>
            <a:r>
              <a:rPr lang="en-US" sz="1400" dirty="0">
                <a:solidFill>
                  <a:srgbClr val="272525"/>
                </a:solidFill>
                <a:latin typeface="Lato" pitchFamily="34" charset="0"/>
                <a:ea typeface="Lato" pitchFamily="34" charset="-122"/>
                <a:cs typeface="Lato" pitchFamily="34" charset="-120"/>
              </a:rPr>
              <a:t> prevents a user from exercising conflicting permissions within the same session, even if assigned both roles.</a:t>
            </a:r>
            <a:endParaRPr lang="en-US" sz="1400" dirty="0"/>
          </a:p>
        </p:txBody>
      </p:sp>
      <p:sp>
        <p:nvSpPr>
          <p:cNvPr id="12" name="Shape 10"/>
          <p:cNvSpPr/>
          <p:nvPr/>
        </p:nvSpPr>
        <p:spPr>
          <a:xfrm>
            <a:off x="9607987" y="2508647"/>
            <a:ext cx="4228505" cy="2217777"/>
          </a:xfrm>
          <a:prstGeom prst="roundRect">
            <a:avLst>
              <a:gd name="adj" fmla="val 4948"/>
            </a:avLst>
          </a:prstGeom>
          <a:solidFill>
            <a:srgbClr val="FFFFFF">
              <a:alpha val="95000"/>
            </a:srgbClr>
          </a:solidFill>
          <a:ln w="22860">
            <a:solidFill>
              <a:srgbClr val="CECEC9"/>
            </a:solidFill>
            <a:prstDash val="solid"/>
          </a:ln>
        </p:spPr>
      </p:sp>
      <p:sp>
        <p:nvSpPr>
          <p:cNvPr id="13" name="Shape 11"/>
          <p:cNvSpPr/>
          <p:nvPr/>
        </p:nvSpPr>
        <p:spPr>
          <a:xfrm>
            <a:off x="9585127" y="2508647"/>
            <a:ext cx="91440" cy="2217777"/>
          </a:xfrm>
          <a:prstGeom prst="roundRect">
            <a:avLst>
              <a:gd name="adj" fmla="val 82047"/>
            </a:avLst>
          </a:prstGeom>
          <a:solidFill>
            <a:srgbClr val="E5E5E0"/>
          </a:solidFill>
          <a:ln/>
        </p:spPr>
      </p:sp>
      <p:sp>
        <p:nvSpPr>
          <p:cNvPr id="14" name="Text 12"/>
          <p:cNvSpPr/>
          <p:nvPr/>
        </p:nvSpPr>
        <p:spPr>
          <a:xfrm>
            <a:off x="10288905" y="2710101"/>
            <a:ext cx="2935248" cy="278963"/>
          </a:xfrm>
          <a:prstGeom prst="rect">
            <a:avLst/>
          </a:prstGeom>
          <a:noFill/>
          <a:ln/>
        </p:spPr>
        <p:txBody>
          <a:bodyPr wrap="none" lIns="0" tIns="0" rIns="0" bIns="0" rtlCol="0" anchor="t"/>
          <a:lstStyle/>
          <a:p>
            <a:pPr marL="0" indent="0" algn="ctr">
              <a:lnSpc>
                <a:spcPts val="2150"/>
              </a:lnSpc>
              <a:buNone/>
            </a:pPr>
            <a:r>
              <a:rPr lang="en-US" sz="1750" dirty="0">
                <a:solidFill>
                  <a:srgbClr val="272525"/>
                </a:solidFill>
                <a:latin typeface="Gelasio" pitchFamily="34" charset="0"/>
                <a:ea typeface="Gelasio" pitchFamily="34" charset="-122"/>
                <a:cs typeface="Gelasio" pitchFamily="34" charset="-120"/>
              </a:rPr>
              <a:t>Mutual Exclusion Constraints</a:t>
            </a:r>
            <a:endParaRPr lang="en-US" sz="1750" dirty="0"/>
          </a:p>
        </p:txBody>
      </p:sp>
      <p:sp>
        <p:nvSpPr>
          <p:cNvPr id="15" name="Text 13"/>
          <p:cNvSpPr/>
          <p:nvPr/>
        </p:nvSpPr>
        <p:spPr>
          <a:xfrm>
            <a:off x="9878020" y="3096220"/>
            <a:ext cx="3757017" cy="1143000"/>
          </a:xfrm>
          <a:prstGeom prst="rect">
            <a:avLst/>
          </a:prstGeom>
          <a:noFill/>
          <a:ln/>
        </p:spPr>
        <p:txBody>
          <a:bodyPr wrap="square" lIns="0" tIns="0" rIns="0" bIns="0" rtlCol="0" anchor="t"/>
          <a:lstStyle/>
          <a:p>
            <a:pPr marL="0" indent="0" algn="ctr">
              <a:lnSpc>
                <a:spcPts val="2250"/>
              </a:lnSpc>
              <a:buNone/>
            </a:pPr>
            <a:r>
              <a:rPr lang="en-US" sz="1400" dirty="0">
                <a:solidFill>
                  <a:srgbClr val="272525"/>
                </a:solidFill>
                <a:latin typeface="Lato" pitchFamily="34" charset="0"/>
                <a:ea typeface="Lato" pitchFamily="34" charset="-122"/>
                <a:cs typeface="Lato" pitchFamily="34" charset="-120"/>
              </a:rPr>
              <a:t>Define roles that cannot be assigned to the same user simultaneously. For example, a user responsible for creating an order cannot also be the one to approve the payment for that order.</a:t>
            </a:r>
            <a:endParaRPr lang="en-US" sz="1400" dirty="0"/>
          </a:p>
        </p:txBody>
      </p:sp>
      <p:sp>
        <p:nvSpPr>
          <p:cNvPr id="16" name="Shape 14"/>
          <p:cNvSpPr/>
          <p:nvPr/>
        </p:nvSpPr>
        <p:spPr>
          <a:xfrm>
            <a:off x="2997279" y="4905018"/>
            <a:ext cx="4228505" cy="2503527"/>
          </a:xfrm>
          <a:prstGeom prst="roundRect">
            <a:avLst>
              <a:gd name="adj" fmla="val 4383"/>
            </a:avLst>
          </a:prstGeom>
          <a:solidFill>
            <a:srgbClr val="FFFFFF">
              <a:alpha val="95000"/>
            </a:srgbClr>
          </a:solidFill>
          <a:ln w="22860">
            <a:solidFill>
              <a:srgbClr val="CECEC9"/>
            </a:solidFill>
            <a:prstDash val="solid"/>
          </a:ln>
        </p:spPr>
      </p:sp>
      <p:sp>
        <p:nvSpPr>
          <p:cNvPr id="17" name="Shape 15"/>
          <p:cNvSpPr/>
          <p:nvPr/>
        </p:nvSpPr>
        <p:spPr>
          <a:xfrm>
            <a:off x="2974419" y="4905018"/>
            <a:ext cx="91440" cy="2503527"/>
          </a:xfrm>
          <a:prstGeom prst="roundRect">
            <a:avLst>
              <a:gd name="adj" fmla="val 82047"/>
            </a:avLst>
          </a:prstGeom>
          <a:solidFill>
            <a:srgbClr val="E5E5E0"/>
          </a:solidFill>
          <a:ln/>
        </p:spPr>
      </p:sp>
      <p:sp>
        <p:nvSpPr>
          <p:cNvPr id="18" name="Text 16"/>
          <p:cNvSpPr/>
          <p:nvPr/>
        </p:nvSpPr>
        <p:spPr>
          <a:xfrm>
            <a:off x="3587591" y="5106472"/>
            <a:ext cx="3116342" cy="278963"/>
          </a:xfrm>
          <a:prstGeom prst="rect">
            <a:avLst/>
          </a:prstGeom>
          <a:noFill/>
          <a:ln/>
        </p:spPr>
        <p:txBody>
          <a:bodyPr wrap="none" lIns="0" tIns="0" rIns="0" bIns="0" rtlCol="0" anchor="t"/>
          <a:lstStyle/>
          <a:p>
            <a:pPr marL="0" indent="0" algn="ctr">
              <a:lnSpc>
                <a:spcPts val="2150"/>
              </a:lnSpc>
              <a:buNone/>
            </a:pPr>
            <a:r>
              <a:rPr lang="en-US" sz="1750" dirty="0">
                <a:solidFill>
                  <a:srgbClr val="272525"/>
                </a:solidFill>
                <a:latin typeface="Gelasio" pitchFamily="34" charset="0"/>
                <a:ea typeface="Gelasio" pitchFamily="34" charset="-122"/>
                <a:cs typeface="Gelasio" pitchFamily="34" charset="-120"/>
              </a:rPr>
              <a:t>Cardinality Constraints (RBAC)</a:t>
            </a:r>
            <a:endParaRPr lang="en-US" sz="1750" dirty="0"/>
          </a:p>
        </p:txBody>
      </p:sp>
      <p:sp>
        <p:nvSpPr>
          <p:cNvPr id="19" name="Text 17"/>
          <p:cNvSpPr/>
          <p:nvPr/>
        </p:nvSpPr>
        <p:spPr>
          <a:xfrm>
            <a:off x="3267313" y="5492591"/>
            <a:ext cx="3757017" cy="1714500"/>
          </a:xfrm>
          <a:prstGeom prst="rect">
            <a:avLst/>
          </a:prstGeom>
          <a:noFill/>
          <a:ln/>
        </p:spPr>
        <p:txBody>
          <a:bodyPr wrap="square" lIns="0" tIns="0" rIns="0" bIns="0" rtlCol="0" anchor="t"/>
          <a:lstStyle/>
          <a:p>
            <a:pPr marL="0" indent="0" algn="ctr">
              <a:lnSpc>
                <a:spcPts val="2250"/>
              </a:lnSpc>
              <a:buNone/>
            </a:pPr>
            <a:r>
              <a:rPr lang="en-US" sz="1400" dirty="0">
                <a:solidFill>
                  <a:srgbClr val="272525"/>
                </a:solidFill>
                <a:latin typeface="Lato" pitchFamily="34" charset="0"/>
                <a:ea typeface="Lato" pitchFamily="34" charset="-122"/>
                <a:cs typeface="Lato" pitchFamily="34" charset="-120"/>
              </a:rPr>
              <a:t>Specify the maximum number of users allowed in a role, or the maximum number of roles a user can hold. They can also limit the number of roles required to activate a specific permission, like multi-person approval for high-value transactions.</a:t>
            </a:r>
            <a:endParaRPr lang="en-US" sz="1400" dirty="0"/>
          </a:p>
        </p:txBody>
      </p:sp>
      <p:sp>
        <p:nvSpPr>
          <p:cNvPr id="20" name="Shape 18"/>
          <p:cNvSpPr/>
          <p:nvPr/>
        </p:nvSpPr>
        <p:spPr>
          <a:xfrm>
            <a:off x="7404378" y="4905018"/>
            <a:ext cx="4228624" cy="2503527"/>
          </a:xfrm>
          <a:prstGeom prst="roundRect">
            <a:avLst>
              <a:gd name="adj" fmla="val 4383"/>
            </a:avLst>
          </a:prstGeom>
          <a:solidFill>
            <a:srgbClr val="FFFFFF">
              <a:alpha val="95000"/>
            </a:srgbClr>
          </a:solidFill>
          <a:ln w="22860">
            <a:solidFill>
              <a:srgbClr val="CECEC9"/>
            </a:solidFill>
            <a:prstDash val="solid"/>
          </a:ln>
        </p:spPr>
      </p:sp>
      <p:sp>
        <p:nvSpPr>
          <p:cNvPr id="21" name="Shape 19"/>
          <p:cNvSpPr/>
          <p:nvPr/>
        </p:nvSpPr>
        <p:spPr>
          <a:xfrm>
            <a:off x="7381518" y="4905018"/>
            <a:ext cx="91440" cy="2503527"/>
          </a:xfrm>
          <a:prstGeom prst="roundRect">
            <a:avLst>
              <a:gd name="adj" fmla="val 82047"/>
            </a:avLst>
          </a:prstGeom>
          <a:solidFill>
            <a:srgbClr val="E5E5E0"/>
          </a:solidFill>
          <a:ln/>
        </p:spPr>
      </p:sp>
      <p:sp>
        <p:nvSpPr>
          <p:cNvPr id="22" name="Text 20"/>
          <p:cNvSpPr/>
          <p:nvPr/>
        </p:nvSpPr>
        <p:spPr>
          <a:xfrm>
            <a:off x="8401169" y="5106472"/>
            <a:ext cx="2303502" cy="278963"/>
          </a:xfrm>
          <a:prstGeom prst="rect">
            <a:avLst/>
          </a:prstGeom>
          <a:noFill/>
          <a:ln/>
        </p:spPr>
        <p:txBody>
          <a:bodyPr wrap="none" lIns="0" tIns="0" rIns="0" bIns="0" rtlCol="0" anchor="t"/>
          <a:lstStyle/>
          <a:p>
            <a:pPr marL="0" indent="0" algn="ctr">
              <a:lnSpc>
                <a:spcPts val="2150"/>
              </a:lnSpc>
              <a:buNone/>
            </a:pPr>
            <a:r>
              <a:rPr lang="en-US" sz="1750" dirty="0">
                <a:solidFill>
                  <a:srgbClr val="272525"/>
                </a:solidFill>
                <a:latin typeface="Gelasio" pitchFamily="34" charset="0"/>
                <a:ea typeface="Gelasio" pitchFamily="34" charset="-122"/>
                <a:cs typeface="Gelasio" pitchFamily="34" charset="-120"/>
              </a:rPr>
              <a:t>SoD Challenges in DAC</a:t>
            </a:r>
            <a:endParaRPr lang="en-US" sz="1750" dirty="0"/>
          </a:p>
        </p:txBody>
      </p:sp>
      <p:sp>
        <p:nvSpPr>
          <p:cNvPr id="23" name="Text 21"/>
          <p:cNvSpPr/>
          <p:nvPr/>
        </p:nvSpPr>
        <p:spPr>
          <a:xfrm>
            <a:off x="7674412" y="5492591"/>
            <a:ext cx="3757136" cy="1714500"/>
          </a:xfrm>
          <a:prstGeom prst="rect">
            <a:avLst/>
          </a:prstGeom>
          <a:noFill/>
          <a:ln/>
        </p:spPr>
        <p:txBody>
          <a:bodyPr wrap="square" lIns="0" tIns="0" rIns="0" bIns="0" rtlCol="0" anchor="t"/>
          <a:lstStyle/>
          <a:p>
            <a:pPr marL="0" indent="0" algn="ctr">
              <a:lnSpc>
                <a:spcPts val="2250"/>
              </a:lnSpc>
              <a:buNone/>
            </a:pPr>
            <a:r>
              <a:rPr lang="en-US" sz="1400" dirty="0">
                <a:solidFill>
                  <a:srgbClr val="272525"/>
                </a:solidFill>
                <a:latin typeface="Lato" pitchFamily="34" charset="0"/>
                <a:ea typeface="Lato" pitchFamily="34" charset="-122"/>
                <a:cs typeface="Lato" pitchFamily="34" charset="-120"/>
              </a:rPr>
              <a:t>Discretionary Access Control (DAC) struggles with inherent SoD enforcement. It relies on careful, manual assignment of permissions to individual users, making it more prone to human error and difficult to verify without extensive auditing mechanisms.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1391007"/>
            <a:ext cx="8117919" cy="620078"/>
          </a:xfrm>
          <a:prstGeom prst="rect">
            <a:avLst/>
          </a:prstGeom>
          <a:noFill/>
          <a:ln/>
        </p:spPr>
        <p:txBody>
          <a:bodyPr wrap="none" lIns="0" tIns="0" rIns="0" bIns="0" rtlCol="0" anchor="t"/>
          <a:lstStyle/>
          <a:p>
            <a:pPr marL="0" indent="0" algn="l">
              <a:lnSpc>
                <a:spcPts val="4850"/>
              </a:lnSpc>
              <a:buNone/>
            </a:pPr>
            <a:r>
              <a:rPr lang="en-US" sz="3900" dirty="0">
                <a:solidFill>
                  <a:srgbClr val="312F2B"/>
                </a:solidFill>
                <a:latin typeface="Gelasio" pitchFamily="34" charset="0"/>
                <a:ea typeface="Gelasio" pitchFamily="34" charset="-122"/>
                <a:cs typeface="Gelasio" pitchFamily="34" charset="-120"/>
              </a:rPr>
              <a:t>Performance and Scalability Analysis</a:t>
            </a:r>
            <a:endParaRPr lang="en-US" sz="3900" dirty="0"/>
          </a:p>
        </p:txBody>
      </p:sp>
      <p:pic>
        <p:nvPicPr>
          <p:cNvPr id="3" name="Image 0" descr="preencoded.png"/>
          <p:cNvPicPr>
            <a:picLocks noChangeAspect="1"/>
          </p:cNvPicPr>
          <p:nvPr/>
        </p:nvPicPr>
        <p:blipFill>
          <a:blip r:embed="rId3"/>
          <a:stretch>
            <a:fillRect/>
          </a:stretch>
        </p:blipFill>
        <p:spPr>
          <a:xfrm>
            <a:off x="868204" y="2376845"/>
            <a:ext cx="297656" cy="372070"/>
          </a:xfrm>
          <a:prstGeom prst="rect">
            <a:avLst/>
          </a:prstGeom>
        </p:spPr>
      </p:pic>
      <p:sp>
        <p:nvSpPr>
          <p:cNvPr id="4" name="Text 1"/>
          <p:cNvSpPr/>
          <p:nvPr/>
        </p:nvSpPr>
        <p:spPr>
          <a:xfrm>
            <a:off x="1438632" y="2407920"/>
            <a:ext cx="2950131"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Computational Complexity</a:t>
            </a:r>
            <a:endParaRPr lang="en-US" sz="1950" dirty="0"/>
          </a:p>
        </p:txBody>
      </p:sp>
      <p:sp>
        <p:nvSpPr>
          <p:cNvPr id="5" name="Text 2"/>
          <p:cNvSpPr/>
          <p:nvPr/>
        </p:nvSpPr>
        <p:spPr>
          <a:xfrm>
            <a:off x="1438632" y="2837140"/>
            <a:ext cx="3537347" cy="190523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RBAC typically offers lower computational complexity in large systems due to its abstraction layer, simplifying access decisions compared to DAC's granular, per-user permission evaluations.</a:t>
            </a:r>
            <a:endParaRPr lang="en-US" sz="1550" dirty="0"/>
          </a:p>
        </p:txBody>
      </p:sp>
      <p:pic>
        <p:nvPicPr>
          <p:cNvPr id="6" name="Image 1" descr="preencoded.png"/>
          <p:cNvPicPr>
            <a:picLocks noChangeAspect="1"/>
          </p:cNvPicPr>
          <p:nvPr/>
        </p:nvPicPr>
        <p:blipFill>
          <a:blip r:embed="rId4"/>
          <a:stretch>
            <a:fillRect/>
          </a:stretch>
        </p:blipFill>
        <p:spPr>
          <a:xfrm>
            <a:off x="5298400" y="2376845"/>
            <a:ext cx="297656" cy="372070"/>
          </a:xfrm>
          <a:prstGeom prst="rect">
            <a:avLst/>
          </a:prstGeom>
        </p:spPr>
      </p:pic>
      <p:sp>
        <p:nvSpPr>
          <p:cNvPr id="7" name="Text 3"/>
          <p:cNvSpPr/>
          <p:nvPr/>
        </p:nvSpPr>
        <p:spPr>
          <a:xfrm>
            <a:off x="5868829" y="240792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Access Decision Time</a:t>
            </a:r>
            <a:endParaRPr lang="en-US" sz="1950" dirty="0"/>
          </a:p>
        </p:txBody>
      </p:sp>
      <p:sp>
        <p:nvSpPr>
          <p:cNvPr id="8" name="Text 4"/>
          <p:cNvSpPr/>
          <p:nvPr/>
        </p:nvSpPr>
        <p:spPr>
          <a:xfrm>
            <a:off x="5868829" y="2837140"/>
            <a:ext cx="3537466" cy="190523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Once roles are assigned, RBAC can provide significantly faster access decision times, as it checks against roles rather than individual permissions. DAC's detailed checks can lead to slower response times.</a:t>
            </a:r>
            <a:endParaRPr lang="en-US" sz="1550" dirty="0"/>
          </a:p>
        </p:txBody>
      </p:sp>
      <p:pic>
        <p:nvPicPr>
          <p:cNvPr id="9" name="Image 2" descr="preencoded.png"/>
          <p:cNvPicPr>
            <a:picLocks noChangeAspect="1"/>
          </p:cNvPicPr>
          <p:nvPr/>
        </p:nvPicPr>
        <p:blipFill>
          <a:blip r:embed="rId5"/>
          <a:stretch>
            <a:fillRect/>
          </a:stretch>
        </p:blipFill>
        <p:spPr>
          <a:xfrm>
            <a:off x="9728716" y="2376845"/>
            <a:ext cx="297656" cy="372070"/>
          </a:xfrm>
          <a:prstGeom prst="rect">
            <a:avLst/>
          </a:prstGeom>
        </p:spPr>
      </p:pic>
      <p:sp>
        <p:nvSpPr>
          <p:cNvPr id="10" name="Text 5"/>
          <p:cNvSpPr/>
          <p:nvPr/>
        </p:nvSpPr>
        <p:spPr>
          <a:xfrm>
            <a:off x="10299144" y="240792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Storage Requirements</a:t>
            </a:r>
            <a:endParaRPr lang="en-US" sz="1950" dirty="0"/>
          </a:p>
        </p:txBody>
      </p:sp>
      <p:sp>
        <p:nvSpPr>
          <p:cNvPr id="11" name="Text 6"/>
          <p:cNvSpPr/>
          <p:nvPr/>
        </p:nvSpPr>
        <p:spPr>
          <a:xfrm>
            <a:off x="10299144" y="2837140"/>
            <a:ext cx="3537466" cy="190523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DAC models often require substantially more storage for policies due to defining permissions for each user and object. RBAC, by grouping users into roles, reduces the number of explicit permissions to store.</a:t>
            </a:r>
            <a:endParaRPr lang="en-US" sz="1550" dirty="0"/>
          </a:p>
        </p:txBody>
      </p:sp>
      <p:pic>
        <p:nvPicPr>
          <p:cNvPr id="12" name="Image 3" descr="preencoded.png"/>
          <p:cNvPicPr>
            <a:picLocks noChangeAspect="1"/>
          </p:cNvPicPr>
          <p:nvPr/>
        </p:nvPicPr>
        <p:blipFill>
          <a:blip r:embed="rId6"/>
          <a:stretch>
            <a:fillRect/>
          </a:stretch>
        </p:blipFill>
        <p:spPr>
          <a:xfrm>
            <a:off x="868204" y="5108138"/>
            <a:ext cx="297656" cy="372070"/>
          </a:xfrm>
          <a:prstGeom prst="rect">
            <a:avLst/>
          </a:prstGeom>
        </p:spPr>
      </p:pic>
      <p:sp>
        <p:nvSpPr>
          <p:cNvPr id="13" name="Text 7"/>
          <p:cNvSpPr/>
          <p:nvPr/>
        </p:nvSpPr>
        <p:spPr>
          <a:xfrm>
            <a:off x="1438632" y="513921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Network Overhead</a:t>
            </a:r>
            <a:endParaRPr lang="en-US" sz="1950" dirty="0"/>
          </a:p>
        </p:txBody>
      </p:sp>
      <p:sp>
        <p:nvSpPr>
          <p:cNvPr id="14" name="Text 8"/>
          <p:cNvSpPr/>
          <p:nvPr/>
        </p:nvSpPr>
        <p:spPr>
          <a:xfrm>
            <a:off x="1438632" y="5568434"/>
            <a:ext cx="5752505"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In distributed environments, RBAC can minimize network overhead by centralizing policy enforcement and reducing the amount of access control data transmitted, especially when compared to DAC's detailed permission checks.</a:t>
            </a:r>
            <a:endParaRPr lang="en-US" sz="1550" dirty="0"/>
          </a:p>
        </p:txBody>
      </p:sp>
      <p:pic>
        <p:nvPicPr>
          <p:cNvPr id="15" name="Image 4" descr="preencoded.png"/>
          <p:cNvPicPr>
            <a:picLocks noChangeAspect="1"/>
          </p:cNvPicPr>
          <p:nvPr/>
        </p:nvPicPr>
        <p:blipFill>
          <a:blip r:embed="rId7"/>
          <a:stretch>
            <a:fillRect/>
          </a:stretch>
        </p:blipFill>
        <p:spPr>
          <a:xfrm>
            <a:off x="7513558" y="5108138"/>
            <a:ext cx="297656" cy="372070"/>
          </a:xfrm>
          <a:prstGeom prst="rect">
            <a:avLst/>
          </a:prstGeom>
        </p:spPr>
      </p:pic>
      <p:sp>
        <p:nvSpPr>
          <p:cNvPr id="16" name="Text 9"/>
          <p:cNvSpPr/>
          <p:nvPr/>
        </p:nvSpPr>
        <p:spPr>
          <a:xfrm>
            <a:off x="8083987" y="5139214"/>
            <a:ext cx="284166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Performance Benchmarks</a:t>
            </a:r>
            <a:endParaRPr lang="en-US" sz="1950" dirty="0"/>
          </a:p>
        </p:txBody>
      </p:sp>
      <p:sp>
        <p:nvSpPr>
          <p:cNvPr id="17" name="Text 10"/>
          <p:cNvSpPr/>
          <p:nvPr/>
        </p:nvSpPr>
        <p:spPr>
          <a:xfrm>
            <a:off x="8083987" y="5568434"/>
            <a:ext cx="5752624"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Benchmarks consistently show that RBAC outperforms DAC in large-scale systems, particularly when managing a high number of users and resources, due to its inherent efficiency and streamlined policy management.</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1682829"/>
            <a:ext cx="6854547" cy="620078"/>
          </a:xfrm>
          <a:prstGeom prst="rect">
            <a:avLst/>
          </a:prstGeom>
          <a:noFill/>
          <a:ln/>
        </p:spPr>
        <p:txBody>
          <a:bodyPr wrap="none" lIns="0" tIns="0" rIns="0" bIns="0" rtlCol="0" anchor="t"/>
          <a:lstStyle/>
          <a:p>
            <a:pPr marL="0" indent="0" algn="l">
              <a:lnSpc>
                <a:spcPts val="4850"/>
              </a:lnSpc>
              <a:buNone/>
            </a:pPr>
            <a:r>
              <a:rPr lang="en-US" sz="3900" dirty="0">
                <a:solidFill>
                  <a:srgbClr val="312F2B"/>
                </a:solidFill>
                <a:latin typeface="Gelasio" pitchFamily="34" charset="0"/>
                <a:ea typeface="Gelasio" pitchFamily="34" charset="-122"/>
                <a:cs typeface="Gelasio" pitchFamily="34" charset="-120"/>
              </a:rPr>
              <a:t>Conclusion and Key Takeaways</a:t>
            </a:r>
            <a:endParaRPr lang="en-US" sz="3900" dirty="0"/>
          </a:p>
        </p:txBody>
      </p:sp>
      <p:sp>
        <p:nvSpPr>
          <p:cNvPr id="3" name="Shape 1"/>
          <p:cNvSpPr/>
          <p:nvPr/>
        </p:nvSpPr>
        <p:spPr>
          <a:xfrm>
            <a:off x="793790" y="2699742"/>
            <a:ext cx="6422231" cy="1824276"/>
          </a:xfrm>
          <a:prstGeom prst="roundRect">
            <a:avLst>
              <a:gd name="adj" fmla="val 6015"/>
            </a:avLst>
          </a:prstGeom>
          <a:solidFill>
            <a:srgbClr val="FFFFFF">
              <a:alpha val="95000"/>
            </a:srgbClr>
          </a:solidFill>
          <a:ln w="22860">
            <a:solidFill>
              <a:srgbClr val="CECEC9"/>
            </a:solidFill>
            <a:prstDash val="solid"/>
          </a:ln>
        </p:spPr>
      </p:sp>
      <p:sp>
        <p:nvSpPr>
          <p:cNvPr id="4" name="Shape 2"/>
          <p:cNvSpPr/>
          <p:nvPr/>
        </p:nvSpPr>
        <p:spPr>
          <a:xfrm>
            <a:off x="770930" y="2699742"/>
            <a:ext cx="91440" cy="1824276"/>
          </a:xfrm>
          <a:prstGeom prst="roundRect">
            <a:avLst>
              <a:gd name="adj" fmla="val 91163"/>
            </a:avLst>
          </a:prstGeom>
          <a:solidFill>
            <a:srgbClr val="E5E5E0"/>
          </a:solidFill>
          <a:ln/>
        </p:spPr>
      </p:sp>
      <p:sp>
        <p:nvSpPr>
          <p:cNvPr id="5" name="Text 3"/>
          <p:cNvSpPr/>
          <p:nvPr/>
        </p:nvSpPr>
        <p:spPr>
          <a:xfrm>
            <a:off x="1083588" y="2920960"/>
            <a:ext cx="2842617"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Performance &amp; Scalability</a:t>
            </a:r>
            <a:endParaRPr lang="en-US" sz="1950" dirty="0"/>
          </a:p>
        </p:txBody>
      </p:sp>
      <p:sp>
        <p:nvSpPr>
          <p:cNvPr id="6" name="Text 4"/>
          <p:cNvSpPr/>
          <p:nvPr/>
        </p:nvSpPr>
        <p:spPr>
          <a:xfrm>
            <a:off x="1083588" y="3350181"/>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RBAC excels in performance and scalability for large systems, simplifying management and access decisions compared to DAC's granular, resource-intensive evaluations.</a:t>
            </a:r>
            <a:endParaRPr lang="en-US" sz="1550" dirty="0"/>
          </a:p>
        </p:txBody>
      </p:sp>
      <p:sp>
        <p:nvSpPr>
          <p:cNvPr id="7" name="Shape 5"/>
          <p:cNvSpPr/>
          <p:nvPr/>
        </p:nvSpPr>
        <p:spPr>
          <a:xfrm>
            <a:off x="7414379" y="2699742"/>
            <a:ext cx="6422231" cy="1824276"/>
          </a:xfrm>
          <a:prstGeom prst="roundRect">
            <a:avLst>
              <a:gd name="adj" fmla="val 6015"/>
            </a:avLst>
          </a:prstGeom>
          <a:solidFill>
            <a:srgbClr val="FFFFFF">
              <a:alpha val="95000"/>
            </a:srgbClr>
          </a:solidFill>
          <a:ln w="22860">
            <a:solidFill>
              <a:srgbClr val="CECEC9"/>
            </a:solidFill>
            <a:prstDash val="solid"/>
          </a:ln>
        </p:spPr>
      </p:sp>
      <p:sp>
        <p:nvSpPr>
          <p:cNvPr id="8" name="Shape 6"/>
          <p:cNvSpPr/>
          <p:nvPr/>
        </p:nvSpPr>
        <p:spPr>
          <a:xfrm>
            <a:off x="7391519" y="2699742"/>
            <a:ext cx="91440" cy="1824276"/>
          </a:xfrm>
          <a:prstGeom prst="roundRect">
            <a:avLst>
              <a:gd name="adj" fmla="val 91163"/>
            </a:avLst>
          </a:prstGeom>
          <a:solidFill>
            <a:srgbClr val="E5E5E0"/>
          </a:solidFill>
          <a:ln/>
        </p:spPr>
      </p:sp>
      <p:sp>
        <p:nvSpPr>
          <p:cNvPr id="9" name="Text 7"/>
          <p:cNvSpPr/>
          <p:nvPr/>
        </p:nvSpPr>
        <p:spPr>
          <a:xfrm>
            <a:off x="7704177" y="2920960"/>
            <a:ext cx="2742843"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DAC vs. RBAC Use Cases</a:t>
            </a:r>
            <a:endParaRPr lang="en-US" sz="1950" dirty="0"/>
          </a:p>
        </p:txBody>
      </p:sp>
      <p:sp>
        <p:nvSpPr>
          <p:cNvPr id="10" name="Text 8"/>
          <p:cNvSpPr/>
          <p:nvPr/>
        </p:nvSpPr>
        <p:spPr>
          <a:xfrm>
            <a:off x="7704177" y="3350181"/>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Use RBAC for structured, role-based access in large organizations. Reserve DAC for highly specific, granular control over individual resources where discretion is paramount.</a:t>
            </a:r>
            <a:endParaRPr lang="en-US" sz="1550" dirty="0"/>
          </a:p>
        </p:txBody>
      </p:sp>
      <p:sp>
        <p:nvSpPr>
          <p:cNvPr id="11" name="Shape 9"/>
          <p:cNvSpPr/>
          <p:nvPr/>
        </p:nvSpPr>
        <p:spPr>
          <a:xfrm>
            <a:off x="793790" y="4722376"/>
            <a:ext cx="6422231" cy="1824276"/>
          </a:xfrm>
          <a:prstGeom prst="roundRect">
            <a:avLst>
              <a:gd name="adj" fmla="val 6015"/>
            </a:avLst>
          </a:prstGeom>
          <a:solidFill>
            <a:srgbClr val="FFFFFF">
              <a:alpha val="95000"/>
            </a:srgbClr>
          </a:solidFill>
          <a:ln w="22860">
            <a:solidFill>
              <a:srgbClr val="CECEC9"/>
            </a:solidFill>
            <a:prstDash val="solid"/>
          </a:ln>
        </p:spPr>
      </p:sp>
      <p:sp>
        <p:nvSpPr>
          <p:cNvPr id="12" name="Shape 10"/>
          <p:cNvSpPr/>
          <p:nvPr/>
        </p:nvSpPr>
        <p:spPr>
          <a:xfrm>
            <a:off x="770930" y="4722376"/>
            <a:ext cx="91440" cy="1824276"/>
          </a:xfrm>
          <a:prstGeom prst="roundRect">
            <a:avLst>
              <a:gd name="adj" fmla="val 91163"/>
            </a:avLst>
          </a:prstGeom>
          <a:solidFill>
            <a:srgbClr val="E5E5E0"/>
          </a:solidFill>
          <a:ln/>
        </p:spPr>
      </p:sp>
      <p:sp>
        <p:nvSpPr>
          <p:cNvPr id="13" name="Text 11"/>
          <p:cNvSpPr/>
          <p:nvPr/>
        </p:nvSpPr>
        <p:spPr>
          <a:xfrm>
            <a:off x="1083588" y="4943594"/>
            <a:ext cx="2692003"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Future of Access Control</a:t>
            </a:r>
            <a:endParaRPr lang="en-US" sz="1950" dirty="0"/>
          </a:p>
        </p:txBody>
      </p:sp>
      <p:sp>
        <p:nvSpPr>
          <p:cNvPr id="14" name="Text 12"/>
          <p:cNvSpPr/>
          <p:nvPr/>
        </p:nvSpPr>
        <p:spPr>
          <a:xfrm>
            <a:off x="1083588" y="5372814"/>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The landscape is evolving towards hybrid models, Attribute-Based Access Control (ABAC), and Zero Trust architectures, integrating best practices from both DAC and RBAC.</a:t>
            </a:r>
            <a:endParaRPr lang="en-US" sz="1550" dirty="0"/>
          </a:p>
        </p:txBody>
      </p:sp>
      <p:sp>
        <p:nvSpPr>
          <p:cNvPr id="15" name="Shape 13"/>
          <p:cNvSpPr/>
          <p:nvPr/>
        </p:nvSpPr>
        <p:spPr>
          <a:xfrm>
            <a:off x="7414379" y="4722376"/>
            <a:ext cx="6422231" cy="1824276"/>
          </a:xfrm>
          <a:prstGeom prst="roundRect">
            <a:avLst>
              <a:gd name="adj" fmla="val 6015"/>
            </a:avLst>
          </a:prstGeom>
          <a:solidFill>
            <a:srgbClr val="FFFFFF">
              <a:alpha val="95000"/>
            </a:srgbClr>
          </a:solidFill>
          <a:ln w="22860">
            <a:solidFill>
              <a:srgbClr val="CECEC9"/>
            </a:solidFill>
            <a:prstDash val="solid"/>
          </a:ln>
        </p:spPr>
      </p:sp>
      <p:sp>
        <p:nvSpPr>
          <p:cNvPr id="16" name="Shape 14"/>
          <p:cNvSpPr/>
          <p:nvPr/>
        </p:nvSpPr>
        <p:spPr>
          <a:xfrm>
            <a:off x="7391519" y="4722376"/>
            <a:ext cx="91440" cy="1824276"/>
          </a:xfrm>
          <a:prstGeom prst="roundRect">
            <a:avLst>
              <a:gd name="adj" fmla="val 91163"/>
            </a:avLst>
          </a:prstGeom>
          <a:solidFill>
            <a:srgbClr val="E5E5E0"/>
          </a:solidFill>
          <a:ln/>
        </p:spPr>
      </p:sp>
      <p:sp>
        <p:nvSpPr>
          <p:cNvPr id="17" name="Text 15"/>
          <p:cNvSpPr/>
          <p:nvPr/>
        </p:nvSpPr>
        <p:spPr>
          <a:xfrm>
            <a:off x="7704177" y="4943594"/>
            <a:ext cx="327981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Gelasio" pitchFamily="34" charset="0"/>
                <a:ea typeface="Gelasio" pitchFamily="34" charset="-122"/>
                <a:cs typeface="Gelasio" pitchFamily="34" charset="-120"/>
              </a:rPr>
              <a:t>Crucial for Cybersecurity Pros</a:t>
            </a:r>
            <a:endParaRPr lang="en-US" sz="1950" dirty="0"/>
          </a:p>
        </p:txBody>
      </p:sp>
      <p:sp>
        <p:nvSpPr>
          <p:cNvPr id="18" name="Text 16"/>
          <p:cNvSpPr/>
          <p:nvPr/>
        </p:nvSpPr>
        <p:spPr>
          <a:xfrm>
            <a:off x="7704177" y="5372814"/>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A deep understanding of both DAC and RBAC is essential for cybersecurity professionals to design, implement, and maintain robust, efficient, and adaptable security frameworks.</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3790" y="2837140"/>
            <a:ext cx="13042821" cy="1860590"/>
          </a:xfrm>
          <a:prstGeom prst="rect">
            <a:avLst/>
          </a:prstGeom>
          <a:noFill/>
          <a:ln/>
        </p:spPr>
        <p:txBody>
          <a:bodyPr wrap="none" lIns="0" tIns="0" rIns="0" bIns="0" rtlCol="0" anchor="t"/>
          <a:lstStyle/>
          <a:p>
            <a:pPr marL="0" indent="0" algn="ctr">
              <a:lnSpc>
                <a:spcPts val="14650"/>
              </a:lnSpc>
              <a:buNone/>
            </a:pPr>
            <a:r>
              <a:rPr lang="en-US" sz="11700" dirty="0">
                <a:solidFill>
                  <a:srgbClr val="312F2B"/>
                </a:solidFill>
                <a:latin typeface="Gelasio" pitchFamily="34" charset="0"/>
                <a:ea typeface="Gelasio" pitchFamily="34" charset="-122"/>
                <a:cs typeface="Gelasio" pitchFamily="34" charset="-120"/>
              </a:rPr>
              <a:t>Thank You!</a:t>
            </a:r>
            <a:endParaRPr lang="en-US" sz="11700" dirty="0"/>
          </a:p>
        </p:txBody>
      </p:sp>
      <p:sp>
        <p:nvSpPr>
          <p:cNvPr id="5" name="Text 2"/>
          <p:cNvSpPr/>
          <p:nvPr/>
        </p:nvSpPr>
        <p:spPr>
          <a:xfrm>
            <a:off x="793790" y="4995386"/>
            <a:ext cx="13042821" cy="396954"/>
          </a:xfrm>
          <a:prstGeom prst="rect">
            <a:avLst/>
          </a:prstGeom>
          <a:noFill/>
          <a:ln/>
        </p:spPr>
        <p:txBody>
          <a:bodyPr wrap="none" lIns="0" tIns="0" rIns="0" bIns="0" rtlCol="0" anchor="t"/>
          <a:lstStyle/>
          <a:p>
            <a:pPr marL="0" indent="0" algn="ctr">
              <a:lnSpc>
                <a:spcPts val="3100"/>
              </a:lnSpc>
              <a:buNone/>
            </a:pP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5345</Words>
  <Application>Microsoft Office PowerPoint</Application>
  <PresentationFormat>Custom</PresentationFormat>
  <Paragraphs>310</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Lato</vt:lpstr>
      <vt:lpstr>Gelasio</vt:lpstr>
      <vt:lpstr>Gelasio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hari krishna majji</dc:creator>
  <cp:lastModifiedBy>hari krishna majji</cp:lastModifiedBy>
  <cp:revision>2</cp:revision>
  <dcterms:created xsi:type="dcterms:W3CDTF">2025-09-25T17:46:21Z</dcterms:created>
  <dcterms:modified xsi:type="dcterms:W3CDTF">2025-09-25T18:04:01Z</dcterms:modified>
</cp:coreProperties>
</file>