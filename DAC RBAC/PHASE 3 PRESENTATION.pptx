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9" r:id="rId1"/>
  </p:sldMasterIdLst>
  <p:notesMasterIdLst>
    <p:notesMasterId r:id="rId14"/>
  </p:notesMasterIdLst>
  <p:sldIdLst>
    <p:sldId id="256" r:id="rId2"/>
    <p:sldId id="257" r:id="rId3"/>
    <p:sldId id="266" r:id="rId4"/>
    <p:sldId id="258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</p:sldIdLst>
  <p:sldSz cx="14630400" cy="8229600"/>
  <p:notesSz cx="8229600" cy="146304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Nunito Sans" pitchFamily="2" charset="0"/>
      <p:regular r:id="rId19"/>
      <p:bold r:id="rId20"/>
      <p:italic r:id="rId21"/>
      <p:boldItalic r:id="rId22"/>
    </p:embeddedFont>
    <p:embeddedFont>
      <p:font typeface="Nunito Sans Bold" pitchFamily="2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245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E9778-9969-E6E5-EABE-8B89E9765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A3AE9-FAF9-4852-131C-16FDDD0B2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A3D33-6D3B-0B16-C1CE-4C26702B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D8284-DA56-7104-E18E-868176781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DB49D-A1E2-CA9A-FDB8-CDABED64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8881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03F8-1FAE-C59B-D939-0993C0D3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166C0-87CB-7323-ACB9-BED99A8F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A8BF5-34A5-2404-D602-B0D60DF7E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80372-9434-D967-4003-F23B341D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AB716-941A-909D-BF02-43419E64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2457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6E89-A5BB-FB75-1BF8-D2A30F10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77277-83F3-FF67-79CA-D23ED995C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8D2EC-73D2-4929-D067-2C95609B5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6626F-4C44-BF82-0F7F-C10A89A7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49E19-F51D-DFC5-526C-709C9799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594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0DE74-4A19-493E-CAE7-62BBAC72B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B2A55-50E2-B5E1-A97A-EA4C8585D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27362-980C-B753-5FE6-00EBF56EF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5DB4A-792F-60CA-C50B-130D282F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16360-4EA8-CE24-3F1B-07B30546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BB384-E708-EEC9-6FC1-CA93085B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47944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60558-3DF5-E836-5C99-B948C2C3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E268C-104C-F46D-9CA1-C4E17C5BB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91C87-1BE5-8C58-3D8C-E1B9440CE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43ADE-0E2B-3E4E-F1F8-FCC5CFB01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65F-10A7-D154-BE17-7751D45AE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D70CC1-668E-4CCD-9AA0-C47911FA2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6C21AE-A18C-4C70-0D71-3D94997C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649E1-7B76-18E4-3B46-680B9BEBE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3826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B3DB-0890-43FE-E567-04C749C93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1A03B-BACF-B56D-100F-68F13BBB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F35AF-E428-79B2-0590-16DEC293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5A5D5-2231-8157-19FD-6D7879AA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4612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4B171-A6AA-973A-2012-26CA2E9C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AF1B21-120B-DF63-AA1C-16A1B95A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D629D-7686-ECE2-52B6-478C53A7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026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50378-6075-B16F-85E7-63FA12BBA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18F60-C8AA-EB7E-C111-CFBA41A3F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7713D-3BB0-4DCF-B150-2E95E77F5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83680-E33E-D850-63BD-164C66D7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6D86A-F437-D02F-A2BF-2A227AFB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E018B-60A8-5779-215E-D62201B0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3022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3E4F-DB1A-02D5-06A9-732D669F7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295957-4C63-5217-557C-EEA6E52BE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181A2-4786-6B01-D3B8-0DAD1C51B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0F84D-9C35-A4F4-4D2D-32794DDB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1C6B3-FC11-F187-A536-146FEFD1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69034-5CAC-C81F-91C6-5ACC28F5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2052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1364-4CB1-55FF-EA78-6D9DA1B9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D343E-42C5-B72B-B9B1-0A03DE4E4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193E-8D77-BA55-374B-AFC950F18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8E5E3-60B0-5DCF-4B48-7C987064D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16BEE-58B2-890F-E016-65453C2A8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5655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57F84B-6575-F9BB-7818-927DBDE31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86242-5F44-6EB8-D3EB-665140395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C269B-A348-1CD9-FE83-1F74238C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C3371-F10D-13F7-6A48-5830D944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112BC-680B-7A5E-7D69-7E5057F0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068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61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22232-959F-1935-164E-597BA22E8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C8ABD-1592-2173-1FD2-705D5E05F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4711B-4689-11F0-68CA-698101712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FA4C3-37AB-83F3-38EE-828507FF8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AC017-3B48-E722-54F6-D3FB350B4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23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96033" y="1793469"/>
            <a:ext cx="10400074" cy="236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A "Zero Trust" Implementation of a Hybrid DAC/RBAC Access Control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18C5F-4CDA-DE8C-2E3B-9839281689B2}"/>
              </a:ext>
            </a:extLst>
          </p:cNvPr>
          <p:cNvSpPr txBox="1"/>
          <p:nvPr/>
        </p:nvSpPr>
        <p:spPr>
          <a:xfrm>
            <a:off x="4968910" y="3800598"/>
            <a:ext cx="4290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Project Presentation - Phase 2 &amp; Phase 3</a:t>
            </a:r>
            <a:endParaRPr lang="en-IN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609F0EA-ADB6-E37C-1FCA-B21D4A642C4C}"/>
              </a:ext>
            </a:extLst>
          </p:cNvPr>
          <p:cNvSpPr/>
          <p:nvPr/>
        </p:nvSpPr>
        <p:spPr>
          <a:xfrm>
            <a:off x="592823" y="5491421"/>
            <a:ext cx="130428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Majji Hari Krishna</a:t>
            </a:r>
          </a:p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Department of Computer Science &amp; Engineering</a:t>
            </a:r>
          </a:p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Indian Institute of Technology Madras</a:t>
            </a:r>
          </a:p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Chennai, India</a:t>
            </a:r>
          </a:p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cs25m028@smail.iitm.ac.in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64641" y="609243"/>
            <a:ext cx="11997763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Phase 2: </a:t>
            </a:r>
            <a:r>
              <a:rPr lang="en-US" sz="4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Secure</a:t>
            </a:r>
            <a:r>
              <a:rPr lang="en-US" sz="4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Implementation Approach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336401" y="2083689"/>
            <a:ext cx="106211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Implementing a secure, hybrid system combining DAC and RBAC requires addressing real-world threats.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000000"/>
              </a:solidFill>
              <a:latin typeface="Nunito Sans" pitchFamily="34" charset="0"/>
              <a:ea typeface="Nunito Sans" pitchFamily="34" charset="-122"/>
              <a:cs typeface="Nunito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Our "Zero Trust" posture assumes no component is trustworthy, even our database.</a:t>
            </a:r>
            <a:endParaRPr lang="en-US" sz="17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639AED-6121-36A4-10B5-52420130660F}"/>
              </a:ext>
            </a:extLst>
          </p:cNvPr>
          <p:cNvGrpSpPr/>
          <p:nvPr/>
        </p:nvGrpSpPr>
        <p:grpSpPr>
          <a:xfrm>
            <a:off x="1788577" y="4225349"/>
            <a:ext cx="3501509" cy="2032755"/>
            <a:chOff x="6280190" y="4660582"/>
            <a:chExt cx="3501509" cy="2032755"/>
          </a:xfrm>
        </p:grpSpPr>
        <p:sp>
          <p:nvSpPr>
            <p:cNvPr id="5" name="Text 2"/>
            <p:cNvSpPr/>
            <p:nvPr/>
          </p:nvSpPr>
          <p:spPr>
            <a:xfrm>
              <a:off x="6280190" y="466058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000000"/>
                  </a:solidFill>
                  <a:latin typeface="Nunito Sans Bold" pitchFamily="34" charset="0"/>
                  <a:ea typeface="Nunito Sans Bold" pitchFamily="34" charset="-122"/>
                  <a:cs typeface="Nunito Sans Bold" pitchFamily="34" charset="-120"/>
                </a:rPr>
                <a:t>1. Confidentiality</a:t>
              </a:r>
              <a:endParaRPr lang="en-US" sz="2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6280190" y="5241727"/>
              <a:ext cx="3501509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000000"/>
                  </a:solidFill>
                  <a:latin typeface="Nunito Sans" pitchFamily="34" charset="0"/>
                  <a:ea typeface="Nunito Sans" pitchFamily="34" charset="-122"/>
                  <a:cs typeface="Nunito Sans" pitchFamily="34" charset="-120"/>
                </a:rPr>
                <a:t>Sensitive data (user files) and metadata (permissions) must be unreadable to an attacker, even with full database access.</a:t>
              </a:r>
              <a:endParaRPr lang="en-US" sz="175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CDB027-3EA2-7002-DA92-33C0F0253BCA}"/>
              </a:ext>
            </a:extLst>
          </p:cNvPr>
          <p:cNvGrpSpPr/>
          <p:nvPr/>
        </p:nvGrpSpPr>
        <p:grpSpPr>
          <a:xfrm>
            <a:off x="8255835" y="4188208"/>
            <a:ext cx="3501509" cy="2032755"/>
            <a:chOff x="10342721" y="4660582"/>
            <a:chExt cx="3501509" cy="2032755"/>
          </a:xfrm>
        </p:grpSpPr>
        <p:sp>
          <p:nvSpPr>
            <p:cNvPr id="7" name="Text 4"/>
            <p:cNvSpPr/>
            <p:nvPr/>
          </p:nvSpPr>
          <p:spPr>
            <a:xfrm>
              <a:off x="10342721" y="466058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000000"/>
                  </a:solidFill>
                  <a:latin typeface="Nunito Sans Bold" pitchFamily="34" charset="0"/>
                  <a:ea typeface="Nunito Sans Bold" pitchFamily="34" charset="-122"/>
                  <a:cs typeface="Nunito Sans Bold" pitchFamily="34" charset="-120"/>
                </a:rPr>
                <a:t>2. Integrity</a:t>
              </a:r>
              <a:endParaRPr lang="en-US" sz="2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342721" y="5241727"/>
              <a:ext cx="3501509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000000"/>
                  </a:solidFill>
                  <a:latin typeface="Nunito Sans" pitchFamily="34" charset="0"/>
                  <a:ea typeface="Nunito Sans" pitchFamily="34" charset="-122"/>
                  <a:cs typeface="Nunito Sans" pitchFamily="34" charset="-120"/>
                </a:rPr>
                <a:t>The system must detect and prevent unauthorized modification of access control metadata by an attacker with database access.</a:t>
              </a:r>
              <a:endParaRPr lang="en-US" sz="17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9614ADD-01E5-6D86-CB6E-C5F83667CE35}"/>
              </a:ext>
            </a:extLst>
          </p:cNvPr>
          <p:cNvSpPr txBox="1"/>
          <p:nvPr/>
        </p:nvSpPr>
        <p:spPr>
          <a:xfrm>
            <a:off x="924448" y="1043690"/>
            <a:ext cx="109828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Nunito Sans Bold" pitchFamily="2" charset="0"/>
              </a:rPr>
              <a:t>Why We Need Zero Trust Access Control</a:t>
            </a:r>
            <a:endParaRPr lang="en-IN" sz="4400" dirty="0">
              <a:latin typeface="Nunito Sans Bol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9B3F9D-4D91-6DFE-4223-DFFC320927C4}"/>
              </a:ext>
            </a:extLst>
          </p:cNvPr>
          <p:cNvSpPr txBox="1"/>
          <p:nvPr/>
        </p:nvSpPr>
        <p:spPr>
          <a:xfrm>
            <a:off x="924448" y="2852916"/>
            <a:ext cx="61596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The Flaw: Assumed Trust </a:t>
            </a:r>
          </a:p>
          <a:p>
            <a:endParaRPr lang="en-US" sz="32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200" dirty="0"/>
              <a:t>Traditional systems assume Database Administrators (DBAs) are trusted. This is a dangerous, single point of failure.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2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200" dirty="0"/>
              <a:t>An attacker with DB access (a "Malicious Insider") can read files and modify permissions.</a:t>
            </a:r>
            <a:endParaRPr lang="en-IN" sz="2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BF4F2E-0624-EA38-37A5-2E461B6AB946}"/>
              </a:ext>
            </a:extLst>
          </p:cNvPr>
          <p:cNvSpPr txBox="1"/>
          <p:nvPr/>
        </p:nvSpPr>
        <p:spPr>
          <a:xfrm>
            <a:off x="7546313" y="2761664"/>
            <a:ext cx="6491235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The "Zero Trust" Goal </a:t>
            </a:r>
          </a:p>
          <a:p>
            <a:endParaRPr lang="en-US" sz="36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200" dirty="0"/>
              <a:t> Build a system where: </a:t>
            </a:r>
          </a:p>
          <a:p>
            <a:r>
              <a:rPr lang="en-US" sz="2200" dirty="0"/>
              <a:t>	&gt; Files remain unreadable (Confidentiality). </a:t>
            </a:r>
          </a:p>
          <a:p>
            <a:r>
              <a:rPr lang="en-US" sz="2200" dirty="0"/>
              <a:t>	&gt; ACLs are tamper-evident and non-fungible 	(Integrity).</a:t>
            </a:r>
          </a:p>
          <a:p>
            <a:r>
              <a:rPr lang="en-US" sz="22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200" dirty="0"/>
              <a:t>Enforcement is centralized and cryptographically protected.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87463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0723" y="591145"/>
            <a:ext cx="736115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System Design &amp; Development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23090" y="1573291"/>
            <a:ext cx="1234149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We designed a system with a secure API, encrypted database, and client-side simulator for a "Secure Hybrid Document Management System" (SH-DMS). RBAC sets baseline permissions, while DAC allows individual users to share files</a:t>
            </a:r>
            <a:r>
              <a:rPr lang="en-US" sz="16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7CB6986-8E6C-3330-200F-E233CAB17DD6}"/>
              </a:ext>
            </a:extLst>
          </p:cNvPr>
          <p:cNvGrpSpPr/>
          <p:nvPr/>
        </p:nvGrpSpPr>
        <p:grpSpPr>
          <a:xfrm>
            <a:off x="1287684" y="4890597"/>
            <a:ext cx="3676174" cy="2388767"/>
            <a:chOff x="4674037" y="3139082"/>
            <a:chExt cx="3676174" cy="2388767"/>
          </a:xfrm>
        </p:grpSpPr>
        <p:sp>
          <p:nvSpPr>
            <p:cNvPr id="12" name="Shape 9"/>
            <p:cNvSpPr/>
            <p:nvPr/>
          </p:nvSpPr>
          <p:spPr>
            <a:xfrm>
              <a:off x="4674037" y="3234809"/>
              <a:ext cx="3676174" cy="91440"/>
            </a:xfrm>
            <a:prstGeom prst="roundRect">
              <a:avLst>
                <a:gd name="adj" fmla="val 93767"/>
              </a:avLst>
            </a:prstGeom>
            <a:solidFill>
              <a:srgbClr val="214B8C"/>
            </a:solidFill>
            <a:ln/>
          </p:spPr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136159B-2F52-E66B-453D-1444406BA044}"/>
                </a:ext>
              </a:extLst>
            </p:cNvPr>
            <p:cNvGrpSpPr/>
            <p:nvPr/>
          </p:nvGrpSpPr>
          <p:grpSpPr>
            <a:xfrm>
              <a:off x="4674037" y="3139082"/>
              <a:ext cx="3676174" cy="2388767"/>
              <a:chOff x="4642367" y="2951559"/>
              <a:chExt cx="3676174" cy="2388767"/>
            </a:xfrm>
          </p:grpSpPr>
          <p:sp>
            <p:nvSpPr>
              <p:cNvPr id="11" name="Shape 8"/>
              <p:cNvSpPr/>
              <p:nvPr/>
            </p:nvSpPr>
            <p:spPr>
              <a:xfrm>
                <a:off x="4642367" y="3181723"/>
                <a:ext cx="3676174" cy="2158603"/>
              </a:xfrm>
              <a:prstGeom prst="roundRect">
                <a:avLst>
                  <a:gd name="adj" fmla="val 5083"/>
                </a:avLst>
              </a:prstGeom>
              <a:solidFill>
                <a:srgbClr val="FFFFFF"/>
              </a:solidFill>
              <a:ln/>
            </p:spPr>
          </p:sp>
          <p:sp>
            <p:nvSpPr>
              <p:cNvPr id="13" name="Shape 10"/>
              <p:cNvSpPr/>
              <p:nvPr/>
            </p:nvSpPr>
            <p:spPr>
              <a:xfrm>
                <a:off x="6205954" y="2951559"/>
                <a:ext cx="612338" cy="612338"/>
              </a:xfrm>
              <a:prstGeom prst="roundRect">
                <a:avLst>
                  <a:gd name="adj" fmla="val 149329"/>
                </a:avLst>
              </a:prstGeom>
              <a:solidFill>
                <a:srgbClr val="214B8C"/>
              </a:solidFill>
              <a:ln/>
            </p:spPr>
          </p:sp>
          <p:sp>
            <p:nvSpPr>
              <p:cNvPr id="14" name="Text 11"/>
              <p:cNvSpPr/>
              <p:nvPr/>
            </p:nvSpPr>
            <p:spPr>
              <a:xfrm>
                <a:off x="6389668" y="3104674"/>
                <a:ext cx="244912" cy="30611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050"/>
                  </a:lnSpc>
                  <a:buNone/>
                </a:pPr>
                <a:r>
                  <a:rPr lang="en-US" sz="1900" b="1" dirty="0">
                    <a:solidFill>
                      <a:srgbClr val="FFFFFF"/>
                    </a:solidFill>
                    <a:latin typeface="Nunito Sans Bold" pitchFamily="34" charset="0"/>
                    <a:ea typeface="Nunito Sans Bold" pitchFamily="34" charset="-122"/>
                    <a:cs typeface="Nunito Sans Bold" pitchFamily="34" charset="-120"/>
                  </a:rPr>
                  <a:t>2</a:t>
                </a:r>
                <a:endParaRPr lang="en-US" sz="1900" dirty="0"/>
              </a:p>
            </p:txBody>
          </p:sp>
          <p:sp>
            <p:nvSpPr>
              <p:cNvPr id="15" name="Text 12"/>
              <p:cNvSpPr/>
              <p:nvPr/>
            </p:nvSpPr>
            <p:spPr>
              <a:xfrm>
                <a:off x="4900970" y="3608546"/>
                <a:ext cx="2551748" cy="3188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5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Nunito Sans Bold" pitchFamily="34" charset="0"/>
                    <a:ea typeface="Nunito Sans Bold" pitchFamily="34" charset="-122"/>
                    <a:cs typeface="Nunito Sans Bold" pitchFamily="34" charset="-120"/>
                  </a:rPr>
                  <a:t>Core Technologies</a:t>
                </a:r>
                <a:endParaRPr lang="en-US" sz="2000" dirty="0"/>
              </a:p>
            </p:txBody>
          </p:sp>
          <p:sp>
            <p:nvSpPr>
              <p:cNvPr id="16" name="Text 13"/>
              <p:cNvSpPr/>
              <p:nvPr/>
            </p:nvSpPr>
            <p:spPr>
              <a:xfrm>
                <a:off x="4869300" y="3922395"/>
                <a:ext cx="3222308" cy="9801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50"/>
                  </a:lnSpc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Nunito Sans" pitchFamily="34" charset="0"/>
                    <a:ea typeface="Nunito Sans" pitchFamily="34" charset="-122"/>
                    <a:cs typeface="Nunito Sans" pitchFamily="34" charset="-120"/>
                  </a:rPr>
                  <a:t>Python 3.10, Flask, SQLite 3, and the Cryptography Library for robust security.</a:t>
                </a:r>
                <a:endParaRPr lang="en-US" dirty="0"/>
              </a:p>
            </p:txBody>
          </p:sp>
        </p:grpSp>
      </p:grpSp>
      <p:sp>
        <p:nvSpPr>
          <p:cNvPr id="20" name="Text 17"/>
          <p:cNvSpPr/>
          <p:nvPr/>
        </p:nvSpPr>
        <p:spPr>
          <a:xfrm>
            <a:off x="4449544" y="5773460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19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270718-D262-EA0D-03CA-00467D3DC673}"/>
              </a:ext>
            </a:extLst>
          </p:cNvPr>
          <p:cNvGrpSpPr/>
          <p:nvPr/>
        </p:nvGrpSpPr>
        <p:grpSpPr>
          <a:xfrm>
            <a:off x="1319353" y="2473747"/>
            <a:ext cx="3676174" cy="2464713"/>
            <a:chOff x="826769" y="2951559"/>
            <a:chExt cx="3676174" cy="2464713"/>
          </a:xfrm>
        </p:grpSpPr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57DE0335-20C8-E598-BBB2-1C2B73F07216}"/>
                </a:ext>
              </a:extLst>
            </p:cNvPr>
            <p:cNvSpPr/>
            <p:nvPr/>
          </p:nvSpPr>
          <p:spPr>
            <a:xfrm>
              <a:off x="826769" y="3257669"/>
              <a:ext cx="3676174" cy="2158603"/>
            </a:xfrm>
            <a:prstGeom prst="roundRect">
              <a:avLst>
                <a:gd name="adj" fmla="val 5083"/>
              </a:avLst>
            </a:prstGeom>
            <a:solidFill>
              <a:srgbClr val="FFFFFF"/>
            </a:solidFill>
            <a:ln/>
          </p:spPr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59C0E719-A47E-9A11-084E-E92A5FEE2CB0}"/>
                </a:ext>
              </a:extLst>
            </p:cNvPr>
            <p:cNvSpPr/>
            <p:nvPr/>
          </p:nvSpPr>
          <p:spPr>
            <a:xfrm>
              <a:off x="826769" y="3234809"/>
              <a:ext cx="3676174" cy="91440"/>
            </a:xfrm>
            <a:prstGeom prst="roundRect">
              <a:avLst>
                <a:gd name="adj" fmla="val 93767"/>
              </a:avLst>
            </a:prstGeom>
            <a:solidFill>
              <a:srgbClr val="214B8C"/>
            </a:solidFill>
            <a:ln/>
          </p:spPr>
        </p:sp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353919A2-AB58-540A-83C9-4AD66ADA5676}"/>
                </a:ext>
              </a:extLst>
            </p:cNvPr>
            <p:cNvSpPr/>
            <p:nvPr/>
          </p:nvSpPr>
          <p:spPr>
            <a:xfrm>
              <a:off x="2358686" y="2951559"/>
              <a:ext cx="612338" cy="612338"/>
            </a:xfrm>
            <a:prstGeom prst="roundRect">
              <a:avLst>
                <a:gd name="adj" fmla="val 149329"/>
              </a:avLst>
            </a:prstGeom>
            <a:solidFill>
              <a:srgbClr val="214B8C"/>
            </a:solidFill>
            <a:ln/>
          </p:spPr>
        </p:sp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0F043665-1F61-DFC1-9407-B6EED8BD240E}"/>
                </a:ext>
              </a:extLst>
            </p:cNvPr>
            <p:cNvSpPr/>
            <p:nvPr/>
          </p:nvSpPr>
          <p:spPr>
            <a:xfrm>
              <a:off x="2542400" y="3104674"/>
              <a:ext cx="244912" cy="3061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050"/>
                </a:lnSpc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Nunito Sans Bold" pitchFamily="34" charset="0"/>
                  <a:ea typeface="Nunito Sans Bold" pitchFamily="34" charset="-122"/>
                  <a:cs typeface="Nunito Sans Bold" pitchFamily="34" charset="-120"/>
                </a:rPr>
                <a:t>1</a:t>
              </a:r>
              <a:endParaRPr lang="en-US" sz="1900" dirty="0"/>
            </a:p>
          </p:txBody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91D1F49B-FAA1-6DB5-BF0F-16F7363BBBFF}"/>
                </a:ext>
              </a:extLst>
            </p:cNvPr>
            <p:cNvSpPr/>
            <p:nvPr/>
          </p:nvSpPr>
          <p:spPr>
            <a:xfrm>
              <a:off x="951666" y="3634642"/>
              <a:ext cx="3378875" cy="637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Nunito Sans Bold" pitchFamily="34" charset="0"/>
                  <a:ea typeface="Nunito Sans Bold" pitchFamily="34" charset="-122"/>
                  <a:cs typeface="Nunito Sans Bold" pitchFamily="34" charset="-120"/>
                </a:rPr>
                <a:t>Python Virtual Environment</a:t>
              </a:r>
              <a:endParaRPr lang="en-US" sz="2000" dirty="0"/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B7457C2E-BAC5-D542-88B4-313CC4A1D264}"/>
                </a:ext>
              </a:extLst>
            </p:cNvPr>
            <p:cNvSpPr/>
            <p:nvPr/>
          </p:nvSpPr>
          <p:spPr>
            <a:xfrm>
              <a:off x="1053702" y="4186357"/>
              <a:ext cx="3222308" cy="6534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dirty="0">
                  <a:solidFill>
                    <a:srgbClr val="000000"/>
                  </a:solidFill>
                  <a:latin typeface="Nunito Sans" pitchFamily="34" charset="0"/>
                  <a:ea typeface="Nunito Sans" pitchFamily="34" charset="-122"/>
                  <a:cs typeface="Nunito Sans" pitchFamily="34" charset="-120"/>
                </a:rPr>
                <a:t>Isolated project dependencies for secure, reproducible builds.</a:t>
              </a:r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CB5A17B-7E95-661D-3C23-45118693457D}"/>
              </a:ext>
            </a:extLst>
          </p:cNvPr>
          <p:cNvGrpSpPr/>
          <p:nvPr/>
        </p:nvGrpSpPr>
        <p:grpSpPr>
          <a:xfrm>
            <a:off x="5846453" y="2595572"/>
            <a:ext cx="7588091" cy="1788438"/>
            <a:chOff x="793790" y="5643205"/>
            <a:chExt cx="7588091" cy="1788438"/>
          </a:xfrm>
        </p:grpSpPr>
        <p:sp>
          <p:nvSpPr>
            <p:cNvPr id="17" name="Shape 14"/>
            <p:cNvSpPr/>
            <p:nvPr/>
          </p:nvSpPr>
          <p:spPr>
            <a:xfrm>
              <a:off x="793790" y="5926455"/>
              <a:ext cx="7556421" cy="1505188"/>
            </a:xfrm>
            <a:prstGeom prst="roundRect">
              <a:avLst>
                <a:gd name="adj" fmla="val 7290"/>
              </a:avLst>
            </a:prstGeom>
            <a:solidFill>
              <a:srgbClr val="FFFFFF"/>
            </a:solidFill>
            <a:ln/>
          </p:spPr>
        </p:sp>
        <p:sp>
          <p:nvSpPr>
            <p:cNvPr id="21" name="Text 18"/>
            <p:cNvSpPr/>
            <p:nvPr/>
          </p:nvSpPr>
          <p:spPr>
            <a:xfrm>
              <a:off x="1020723" y="6436757"/>
              <a:ext cx="2551748" cy="31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Nunito Sans Bold" pitchFamily="34" charset="0"/>
                  <a:ea typeface="Nunito Sans Bold" pitchFamily="34" charset="-122"/>
                  <a:cs typeface="Nunito Sans Bold" pitchFamily="34" charset="-120"/>
                </a:rPr>
                <a:t>System Architecture</a:t>
              </a:r>
              <a:endParaRPr lang="en-US" sz="20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1020723" y="6878003"/>
              <a:ext cx="7102554" cy="326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600" dirty="0">
                  <a:solidFill>
                    <a:srgbClr val="000000"/>
                  </a:solidFill>
                  <a:latin typeface="Nunito Sans" pitchFamily="34" charset="0"/>
                  <a:ea typeface="Nunito Sans" pitchFamily="34" charset="-122"/>
                  <a:cs typeface="Nunito Sans" pitchFamily="34" charset="-120"/>
                </a:rPr>
                <a:t>.</a:t>
              </a:r>
              <a:endParaRPr lang="en-US" sz="1600" dirty="0"/>
            </a:p>
          </p:txBody>
        </p:sp>
        <p:sp>
          <p:nvSpPr>
            <p:cNvPr id="32" name="Shape 15">
              <a:extLst>
                <a:ext uri="{FF2B5EF4-FFF2-40B4-BE49-F238E27FC236}">
                  <a16:creationId xmlns:a16="http://schemas.microsoft.com/office/drawing/2014/main" id="{8746AA65-9042-DEA2-8209-0AD88AEE93EE}"/>
                </a:ext>
              </a:extLst>
            </p:cNvPr>
            <p:cNvSpPr/>
            <p:nvPr/>
          </p:nvSpPr>
          <p:spPr>
            <a:xfrm>
              <a:off x="825460" y="5926455"/>
              <a:ext cx="7556421" cy="91440"/>
            </a:xfrm>
            <a:prstGeom prst="roundRect">
              <a:avLst>
                <a:gd name="adj" fmla="val 93767"/>
              </a:avLst>
            </a:prstGeom>
            <a:solidFill>
              <a:srgbClr val="214B8C"/>
            </a:solidFill>
            <a:ln/>
          </p:spPr>
        </p:sp>
        <p:sp>
          <p:nvSpPr>
            <p:cNvPr id="33" name="Shape 16">
              <a:extLst>
                <a:ext uri="{FF2B5EF4-FFF2-40B4-BE49-F238E27FC236}">
                  <a16:creationId xmlns:a16="http://schemas.microsoft.com/office/drawing/2014/main" id="{CA0BE2C2-6F51-9318-707A-1F601DC947AA}"/>
                </a:ext>
              </a:extLst>
            </p:cNvPr>
            <p:cNvSpPr/>
            <p:nvPr/>
          </p:nvSpPr>
          <p:spPr>
            <a:xfrm>
              <a:off x="4297501" y="5643205"/>
              <a:ext cx="612338" cy="612338"/>
            </a:xfrm>
            <a:prstGeom prst="roundRect">
              <a:avLst>
                <a:gd name="adj" fmla="val 149329"/>
              </a:avLst>
            </a:prstGeom>
            <a:solidFill>
              <a:srgbClr val="214B8C"/>
            </a:solidFill>
            <a:ln/>
          </p:spPr>
        </p:sp>
        <p:sp>
          <p:nvSpPr>
            <p:cNvPr id="34" name="Text 17">
              <a:extLst>
                <a:ext uri="{FF2B5EF4-FFF2-40B4-BE49-F238E27FC236}">
                  <a16:creationId xmlns:a16="http://schemas.microsoft.com/office/drawing/2014/main" id="{3A410B8E-DFAC-9059-8AF5-8FDEB57F2E70}"/>
                </a:ext>
              </a:extLst>
            </p:cNvPr>
            <p:cNvSpPr/>
            <p:nvPr/>
          </p:nvSpPr>
          <p:spPr>
            <a:xfrm>
              <a:off x="4481214" y="5796320"/>
              <a:ext cx="244912" cy="3061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050"/>
                </a:lnSpc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Nunito Sans Bold" pitchFamily="34" charset="0"/>
                  <a:ea typeface="Nunito Sans Bold" pitchFamily="34" charset="-122"/>
                  <a:cs typeface="Nunito Sans Bold" pitchFamily="34" charset="-120"/>
                </a:rPr>
                <a:t>3</a:t>
              </a:r>
              <a:endParaRPr lang="en-US" sz="19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157C3FB-60FE-A955-565B-2DE8883489F1}"/>
              </a:ext>
            </a:extLst>
          </p:cNvPr>
          <p:cNvSpPr txBox="1"/>
          <p:nvPr/>
        </p:nvSpPr>
        <p:spPr>
          <a:xfrm>
            <a:off x="5935096" y="4127325"/>
            <a:ext cx="7315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Client Tier: A CLI-based client (client.py) that only sends HTTP requests. Holds no logic or keys.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API Tier (The Fortress): A Python Flask server (app.py) containing 100% of the security and enforcement logic.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Data Tier: </a:t>
            </a:r>
          </a:p>
          <a:p>
            <a:r>
              <a:rPr lang="en-IN" dirty="0"/>
              <a:t>	&gt; SQLite database for metadata. </a:t>
            </a:r>
          </a:p>
          <a:p>
            <a:r>
              <a:rPr lang="en-IN" dirty="0"/>
              <a:t>	&gt; Encrypted file store for data blobs.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6FDA19-C242-E6E4-EFB3-BE011CBEE0B3}"/>
              </a:ext>
            </a:extLst>
          </p:cNvPr>
          <p:cNvSpPr txBox="1"/>
          <p:nvPr/>
        </p:nvSpPr>
        <p:spPr>
          <a:xfrm>
            <a:off x="844060" y="687797"/>
            <a:ext cx="87923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1">
                    <a:lumMod val="75000"/>
                  </a:schemeClr>
                </a:solidFill>
                <a:latin typeface="Nunito Sans Bold" pitchFamily="2" charset="0"/>
              </a:rPr>
              <a:t>Zero Trust Cryptographic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1A8FA-170F-0901-5FFF-336B869C34DD}"/>
              </a:ext>
            </a:extLst>
          </p:cNvPr>
          <p:cNvSpPr txBox="1"/>
          <p:nvPr/>
        </p:nvSpPr>
        <p:spPr>
          <a:xfrm>
            <a:off x="844060" y="2241322"/>
            <a:ext cx="6169688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Cryptography as the Foundation </a:t>
            </a:r>
          </a:p>
          <a:p>
            <a:endParaRPr lang="en-US" dirty="0"/>
          </a:p>
          <a:p>
            <a:r>
              <a:rPr lang="en-US" dirty="0"/>
              <a:t>Two master keys are used, demonstrating the principle of key separation: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MEK (Master Encryption Key) </a:t>
            </a:r>
          </a:p>
          <a:p>
            <a:endParaRPr lang="en-US" b="1" dirty="0"/>
          </a:p>
          <a:p>
            <a:r>
              <a:rPr lang="en-US" dirty="0"/>
              <a:t>	&gt; Used only for encrypting other keys. </a:t>
            </a:r>
          </a:p>
          <a:p>
            <a:r>
              <a:rPr lang="en-US" dirty="0"/>
              <a:t>	&gt; Ensures file confidentiality. 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AIK (Application Integrity Key) </a:t>
            </a:r>
          </a:p>
          <a:p>
            <a:endParaRPr lang="en-US" b="1" dirty="0"/>
          </a:p>
          <a:p>
            <a:r>
              <a:rPr lang="en-US" dirty="0"/>
              <a:t>	&gt; Used only for signing metadata (ACLs). </a:t>
            </a:r>
          </a:p>
          <a:p>
            <a:r>
              <a:rPr lang="en-US" dirty="0"/>
              <a:t>	&gt; Ensures metadata integrity.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F5C74-6804-6CF5-D69C-E4FAA0CCE175}"/>
              </a:ext>
            </a:extLst>
          </p:cNvPr>
          <p:cNvSpPr txBox="1"/>
          <p:nvPr/>
        </p:nvSpPr>
        <p:spPr>
          <a:xfrm>
            <a:off x="7114232" y="1948935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File Confidentiality (AES-256-GCM)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3C281-D7A0-F686-ADB4-4FE8AB6E83BF}"/>
              </a:ext>
            </a:extLst>
          </p:cNvPr>
          <p:cNvSpPr txBox="1"/>
          <p:nvPr/>
        </p:nvSpPr>
        <p:spPr>
          <a:xfrm>
            <a:off x="7315200" y="2506176"/>
            <a:ext cx="66218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Envelope Encryption Workflow 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Each file is encrypted with a unique </a:t>
            </a:r>
            <a:r>
              <a:rPr lang="en-US" i="1" dirty="0"/>
              <a:t>File Encryption Key </a:t>
            </a:r>
            <a:r>
              <a:rPr lang="en-US" dirty="0"/>
              <a:t>(</a:t>
            </a:r>
            <a:r>
              <a:rPr lang="en-US" b="1" dirty="0"/>
              <a:t>FEK</a:t>
            </a:r>
            <a:r>
              <a:rPr lang="en-US" dirty="0"/>
              <a:t>).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FEK is then encrypted with the </a:t>
            </a:r>
            <a:r>
              <a:rPr lang="en-US" b="1" dirty="0"/>
              <a:t>MЕК</a:t>
            </a:r>
            <a:r>
              <a:rPr lang="en-US" dirty="0"/>
              <a:t>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We store the </a:t>
            </a:r>
            <a:r>
              <a:rPr lang="en-US" i="1" dirty="0"/>
              <a:t>Encrypted File + Encrypted FEK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Cipher Choice: AES-256-GCM 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An AEAD (Authenticated Encryption) mode.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Provides both Confidentiality and Integrity (</a:t>
            </a:r>
            <a:r>
              <a:rPr lang="en-US" b="1" dirty="0"/>
              <a:t>Auth Tag</a:t>
            </a:r>
            <a:r>
              <a:rPr lang="en-US" dirty="0"/>
              <a:t>).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Any tampering with the ciphertext causes an </a:t>
            </a:r>
            <a:r>
              <a:rPr lang="en-US" b="1" dirty="0" err="1"/>
              <a:t>InvalidTag</a:t>
            </a:r>
            <a:r>
              <a:rPr lang="en-US" b="1" dirty="0"/>
              <a:t> </a:t>
            </a:r>
            <a:r>
              <a:rPr lang="en-US" dirty="0"/>
              <a:t>error.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2837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B040C-88C4-8E74-EE26-C88E6547C3FB}"/>
              </a:ext>
            </a:extLst>
          </p:cNvPr>
          <p:cNvSpPr txBox="1"/>
          <p:nvPr/>
        </p:nvSpPr>
        <p:spPr>
          <a:xfrm>
            <a:off x="844060" y="687797"/>
            <a:ext cx="87923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1">
                    <a:lumMod val="75000"/>
                  </a:schemeClr>
                </a:solidFill>
                <a:latin typeface="Nunito Sans Bold" pitchFamily="2" charset="0"/>
              </a:rPr>
              <a:t>Zero Trust Cryptographic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2E8CCA-905A-8DF4-835D-D66007C049CF}"/>
              </a:ext>
            </a:extLst>
          </p:cNvPr>
          <p:cNvSpPr txBox="1"/>
          <p:nvPr/>
        </p:nvSpPr>
        <p:spPr>
          <a:xfrm>
            <a:off x="723479" y="1961497"/>
            <a:ext cx="6018964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Nunito Sans Bold" pitchFamily="2" charset="0"/>
              </a:rPr>
              <a:t>Metadata Integrity (HMAC-SHA256) 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Cryptographic Binding of ACLs </a:t>
            </a:r>
          </a:p>
          <a:p>
            <a:endParaRPr lang="en-US" b="1" dirty="0"/>
          </a:p>
          <a:p>
            <a:r>
              <a:rPr lang="en-US" dirty="0"/>
              <a:t>The core threat is an insider running: `</a:t>
            </a:r>
            <a:r>
              <a:rPr lang="en-US" b="1" i="1" dirty="0"/>
              <a:t>UPDATE </a:t>
            </a:r>
            <a:r>
              <a:rPr lang="en-US" b="1" i="1" dirty="0" err="1"/>
              <a:t>acls</a:t>
            </a:r>
            <a:r>
              <a:rPr lang="en-US" b="1" i="1" dirty="0"/>
              <a:t> SET...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Solution: We sign every ACL row with HMACSHA256 using the secret AIK 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HMAC tag binds the permission to its context: </a:t>
            </a:r>
          </a:p>
          <a:p>
            <a:r>
              <a:rPr lang="en-US" dirty="0"/>
              <a:t>	</a:t>
            </a:r>
            <a:r>
              <a:rPr lang="en-US" i="1" u="sng" dirty="0"/>
              <a:t>HMAC(AIK, </a:t>
            </a:r>
            <a:r>
              <a:rPr lang="en-US" i="1" u="sng" dirty="0" err="1"/>
              <a:t>enc_perms</a:t>
            </a:r>
            <a:r>
              <a:rPr lang="en-US" i="1" u="sng" dirty="0"/>
              <a:t> + </a:t>
            </a:r>
            <a:r>
              <a:rPr lang="en-US" i="1" u="sng" dirty="0" err="1"/>
              <a:t>res_id</a:t>
            </a:r>
            <a:r>
              <a:rPr lang="en-US" i="1" u="sng" dirty="0"/>
              <a:t> + </a:t>
            </a:r>
            <a:r>
              <a:rPr lang="en-US" i="1" u="sng" dirty="0" err="1"/>
              <a:t>user_id</a:t>
            </a:r>
            <a:r>
              <a:rPr lang="en-US" i="1" u="sng" dirty="0"/>
              <a:t>)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prevents "cut-and-paste" attacks.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Any insider UPDATE query will fail the HМАС check, as the attacker cannot forge a new, valid signature.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936F1-E6A4-AABE-035B-7D2D7768865E}"/>
              </a:ext>
            </a:extLst>
          </p:cNvPr>
          <p:cNvSpPr txBox="1"/>
          <p:nvPr/>
        </p:nvSpPr>
        <p:spPr>
          <a:xfrm>
            <a:off x="6933361" y="1858627"/>
            <a:ext cx="73152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Nunito Sans Bold" pitchFamily="2" charset="0"/>
              </a:rPr>
              <a:t>The Hybrid Enforcement Engine</a:t>
            </a:r>
            <a:endParaRPr lang="en-US" sz="2800" dirty="0">
              <a:latin typeface="Nunito Sans Bold" pitchFamily="2" charset="0"/>
            </a:endParaRPr>
          </a:p>
          <a:p>
            <a:endParaRPr lang="en-US" dirty="0"/>
          </a:p>
          <a:p>
            <a:r>
              <a:rPr lang="en-US" sz="2400" b="1" dirty="0"/>
              <a:t>Unified Logic: `check permission()` </a:t>
            </a:r>
          </a:p>
          <a:p>
            <a:r>
              <a:rPr lang="en-US" dirty="0"/>
              <a:t>All enforcement is centralized in a single function, executed in strict order: 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b="1" dirty="0"/>
              <a:t>Ownership Check (Implicit DAC) </a:t>
            </a:r>
          </a:p>
          <a:p>
            <a:r>
              <a:rPr lang="en-US" dirty="0"/>
              <a:t>	Is `</a:t>
            </a:r>
            <a:r>
              <a:rPr lang="en-US" dirty="0" err="1"/>
              <a:t>user_id</a:t>
            </a:r>
            <a:r>
              <a:rPr lang="en-US" dirty="0"/>
              <a:t> == </a:t>
            </a:r>
            <a:r>
              <a:rPr lang="en-US" dirty="0" err="1"/>
              <a:t>resource.owner_user_id</a:t>
            </a:r>
            <a:r>
              <a:rPr lang="en-US" dirty="0"/>
              <a:t>? 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ACL Check (Explicit DAC) </a:t>
            </a:r>
          </a:p>
          <a:p>
            <a:r>
              <a:rPr lang="en-US" dirty="0"/>
              <a:t>	Is there an entry in `</a:t>
            </a:r>
            <a:r>
              <a:rPr lang="en-US" dirty="0" err="1"/>
              <a:t>acls</a:t>
            </a:r>
            <a:r>
              <a:rPr lang="en-US" dirty="0"/>
              <a:t>? ...</a:t>
            </a:r>
          </a:p>
          <a:p>
            <a:r>
              <a:rPr lang="en-US" dirty="0"/>
              <a:t>	If yes, Verify HMAC tag first.</a:t>
            </a:r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b="1" dirty="0"/>
              <a:t>RBAC Role Check </a:t>
            </a:r>
          </a:p>
          <a:p>
            <a:r>
              <a:rPr lang="en-US" dirty="0"/>
              <a:t>	Does user have a role with permission on this folder (or any parent folder)? </a:t>
            </a:r>
          </a:p>
          <a:p>
            <a:endParaRPr lang="en-US" dirty="0"/>
          </a:p>
          <a:p>
            <a:r>
              <a:rPr lang="en-US" dirty="0"/>
              <a:t>4. </a:t>
            </a:r>
            <a:r>
              <a:rPr lang="en-US" b="1" dirty="0"/>
              <a:t>Default Deny </a:t>
            </a:r>
          </a:p>
          <a:p>
            <a:r>
              <a:rPr lang="en-US" dirty="0"/>
              <a:t>	If all checks fail, deny the request.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99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084B47-B8CE-F339-EEAD-4DBE1DFAE478}"/>
              </a:ext>
            </a:extLst>
          </p:cNvPr>
          <p:cNvSpPr txBox="1"/>
          <p:nvPr/>
        </p:nvSpPr>
        <p:spPr>
          <a:xfrm>
            <a:off x="592853" y="721826"/>
            <a:ext cx="127513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Nunito Sans Bold" pitchFamily="2" charset="0"/>
              </a:rPr>
              <a:t>Threat Model: Two Adversaries Considered</a:t>
            </a:r>
            <a:endParaRPr lang="en-IN" sz="4400" dirty="0">
              <a:solidFill>
                <a:schemeClr val="accent1">
                  <a:lumMod val="75000"/>
                </a:schemeClr>
              </a:solidFill>
              <a:latin typeface="Nunito Sans 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AC717-B5B0-7C61-B402-A0FCA0DF1684}"/>
              </a:ext>
            </a:extLst>
          </p:cNvPr>
          <p:cNvSpPr txBox="1"/>
          <p:nvPr/>
        </p:nvSpPr>
        <p:spPr>
          <a:xfrm>
            <a:off x="1321358" y="2533303"/>
            <a:ext cx="56471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External Attacker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 credentials.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Blocked by default-deny logic.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Must bypass authentication (insecure in our prototype) AND API checks.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Vulnerable to insecure auth, but logic is sound.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14827-664E-0A1E-DD27-0F0AA5B74A7B}"/>
              </a:ext>
            </a:extLst>
          </p:cNvPr>
          <p:cNvSpPr txBox="1"/>
          <p:nvPr/>
        </p:nvSpPr>
        <p:spPr>
          <a:xfrm>
            <a:off x="7315200" y="2397091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Malicious Insider (DBA)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Full DB read/write privileges.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/>
              <a:t>Cannot</a:t>
            </a:r>
            <a:r>
              <a:rPr lang="en-US" dirty="0"/>
              <a:t> decrypt files.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/>
              <a:t>Cannot</a:t>
            </a:r>
            <a:r>
              <a:rPr lang="en-US" dirty="0"/>
              <a:t> forge permissions.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/>
              <a:t>Cannot</a:t>
            </a:r>
            <a:r>
              <a:rPr lang="en-US" dirty="0"/>
              <a:t> bypass role mapping.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is our primary adversary.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956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1C831A-F560-79A5-2EA4-11D4EBAE1670}"/>
              </a:ext>
            </a:extLst>
          </p:cNvPr>
          <p:cNvSpPr txBox="1"/>
          <p:nvPr/>
        </p:nvSpPr>
        <p:spPr>
          <a:xfrm>
            <a:off x="874206" y="563936"/>
            <a:ext cx="1001820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Nunito Sans Bold" pitchFamily="2" charset="0"/>
              </a:rPr>
              <a:t>Security Results: Defense Against Insider Read/Write Attacks</a:t>
            </a:r>
            <a:endParaRPr lang="en-IN" sz="4400" dirty="0">
              <a:solidFill>
                <a:schemeClr val="accent1">
                  <a:lumMod val="75000"/>
                </a:schemeClr>
              </a:solidFill>
              <a:latin typeface="Nunito Sans 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4887C-2CF4-A8B2-D5C2-41826876B028}"/>
              </a:ext>
            </a:extLst>
          </p:cNvPr>
          <p:cNvSpPr txBox="1"/>
          <p:nvPr/>
        </p:nvSpPr>
        <p:spPr>
          <a:xfrm>
            <a:off x="783771" y="2491881"/>
            <a:ext cx="676254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What the Insider Sees</a:t>
            </a:r>
            <a:r>
              <a:rPr lang="en-US" sz="3200" dirty="0"/>
              <a:t>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File Storage: </a:t>
            </a:r>
            <a:r>
              <a:rPr lang="en-US" dirty="0"/>
              <a:t>A folder of unreadable AES-GCM ciphertext blobs. </a:t>
            </a:r>
            <a:r>
              <a:rPr lang="en-US" i="1" dirty="0"/>
              <a:t>(Confidential)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 err="1"/>
              <a:t>file_metadata</a:t>
            </a:r>
            <a:r>
              <a:rPr lang="en-US" b="1" dirty="0"/>
              <a:t> Table: </a:t>
            </a:r>
            <a:r>
              <a:rPr lang="en-US" dirty="0"/>
              <a:t>A list of encrypted File Encryption Keys (FEKs). (</a:t>
            </a:r>
            <a:r>
              <a:rPr lang="en-US" i="1" dirty="0"/>
              <a:t>Confidential)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`</a:t>
            </a:r>
            <a:r>
              <a:rPr lang="en-US" b="1" dirty="0" err="1"/>
              <a:t>acls`</a:t>
            </a:r>
            <a:r>
              <a:rPr lang="en-US" b="1" dirty="0"/>
              <a:t> Table: </a:t>
            </a:r>
            <a:r>
              <a:rPr lang="en-US" dirty="0"/>
              <a:t>A list of encrypted JSON blobs. (Confidential) </a:t>
            </a:r>
          </a:p>
          <a:p>
            <a:endParaRPr lang="en-US" dirty="0"/>
          </a:p>
          <a:p>
            <a:r>
              <a:rPr lang="en-US" b="1" dirty="0"/>
              <a:t>Result: </a:t>
            </a:r>
            <a:r>
              <a:rPr lang="en-US" dirty="0"/>
              <a:t>The admin learns nothing of value. The files and the access rules remain secret.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C2A41-3450-2085-9AEA-732D4EE07BB3}"/>
              </a:ext>
            </a:extLst>
          </p:cNvPr>
          <p:cNvSpPr txBox="1"/>
          <p:nvPr/>
        </p:nvSpPr>
        <p:spPr>
          <a:xfrm>
            <a:off x="7546312" y="2511868"/>
            <a:ext cx="651133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What the Insider Tries: </a:t>
            </a:r>
          </a:p>
          <a:p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 Attack 1: File Modification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Insider modifies the ciphertext in the file store.  </a:t>
            </a:r>
          </a:p>
          <a:p>
            <a:pPr lvl="1"/>
            <a:endParaRPr lang="en-IN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 err="1"/>
              <a:t>Defense</a:t>
            </a:r>
            <a:r>
              <a:rPr lang="en-IN" dirty="0"/>
              <a:t>: AES-GCM tag mismatch. Server raises `</a:t>
            </a:r>
            <a:r>
              <a:rPr lang="en-IN" dirty="0" err="1"/>
              <a:t>InvalidTag</a:t>
            </a:r>
            <a:r>
              <a:rPr lang="en-IN" dirty="0"/>
              <a:t>` error. Access denied.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Attack 2: Permission Forgery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Insider runs `UPDATE </a:t>
            </a:r>
            <a:r>
              <a:rPr lang="en-IN" dirty="0" err="1"/>
              <a:t>acls</a:t>
            </a:r>
            <a:r>
              <a:rPr lang="en-IN" dirty="0"/>
              <a:t>...` to grant themselves access.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 err="1"/>
              <a:t>Defense</a:t>
            </a:r>
            <a:r>
              <a:rPr lang="en-IN" dirty="0"/>
              <a:t>: HMAC mismatch. Server detects tampering. Access denied.</a:t>
            </a:r>
          </a:p>
        </p:txBody>
      </p:sp>
    </p:spTree>
    <p:extLst>
      <p:ext uri="{BB962C8B-B14F-4D97-AF65-F5344CB8AC3E}">
        <p14:creationId xmlns:p14="http://schemas.microsoft.com/office/powerpoint/2010/main" val="3090748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82336-1B75-D91E-25B8-215792054197}"/>
              </a:ext>
            </a:extLst>
          </p:cNvPr>
          <p:cNvSpPr txBox="1"/>
          <p:nvPr/>
        </p:nvSpPr>
        <p:spPr>
          <a:xfrm>
            <a:off x="773722" y="825194"/>
            <a:ext cx="108823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1">
                    <a:lumMod val="75000"/>
                  </a:schemeClr>
                </a:solidFill>
                <a:latin typeface="Nunito Sans Bold" pitchFamily="2" charset="0"/>
              </a:rPr>
              <a:t>Limitations &amp; Weaknesses (Prototype)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F7DDA-B601-F365-7A4D-16BB1A362100}"/>
              </a:ext>
            </a:extLst>
          </p:cNvPr>
          <p:cNvSpPr txBox="1"/>
          <p:nvPr/>
        </p:nvSpPr>
        <p:spPr>
          <a:xfrm>
            <a:off x="1215850" y="2394914"/>
            <a:ext cx="107416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Insecure Key Storage: </a:t>
            </a:r>
            <a:endParaRPr lang="en-US" dirty="0"/>
          </a:p>
          <a:p>
            <a:r>
              <a:rPr lang="en-US" dirty="0"/>
              <a:t>Master keys are in secrets.ini`. An attacker with server shell access can read them, defeating all defenses.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B83B8-2B6E-4F63-2FCA-3D0F0280FA3D}"/>
              </a:ext>
            </a:extLst>
          </p:cNvPr>
          <p:cNvSpPr txBox="1"/>
          <p:nvPr/>
        </p:nvSpPr>
        <p:spPr>
          <a:xfrm>
            <a:off x="1215850" y="3883968"/>
            <a:ext cx="105507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Insecure Authentication:</a:t>
            </a:r>
          </a:p>
          <a:p>
            <a:r>
              <a:rPr lang="en-US" dirty="0"/>
              <a:t> </a:t>
            </a:r>
            <a:r>
              <a:rPr lang="en-US" dirty="0" err="1"/>
              <a:t>The`X</a:t>
            </a:r>
            <a:r>
              <a:rPr lang="en-US" dirty="0"/>
              <a:t>-User-ID` header is based on trust and allows trivial impersonation of any user, including the Admin.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EED7C7-A7EF-8630-080D-F368A038BA80}"/>
              </a:ext>
            </a:extLst>
          </p:cNvPr>
          <p:cNvSpPr txBox="1"/>
          <p:nvPr/>
        </p:nvSpPr>
        <p:spPr>
          <a:xfrm>
            <a:off x="1215850" y="5178308"/>
            <a:ext cx="1035985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Side-Channels &amp; DoS </a:t>
            </a:r>
          </a:p>
          <a:p>
            <a:r>
              <a:rPr lang="en-IN" dirty="0"/>
              <a:t>Recursive RBAC query is vulnerable to: </a:t>
            </a:r>
          </a:p>
          <a:p>
            <a:r>
              <a:rPr lang="en-IN" dirty="0"/>
              <a:t>	1. Timing Attacks (leaking folder depth) </a:t>
            </a:r>
          </a:p>
          <a:p>
            <a:r>
              <a:rPr lang="en-IN" dirty="0"/>
              <a:t>	2. DoS Attacks (exhausting DB CPU)</a:t>
            </a:r>
          </a:p>
        </p:txBody>
      </p:sp>
    </p:spTree>
    <p:extLst>
      <p:ext uri="{BB962C8B-B14F-4D97-AF65-F5344CB8AC3E}">
        <p14:creationId xmlns:p14="http://schemas.microsoft.com/office/powerpoint/2010/main" val="2406745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B583BD-F2B7-6CD7-1676-FE4F18221959}"/>
              </a:ext>
            </a:extLst>
          </p:cNvPr>
          <p:cNvSpPr txBox="1"/>
          <p:nvPr/>
        </p:nvSpPr>
        <p:spPr>
          <a:xfrm>
            <a:off x="1075173" y="744806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1">
                    <a:lumMod val="75000"/>
                  </a:schemeClr>
                </a:solidFill>
                <a:latin typeface="Nunito Sans Bold" pitchFamily="2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501C1-512D-C145-3D33-D170ED77527D}"/>
              </a:ext>
            </a:extLst>
          </p:cNvPr>
          <p:cNvSpPr txBox="1"/>
          <p:nvPr/>
        </p:nvSpPr>
        <p:spPr>
          <a:xfrm>
            <a:off x="1306285" y="2120092"/>
            <a:ext cx="94554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Successfully built a Zero Trust hybrid DAC/RBAC system.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Proved it is possible to achieve full confidentiality and integrity even against malicious DBAs.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Used AES-256-GCM and HMAC-SHA256 in a modern, integrated design to protect both data and metadata.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Demonstrates the practical engineering required to build truly secure access control.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66467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79D744-9F0C-DF6A-30F7-C70EEFF7A3D8}"/>
              </a:ext>
            </a:extLst>
          </p:cNvPr>
          <p:cNvSpPr txBox="1"/>
          <p:nvPr/>
        </p:nvSpPr>
        <p:spPr>
          <a:xfrm>
            <a:off x="633044" y="664420"/>
            <a:ext cx="124901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Nunito Sans Bold" pitchFamily="2" charset="0"/>
              </a:rPr>
              <a:t>Future Work: Next Steps Toward Production</a:t>
            </a:r>
            <a:endParaRPr lang="en-IN" sz="4400" dirty="0">
              <a:solidFill>
                <a:schemeClr val="accent1">
                  <a:lumMod val="75000"/>
                </a:schemeClr>
              </a:solidFill>
              <a:latin typeface="Nunito Sans 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E45D7-D8B6-9E1E-89E5-2E392934EBC0}"/>
              </a:ext>
            </a:extLst>
          </p:cNvPr>
          <p:cNvSpPr txBox="1"/>
          <p:nvPr/>
        </p:nvSpPr>
        <p:spPr>
          <a:xfrm>
            <a:off x="2130250" y="2549044"/>
            <a:ext cx="332600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Authentication</a:t>
            </a:r>
            <a:r>
              <a:rPr lang="en-US" dirty="0"/>
              <a:t> </a:t>
            </a:r>
          </a:p>
          <a:p>
            <a:r>
              <a:rPr lang="en-US" dirty="0"/>
              <a:t>Replace `X-User-ID` header with a robust </a:t>
            </a:r>
            <a:r>
              <a:rPr lang="en-US" b="1" dirty="0"/>
              <a:t>OAuth2 / JWT </a:t>
            </a:r>
            <a:r>
              <a:rPr lang="en-US" dirty="0"/>
              <a:t>authentication flow.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D85E4-5B3D-F6C4-1A8E-4CE2476B7D2A}"/>
              </a:ext>
            </a:extLst>
          </p:cNvPr>
          <p:cNvSpPr txBox="1"/>
          <p:nvPr/>
        </p:nvSpPr>
        <p:spPr>
          <a:xfrm>
            <a:off x="2024741" y="4769731"/>
            <a:ext cx="332600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Key Management </a:t>
            </a:r>
          </a:p>
          <a:p>
            <a:r>
              <a:rPr lang="en-US" dirty="0"/>
              <a:t>Move MEK &amp; AIK from `secrets.ini into a hardware-backed KMS/HSM.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9CFCB-EF2E-C67C-076B-B42B73FB1246}"/>
              </a:ext>
            </a:extLst>
          </p:cNvPr>
          <p:cNvSpPr txBox="1"/>
          <p:nvPr/>
        </p:nvSpPr>
        <p:spPr>
          <a:xfrm>
            <a:off x="9093756" y="2441546"/>
            <a:ext cx="332600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Infrastructure</a:t>
            </a:r>
            <a:r>
              <a:rPr lang="en-US" dirty="0"/>
              <a:t> </a:t>
            </a:r>
          </a:p>
          <a:p>
            <a:r>
              <a:rPr lang="en-US" dirty="0"/>
              <a:t>Replace the Flask dev server with a production-grade </a:t>
            </a:r>
            <a:r>
              <a:rPr lang="en-US" dirty="0" err="1"/>
              <a:t>Gunicorn</a:t>
            </a:r>
            <a:r>
              <a:rPr lang="en-US" dirty="0"/>
              <a:t> + Nginx stack.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749B0D-3CCC-3A23-3E3C-DB2459E37E68}"/>
              </a:ext>
            </a:extLst>
          </p:cNvPr>
          <p:cNvSpPr txBox="1"/>
          <p:nvPr/>
        </p:nvSpPr>
        <p:spPr>
          <a:xfrm>
            <a:off x="9093756" y="4776543"/>
            <a:ext cx="332600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Logic</a:t>
            </a:r>
            <a:r>
              <a:rPr lang="en-US" dirty="0"/>
              <a:t> </a:t>
            </a:r>
          </a:p>
          <a:p>
            <a:r>
              <a:rPr lang="en-US" dirty="0"/>
              <a:t>Extend permission engine to Attribute-Based Access Control (ABAC) (e.g., time-</a:t>
            </a:r>
            <a:r>
              <a:rPr lang="en-US" dirty="0" err="1"/>
              <a:t>ofday</a:t>
            </a:r>
            <a:r>
              <a:rPr lang="en-US" dirty="0"/>
              <a:t> access).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20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82502F-DCF4-B3C5-7F88-2A67040AFA8B}"/>
              </a:ext>
            </a:extLst>
          </p:cNvPr>
          <p:cNvSpPr txBox="1"/>
          <p:nvPr/>
        </p:nvSpPr>
        <p:spPr>
          <a:xfrm>
            <a:off x="4300694" y="3305907"/>
            <a:ext cx="8450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accent1">
                    <a:lumMod val="75000"/>
                  </a:schemeClr>
                </a:solidFill>
                <a:latin typeface="Nunito Sans Bold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81082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1154</Words>
  <Application>Microsoft Office PowerPoint</Application>
  <PresentationFormat>Custom</PresentationFormat>
  <Paragraphs>181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Wingdings</vt:lpstr>
      <vt:lpstr>Calibri</vt:lpstr>
      <vt:lpstr>Arial</vt:lpstr>
      <vt:lpstr>Lato</vt:lpstr>
      <vt:lpstr>Courier New</vt:lpstr>
      <vt:lpstr>Calibri Light</vt:lpstr>
      <vt:lpstr>Nunito Sans Bold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 krishna majji</dc:creator>
  <cp:lastModifiedBy>hari krishna majji</cp:lastModifiedBy>
  <cp:revision>2</cp:revision>
  <dcterms:created xsi:type="dcterms:W3CDTF">2025-11-15T02:18:26Z</dcterms:created>
  <dcterms:modified xsi:type="dcterms:W3CDTF">2025-11-15T04:21:52Z</dcterms:modified>
</cp:coreProperties>
</file>